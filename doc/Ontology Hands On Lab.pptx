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1"/>
  </p:sldMasterIdLst>
  <p:notesMasterIdLst>
    <p:notesMasterId r:id="rId40"/>
  </p:notesMasterIdLst>
  <p:handoutMasterIdLst>
    <p:handoutMasterId r:id="rId41"/>
  </p:handoutMasterIdLst>
  <p:sldIdLst>
    <p:sldId id="367" r:id="rId2"/>
    <p:sldId id="651" r:id="rId3"/>
    <p:sldId id="663" r:id="rId4"/>
    <p:sldId id="694" r:id="rId5"/>
    <p:sldId id="695" r:id="rId6"/>
    <p:sldId id="696" r:id="rId7"/>
    <p:sldId id="700" r:id="rId8"/>
    <p:sldId id="701" r:id="rId9"/>
    <p:sldId id="704" r:id="rId10"/>
    <p:sldId id="702" r:id="rId11"/>
    <p:sldId id="690" r:id="rId12"/>
    <p:sldId id="753" r:id="rId13"/>
    <p:sldId id="754" r:id="rId14"/>
    <p:sldId id="767" r:id="rId15"/>
    <p:sldId id="768" r:id="rId16"/>
    <p:sldId id="755" r:id="rId17"/>
    <p:sldId id="769" r:id="rId18"/>
    <p:sldId id="770" r:id="rId19"/>
    <p:sldId id="756" r:id="rId20"/>
    <p:sldId id="771" r:id="rId21"/>
    <p:sldId id="772" r:id="rId22"/>
    <p:sldId id="757" r:id="rId23"/>
    <p:sldId id="773" r:id="rId24"/>
    <p:sldId id="774" r:id="rId25"/>
    <p:sldId id="775" r:id="rId26"/>
    <p:sldId id="758" r:id="rId27"/>
    <p:sldId id="759" r:id="rId28"/>
    <p:sldId id="760" r:id="rId29"/>
    <p:sldId id="776" r:id="rId30"/>
    <p:sldId id="761" r:id="rId31"/>
    <p:sldId id="763" r:id="rId32"/>
    <p:sldId id="705" r:id="rId33"/>
    <p:sldId id="777" r:id="rId34"/>
    <p:sldId id="764" r:id="rId35"/>
    <p:sldId id="765" r:id="rId36"/>
    <p:sldId id="779" r:id="rId37"/>
    <p:sldId id="780" r:id="rId38"/>
    <p:sldId id="781" r:id="rId39"/>
  </p:sldIdLst>
  <p:sldSz cx="9906000" cy="6858000" type="A4"/>
  <p:notesSz cx="7102475" cy="102314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5pPr>
    <a:lvl6pPr marL="22860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6pPr>
    <a:lvl7pPr marL="27432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7pPr>
    <a:lvl8pPr marL="32004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8pPr>
    <a:lvl9pPr marL="3657600" algn="l" defTabSz="914400" rtl="0" eaLnBrk="1" latinLnBrk="1" hangingPunct="1">
      <a:defRPr kumimoji="1" sz="1600" kern="1200">
        <a:solidFill>
          <a:schemeClr val="tx1"/>
        </a:solidFill>
        <a:latin typeface="HY울릉도M" pitchFamily="18" charset="-127"/>
        <a:ea typeface="HY울릉도M" pitchFamily="18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>
          <p15:clr>
            <a:srgbClr val="A4A3A4"/>
          </p15:clr>
        </p15:guide>
        <p15:guide id="2" orient="horz" pos="2886">
          <p15:clr>
            <a:srgbClr val="A4A3A4"/>
          </p15:clr>
        </p15:guide>
        <p15:guide id="3" orient="horz" pos="1661">
          <p15:clr>
            <a:srgbClr val="A4A3A4"/>
          </p15:clr>
        </p15:guide>
        <p15:guide id="4" orient="horz" pos="1207">
          <p15:clr>
            <a:srgbClr val="A4A3A4"/>
          </p15:clr>
        </p15:guide>
        <p15:guide id="5" orient="horz" pos="4065">
          <p15:clr>
            <a:srgbClr val="A4A3A4"/>
          </p15:clr>
        </p15:guide>
        <p15:guide id="6" pos="3120">
          <p15:clr>
            <a:srgbClr val="A4A3A4"/>
          </p15:clr>
        </p15:guide>
        <p15:guide id="7" pos="289">
          <p15:clr>
            <a:srgbClr val="A4A3A4"/>
          </p15:clr>
        </p15:guide>
        <p15:guide id="8" pos="6080">
          <p15:clr>
            <a:srgbClr val="A4A3A4"/>
          </p15:clr>
        </p15:guide>
        <p15:guide id="9" pos="1070">
          <p15:clr>
            <a:srgbClr val="A4A3A4"/>
          </p15:clr>
        </p15:guide>
        <p15:guide id="10" pos="1389">
          <p15:clr>
            <a:srgbClr val="A4A3A4"/>
          </p15:clr>
        </p15:guide>
        <p15:guide id="11" pos="5116">
          <p15:clr>
            <a:srgbClr val="A4A3A4"/>
          </p15:clr>
        </p15:guide>
        <p15:guide id="12" pos="3576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yoonchan" initials="y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66"/>
    <a:srgbClr val="FFCCFF"/>
    <a:srgbClr val="FFCC66"/>
    <a:srgbClr val="FF99CC"/>
    <a:srgbClr val="D9D9D9"/>
    <a:srgbClr val="C0C0C0"/>
    <a:srgbClr val="B2B2B2"/>
    <a:srgbClr val="CC3300"/>
    <a:srgbClr val="CCFFFF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60" autoAdjust="0"/>
    <p:restoredTop sz="97505" autoAdjust="0"/>
  </p:normalViewPr>
  <p:slideViewPr>
    <p:cSldViewPr showGuides="1">
      <p:cViewPr varScale="1">
        <p:scale>
          <a:sx n="163" d="100"/>
          <a:sy n="163" d="100"/>
        </p:scale>
        <p:origin x="844" y="108"/>
      </p:cViewPr>
      <p:guideLst>
        <p:guide orient="horz" pos="528"/>
        <p:guide orient="horz" pos="2886"/>
        <p:guide orient="horz" pos="1661"/>
        <p:guide orient="horz" pos="1207"/>
        <p:guide orient="horz" pos="4065"/>
        <p:guide pos="3120"/>
        <p:guide pos="289"/>
        <p:guide pos="6080"/>
        <p:guide pos="1070"/>
        <p:guide pos="1389"/>
        <p:guide pos="5116"/>
        <p:guide pos="3576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2725" y="0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18675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2725" y="9718675"/>
            <a:ext cx="3078163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8" tIns="45724" rIns="91448" bIns="45724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fld id="{B4DB063E-6351-45BD-83FC-C2A8C33CE5EC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64176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8163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>
            <a:lvl1pPr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7613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313" y="0"/>
            <a:ext cx="3078162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>
            <a:lvl1pPr algn="r"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727075"/>
            <a:ext cx="5605463" cy="38814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613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7738" y="4852988"/>
            <a:ext cx="5207000" cy="4608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17613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02800"/>
            <a:ext cx="3078163" cy="568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b" anchorCtr="0" compatLnSpc="1">
            <a:prstTxWarp prst="textNoShape">
              <a:avLst/>
            </a:prstTxWarp>
          </a:bodyPr>
          <a:lstStyle>
            <a:lvl1pPr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7613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313" y="9702800"/>
            <a:ext cx="3078162" cy="568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070" tIns="47535" rIns="95070" bIns="47535" numCol="1" anchor="b" anchorCtr="0" compatLnSpc="1">
            <a:prstTxWarp prst="textNoShape">
              <a:avLst/>
            </a:prstTxWarp>
          </a:bodyPr>
          <a:lstStyle>
            <a:lvl1pPr algn="r" defTabSz="950913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fld id="{DFDA10C7-5E39-4D14-B71F-3F28145FA45D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9852080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6628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362F8734-003F-4322-9DC4-8B05D2E9BC77}" type="slidenum">
              <a:rPr lang="en-US" altLang="ko-KR" smtClean="0"/>
              <a:pPr eaLnBrk="1" hangingPunct="1">
                <a:spcBef>
                  <a:spcPct val="0"/>
                </a:spcBef>
              </a:pPr>
              <a:t>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095316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342289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124404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546997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05487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759793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63698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077028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058617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527269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583460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771178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506388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467618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19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540013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8511557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645245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692907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819280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54455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457662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1873709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187286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29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8170121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270378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9618554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995426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9291305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613379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9053879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554899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슬라이드 노트 개체 틀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2765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50913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50913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ct val="0"/>
              </a:spcBef>
            </a:pPr>
            <a:fld id="{211079E6-095F-4982-84AB-EAEF41E1133F}" type="slidenum">
              <a:rPr lang="en-US" altLang="ko-KR" smtClean="0"/>
              <a:pPr eaLnBrk="1" hangingPunct="1">
                <a:spcBef>
                  <a:spcPct val="0"/>
                </a:spcBef>
              </a:pPr>
              <a:t>38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8842787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21"/>
          <p:cNvSpPr>
            <a:spLocks noChangeShapeType="1"/>
          </p:cNvSpPr>
          <p:nvPr userDrawn="1"/>
        </p:nvSpPr>
        <p:spPr bwMode="auto">
          <a:xfrm>
            <a:off x="1460500" y="11430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" name="Line 23"/>
          <p:cNvSpPr>
            <a:spLocks noChangeShapeType="1"/>
          </p:cNvSpPr>
          <p:nvPr userDrawn="1"/>
        </p:nvSpPr>
        <p:spPr bwMode="auto">
          <a:xfrm>
            <a:off x="1460500" y="37338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ctrTitle"/>
          </p:nvPr>
        </p:nvSpPr>
        <p:spPr>
          <a:xfrm>
            <a:off x="1976713" y="1844824"/>
            <a:ext cx="5928615" cy="1082675"/>
          </a:xfrm>
        </p:spPr>
        <p:txBody>
          <a:bodyPr/>
          <a:lstStyle>
            <a:lvl1pPr>
              <a:defRPr sz="4400"/>
            </a:lvl1pPr>
          </a:lstStyle>
          <a:p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220858230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545137"/>
          </a:xfrm>
        </p:spPr>
        <p:txBody>
          <a:bodyPr/>
          <a:lstStyle>
            <a:lvl1pPr>
              <a:buFont typeface="Arial" pitchFamily="34" charset="0"/>
              <a:buChar char="•"/>
              <a:defRPr sz="2400">
                <a:latin typeface="맑은 고딕" pitchFamily="50" charset="-127"/>
                <a:ea typeface="맑은 고딕" pitchFamily="50" charset="-127"/>
              </a:defRPr>
            </a:lvl1pPr>
            <a:lvl2pPr>
              <a:defRPr sz="2000">
                <a:latin typeface="맑은 고딕" pitchFamily="50" charset="-127"/>
                <a:ea typeface="맑은 고딕" pitchFamily="50" charset="-127"/>
              </a:defRPr>
            </a:lvl2pPr>
            <a:lvl3pPr>
              <a:defRPr sz="1600">
                <a:latin typeface="맑은 고딕" pitchFamily="50" charset="-127"/>
                <a:ea typeface="맑은 고딕" pitchFamily="50" charset="-127"/>
              </a:defRPr>
            </a:lvl3pPr>
            <a:lvl4pPr>
              <a:defRPr sz="1600">
                <a:latin typeface="맑은 고딕" pitchFamily="50" charset="-127"/>
                <a:ea typeface="맑은 고딕" pitchFamily="50" charset="-127"/>
              </a:defRPr>
            </a:lvl4pPr>
            <a:lvl5pPr>
              <a:defRPr sz="1600">
                <a:latin typeface="맑은 고딕" pitchFamily="50" charset="-127"/>
                <a:ea typeface="맑은 고딕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Rectangle 206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52400"/>
            <a:ext cx="9307512" cy="4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442986733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06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52400"/>
            <a:ext cx="9307512" cy="46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206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8788" y="836613"/>
            <a:ext cx="9193212" cy="5545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  <p:sp>
        <p:nvSpPr>
          <p:cNvPr id="1028" name="Rectangle 2072"/>
          <p:cNvSpPr>
            <a:spLocks noChangeArrowheads="1"/>
          </p:cNvSpPr>
          <p:nvPr userDrawn="1"/>
        </p:nvSpPr>
        <p:spPr bwMode="auto">
          <a:xfrm>
            <a:off x="458788" y="681038"/>
            <a:ext cx="9447212" cy="84137"/>
          </a:xfrm>
          <a:prstGeom prst="rect">
            <a:avLst/>
          </a:prstGeom>
          <a:gradFill rotWithShape="0">
            <a:gsLst>
              <a:gs pos="0">
                <a:srgbClr val="4D4D4D"/>
              </a:gs>
              <a:gs pos="100000">
                <a:srgbClr val="CFCFC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29" name="Rectangle 2073"/>
          <p:cNvSpPr>
            <a:spLocks noChangeArrowheads="1"/>
          </p:cNvSpPr>
          <p:nvPr userDrawn="1"/>
        </p:nvSpPr>
        <p:spPr bwMode="auto">
          <a:xfrm>
            <a:off x="458788" y="6453188"/>
            <a:ext cx="9447212" cy="74612"/>
          </a:xfrm>
          <a:prstGeom prst="rect">
            <a:avLst/>
          </a:prstGeom>
          <a:gradFill rotWithShape="0">
            <a:gsLst>
              <a:gs pos="0">
                <a:srgbClr val="4D4D4D"/>
              </a:gs>
              <a:gs pos="100000">
                <a:srgbClr val="CFCFC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30" name="TextBox 6"/>
          <p:cNvSpPr txBox="1">
            <a:spLocks noChangeArrowheads="1"/>
          </p:cNvSpPr>
          <p:nvPr userDrawn="1"/>
        </p:nvSpPr>
        <p:spPr bwMode="auto">
          <a:xfrm>
            <a:off x="366713" y="6597650"/>
            <a:ext cx="1095172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Y울릉도M" pitchFamily="18" charset="-127"/>
                <a:ea typeface="HY울릉도M" pitchFamily="18" charset="-127"/>
              </a:defRPr>
            </a:lvl9pPr>
          </a:lstStyle>
          <a:p>
            <a:pPr eaLnBrk="1" hangingPunct="1">
              <a:defRPr/>
            </a:pPr>
            <a:fld id="{C0C99F72-7D32-4922-93BC-55CF6E0EC15E}" type="slidenum">
              <a:rPr lang="en-US" altLang="ko-KR" sz="800" b="1" smtClean="0">
                <a:latin typeface="Arial" pitchFamily="34" charset="0"/>
                <a:ea typeface="맑은 고딕" pitchFamily="50" charset="-127"/>
                <a:cs typeface="Arial" pitchFamily="34" charset="0"/>
              </a:rPr>
              <a:pPr eaLnBrk="1" hangingPunct="1">
                <a:defRPr/>
              </a:pPr>
              <a:t>‹#›</a:t>
            </a:fld>
            <a:r>
              <a:rPr lang="en-US" altLang="ko-KR" sz="800">
                <a:latin typeface="Arial" pitchFamily="34" charset="0"/>
                <a:ea typeface="맑은 고딕" pitchFamily="50" charset="-127"/>
                <a:cs typeface="Arial" pitchFamily="34" charset="0"/>
              </a:rPr>
              <a:t> | Copyright 2026</a:t>
            </a:r>
            <a:endParaRPr lang="ko-KR" altLang="en-US" sz="800">
              <a:latin typeface="Arial" pitchFamily="34" charset="0"/>
              <a:ea typeface="맑은 고딕" pitchFamily="50" charset="-127"/>
              <a:cs typeface="Arial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46" r:id="rId1"/>
    <p:sldLayoutId id="2147483945" r:id="rId2"/>
  </p:sldLayoutIdLst>
  <p:transition/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HY헤드라인M" pitchFamily="18" charset="-127"/>
          <a:ea typeface="HY헤드라인M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defRPr kumimoji="1" sz="2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11"/>
          <p:cNvSpPr txBox="1">
            <a:spLocks noChangeArrowheads="1"/>
          </p:cNvSpPr>
          <p:nvPr/>
        </p:nvSpPr>
        <p:spPr bwMode="auto">
          <a:xfrm>
            <a:off x="1066350" y="1643063"/>
            <a:ext cx="7776489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en-US" altLang="ko-KR" sz="3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바탕" pitchFamily="18" charset="-127"/>
                <a:ea typeface="바탕" pitchFamily="18" charset="-127"/>
              </a:rPr>
              <a:t>Hands On Lab</a:t>
            </a:r>
          </a:p>
          <a:p>
            <a:pPr algn="ctr">
              <a:lnSpc>
                <a:spcPct val="120000"/>
              </a:lnSpc>
              <a:defRPr/>
            </a:pPr>
            <a:r>
              <a:rPr lang="en-US" altLang="ko-KR" sz="4800" dirty="0" smtClean="0">
                <a:latin typeface="HY헤드라인M" pitchFamily="18" charset="-127"/>
                <a:ea typeface="HY헤드라인M" pitchFamily="18" charset="-127"/>
              </a:rPr>
              <a:t>“Ontology &amp; Graph RAG”</a:t>
            </a:r>
            <a:endParaRPr lang="en-US" altLang="ko-KR" sz="4800" dirty="0"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3075" name="Line 21"/>
          <p:cNvSpPr>
            <a:spLocks noChangeShapeType="1"/>
          </p:cNvSpPr>
          <p:nvPr/>
        </p:nvSpPr>
        <p:spPr bwMode="auto">
          <a:xfrm>
            <a:off x="1460500" y="11430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076" name="Line 23"/>
          <p:cNvSpPr>
            <a:spLocks noChangeShapeType="1"/>
          </p:cNvSpPr>
          <p:nvPr/>
        </p:nvSpPr>
        <p:spPr bwMode="auto">
          <a:xfrm>
            <a:off x="1460500" y="3733800"/>
            <a:ext cx="718661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3077" name="TextBox 6"/>
          <p:cNvSpPr txBox="1">
            <a:spLocks noChangeArrowheads="1"/>
          </p:cNvSpPr>
          <p:nvPr/>
        </p:nvSpPr>
        <p:spPr bwMode="auto">
          <a:xfrm>
            <a:off x="3976966" y="4841875"/>
            <a:ext cx="1880644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2000" dirty="0" smtClean="0"/>
              <a:t>2026.05</a:t>
            </a:r>
            <a:endParaRPr lang="en-US" altLang="ko-KR" sz="2000" dirty="0"/>
          </a:p>
          <a:p>
            <a:pPr algn="ctr" eaLnBrk="1" hangingPunct="1">
              <a:spcBef>
                <a:spcPct val="0"/>
              </a:spcBef>
            </a:pPr>
            <a:endParaRPr lang="en-US" altLang="ko-KR" sz="2000" dirty="0"/>
          </a:p>
          <a:p>
            <a:pPr algn="ctr" eaLnBrk="1" hangingPunct="1">
              <a:spcBef>
                <a:spcPct val="0"/>
              </a:spcBef>
            </a:pPr>
            <a:r>
              <a:rPr lang="ko-KR" altLang="en-US" sz="2000" dirty="0" err="1"/>
              <a:t>도버이앤씨</a:t>
            </a:r>
            <a:r>
              <a:rPr lang="en-US" altLang="ko-KR" sz="2000" dirty="0"/>
              <a:t>(</a:t>
            </a:r>
            <a:r>
              <a:rPr lang="ko-KR" altLang="en-US" sz="2000" dirty="0"/>
              <a:t>주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pPr eaLnBrk="1" hangingPunct="1"/>
            <a:r>
              <a:rPr lang="ko-KR" altLang="en-US"/>
              <a:t>목차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458788" y="1484313"/>
            <a:ext cx="9193212" cy="42481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Hands On Lab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소개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Apache Kafka 4.x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이해하기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Event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처리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Stream 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처리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altLang="ko-KR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ELK</a:t>
            </a: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를 이용한 모니터링</a:t>
            </a:r>
            <a:endParaRPr lang="en-US" altLang="ko-KR" sz="2800" b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1970088" indent="-352425">
              <a:lnSpc>
                <a:spcPct val="150000"/>
              </a:lnSpc>
              <a:buFont typeface="+mj-lt"/>
              <a:buAutoNum type="arabicPeriod"/>
              <a:defRPr/>
            </a:pPr>
            <a:r>
              <a:rPr lang="ko-KR" altLang="en-US" sz="28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요약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>
                <a:solidFill>
                  <a:schemeClr val="bg1"/>
                </a:solidFill>
              </a:rPr>
              <a:t>Hands On Lab </a:t>
            </a:r>
            <a:r>
              <a:rPr kumimoji="0" lang="ko-KR" altLang="en-US" sz="3200" b="1">
                <a:solidFill>
                  <a:schemeClr val="bg1"/>
                </a:solidFill>
              </a:rPr>
              <a:t>소개</a:t>
            </a:r>
            <a:endParaRPr kumimoji="0" lang="en-US" altLang="ko-KR" sz="3200" b="1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1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16927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1.1 Hands On Lab </a:t>
            </a:r>
            <a:r>
              <a:rPr kumimoji="0" lang="ko-KR" altLang="en-US" b="1" dirty="0"/>
              <a:t>목적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1.2 Hands On Lab </a:t>
            </a:r>
            <a:r>
              <a:rPr kumimoji="0" lang="ko-KR" altLang="en-US" b="1" dirty="0"/>
              <a:t>환경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1.3 Oracle Virtual Box </a:t>
            </a:r>
            <a:r>
              <a:rPr kumimoji="0" lang="ko-KR" altLang="en-US" b="1" dirty="0"/>
              <a:t>설치 및 준비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endParaRPr kumimoji="0" lang="ko-KR" altLang="en-US" b="1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1.1 Hands On Lab </a:t>
            </a:r>
            <a:r>
              <a:rPr lang="ko-KR" altLang="en-US"/>
              <a:t>목적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2000" dirty="0"/>
              <a:t>본 </a:t>
            </a:r>
            <a:r>
              <a:rPr lang="en-US" altLang="ko-KR" sz="2000" dirty="0"/>
              <a:t>Hands On Lab</a:t>
            </a:r>
            <a:r>
              <a:rPr lang="ko-KR" altLang="en-US" sz="2000" dirty="0"/>
              <a:t>은 </a:t>
            </a:r>
            <a:r>
              <a:rPr lang="en-US" altLang="ko-KR" sz="2000" dirty="0" smtClean="0"/>
              <a:t>Ontology</a:t>
            </a:r>
            <a:r>
              <a:rPr lang="ko-KR" altLang="en-US" sz="2000" dirty="0" smtClean="0"/>
              <a:t>를 이해하고 연관된 솔루션을 이용해서 구축하는 것을 실습한다</a:t>
            </a:r>
            <a:r>
              <a:rPr lang="en-US" altLang="ko-KR" sz="2000" dirty="0" smtClean="0"/>
              <a:t>.</a:t>
            </a:r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ko-KR" altLang="en-US" sz="2000" dirty="0"/>
              <a:t>본 </a:t>
            </a:r>
            <a:r>
              <a:rPr lang="en-US" altLang="ko-KR" sz="2000" dirty="0"/>
              <a:t>Hands On Lab</a:t>
            </a:r>
            <a:r>
              <a:rPr lang="ko-KR" altLang="en-US" sz="2000" dirty="0"/>
              <a:t>의 진행 순서는 다음과 같다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Oracle </a:t>
            </a: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기반으로 </a:t>
            </a:r>
            <a:r>
              <a:rPr lang="en-US" altLang="ko-KR" sz="1800" dirty="0"/>
              <a:t>Hands On Lab </a:t>
            </a:r>
            <a:r>
              <a:rPr lang="ko-KR" altLang="en-US" sz="1800" dirty="0"/>
              <a:t>환경 구성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Ollama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설치 및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Open WEB UI </a:t>
            </a:r>
            <a:r>
              <a:rPr lang="ko-KR" altLang="en-US" sz="1800" dirty="0" smtClean="0"/>
              <a:t>설치 및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Fuseki</a:t>
            </a:r>
            <a:r>
              <a:rPr lang="ko-KR" altLang="en-US" sz="1800" dirty="0" smtClean="0"/>
              <a:t>를 이용한 </a:t>
            </a:r>
            <a:r>
              <a:rPr lang="en-US" altLang="ko-KR" sz="1800" dirty="0" smtClean="0"/>
              <a:t>Ontology </a:t>
            </a:r>
            <a:r>
              <a:rPr lang="ko-KR" altLang="en-US" sz="1800" dirty="0" smtClean="0"/>
              <a:t>구축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Protege</a:t>
            </a:r>
            <a:r>
              <a:rPr lang="ko-KR" altLang="en-US" sz="1800" dirty="0" smtClean="0"/>
              <a:t>를 이용해서 </a:t>
            </a:r>
            <a:r>
              <a:rPr lang="en-US" altLang="ko-KR" sz="1800" dirty="0" err="1" smtClean="0"/>
              <a:t>TTL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설계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JBoss</a:t>
            </a:r>
            <a:r>
              <a:rPr lang="en-US" altLang="ko-KR" sz="1800" dirty="0" smtClean="0"/>
              <a:t> </a:t>
            </a:r>
            <a:r>
              <a:rPr lang="en-US" altLang="ko-KR" sz="1800" dirty="0" err="1" smtClean="0"/>
              <a:t>jBPM</a:t>
            </a:r>
            <a:r>
              <a:rPr lang="ko-KR" altLang="en-US" sz="1800" dirty="0" smtClean="0"/>
              <a:t>을 이용한 동적 적용</a:t>
            </a: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ko-KR" altLang="en-US" sz="2000" dirty="0"/>
              <a:t>제외 되는 것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 err="1" smtClean="0"/>
              <a:t>LLM</a:t>
            </a:r>
            <a:r>
              <a:rPr lang="ko-KR" altLang="en-US" sz="1800" dirty="0" smtClean="0"/>
              <a:t>에 대한 이해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Python, </a:t>
            </a:r>
            <a:r>
              <a:rPr lang="en-US" altLang="ko-KR" sz="1800" dirty="0" err="1" smtClean="0"/>
              <a:t>SPARQL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등 프로그래밍 관련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60150615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1.2 Hands On Lab </a:t>
            </a:r>
            <a:r>
              <a:rPr lang="ko-KR" altLang="en-US"/>
              <a:t>환경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 err="1"/>
              <a:t>Oralce</a:t>
            </a:r>
            <a:r>
              <a:rPr lang="en-US" altLang="ko-KR" sz="2000" dirty="0"/>
              <a:t> Virtual Box </a:t>
            </a:r>
            <a:r>
              <a:rPr lang="ko-KR" altLang="en-US" sz="2000" dirty="0"/>
              <a:t>기반의 가상머신을 이용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Windows, Linux, </a:t>
            </a:r>
            <a:r>
              <a:rPr lang="en-US" altLang="ko-KR" sz="1800" dirty="0" err="1"/>
              <a:t>macOS</a:t>
            </a:r>
            <a:r>
              <a:rPr lang="en-US" altLang="ko-KR" sz="1800" dirty="0"/>
              <a:t> </a:t>
            </a:r>
            <a:r>
              <a:rPr lang="ko-KR" altLang="en-US" sz="1800" dirty="0"/>
              <a:t>등 상관 없이 </a:t>
            </a: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설치 후 이미지 로딩 후 사용 가능 </a:t>
            </a:r>
            <a:r>
              <a:rPr lang="en-US" altLang="ko-KR" sz="1800" dirty="0"/>
              <a:t>(</a:t>
            </a:r>
            <a:r>
              <a:rPr lang="ko-KR" altLang="en-US" sz="1800" dirty="0"/>
              <a:t>참고</a:t>
            </a:r>
            <a:r>
              <a:rPr lang="en-US" altLang="ko-KR" sz="1800" dirty="0"/>
              <a:t>, Windows </a:t>
            </a:r>
            <a:r>
              <a:rPr lang="ko-KR" altLang="en-US" sz="1800" dirty="0"/>
              <a:t>환경에서는 불안정함 </a:t>
            </a:r>
            <a:r>
              <a:rPr lang="en-US" altLang="ko-KR" sz="1800" dirty="0"/>
              <a:t>– Pending, </a:t>
            </a:r>
            <a:r>
              <a:rPr lang="ko-KR" altLang="en-US" sz="1800" dirty="0"/>
              <a:t>비정상 종료 등 발생</a:t>
            </a:r>
            <a:r>
              <a:rPr lang="en-US" altLang="ko-KR" sz="18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Snapshot </a:t>
            </a:r>
            <a:r>
              <a:rPr lang="ko-KR" altLang="en-US" sz="1800" dirty="0"/>
              <a:t>기능을 이용해서 원하는 시점을 되돌릴 수 있음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ko-KR" altLang="en-US" sz="1800" dirty="0"/>
              <a:t>상업적 목적 아니면 무료로 사용할 수 있음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en-US" altLang="ko-KR" sz="2000" dirty="0"/>
              <a:t>Hands On Lab </a:t>
            </a:r>
            <a:r>
              <a:rPr lang="ko-KR" altLang="en-US" sz="2000" dirty="0" err="1"/>
              <a:t>가상머신</a:t>
            </a:r>
            <a:r>
              <a:rPr lang="ko-KR" altLang="en-US" sz="2000" dirty="0"/>
              <a:t> 구성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Ubuntu 24.04 Desktop </a:t>
            </a:r>
            <a:r>
              <a:rPr lang="ko-KR" altLang="en-US" sz="1800" dirty="0" smtClean="0"/>
              <a:t>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en-US" altLang="ko-KR" sz="1800" dirty="0" smtClean="0"/>
              <a:t>Open Web UI, </a:t>
            </a:r>
            <a:r>
              <a:rPr lang="en-US" altLang="ko-KR" sz="1800" dirty="0" err="1" smtClean="0"/>
              <a:t>jBPM</a:t>
            </a:r>
            <a:r>
              <a:rPr lang="ko-KR" altLang="en-US" sz="1800" dirty="0" smtClean="0"/>
              <a:t>은 </a:t>
            </a:r>
            <a:r>
              <a:rPr lang="en-US" altLang="ko-KR" sz="1800" dirty="0" smtClean="0"/>
              <a:t>DOCKER </a:t>
            </a:r>
            <a:r>
              <a:rPr lang="ko-KR" altLang="en-US" sz="1800" dirty="0" smtClean="0"/>
              <a:t>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r>
              <a:rPr lang="ko-KR" altLang="en-US" sz="1800" dirty="0" err="1" smtClean="0"/>
              <a:t>나버지</a:t>
            </a:r>
            <a:r>
              <a:rPr lang="ko-KR" altLang="en-US" sz="1800" dirty="0" smtClean="0"/>
              <a:t> 소프트웨어는 </a:t>
            </a:r>
            <a:r>
              <a:rPr lang="ko-KR" altLang="en-US" sz="1800" dirty="0" err="1" smtClean="0"/>
              <a:t>가상머신에서</a:t>
            </a:r>
            <a:r>
              <a:rPr lang="ko-KR" altLang="en-US" sz="1800" dirty="0" smtClean="0"/>
              <a:t> 직접 사용</a:t>
            </a:r>
            <a:endParaRPr lang="en-US" altLang="ko-KR" sz="1800" dirty="0" smtClean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ko-KR" altLang="en-US" sz="2000" dirty="0"/>
              <a:t>노트북 혹은 </a:t>
            </a:r>
            <a:r>
              <a:rPr lang="en-US" altLang="ko-KR" sz="2000" dirty="0"/>
              <a:t>PC</a:t>
            </a:r>
            <a:r>
              <a:rPr lang="ko-KR" altLang="en-US" sz="2000" dirty="0"/>
              <a:t>에 </a:t>
            </a:r>
            <a:r>
              <a:rPr lang="en-US" altLang="ko-KR" sz="2000" dirty="0"/>
              <a:t>Oracle Virtual Box </a:t>
            </a:r>
            <a:r>
              <a:rPr lang="ko-KR" altLang="en-US" sz="2000" dirty="0"/>
              <a:t>사전 설치 필요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/>
              <a:t>DISK </a:t>
            </a:r>
            <a:r>
              <a:rPr lang="en-US" altLang="ko-KR" sz="1800" dirty="0" err="1"/>
              <a:t>50GB</a:t>
            </a:r>
            <a:r>
              <a:rPr lang="en-US" altLang="ko-KR" sz="1800" dirty="0"/>
              <a:t> </a:t>
            </a:r>
            <a:r>
              <a:rPr lang="ko-KR" altLang="en-US" sz="1800" dirty="0"/>
              <a:t>이상 필요 </a:t>
            </a:r>
            <a:r>
              <a:rPr lang="en-US" altLang="ko-KR" sz="1800" dirty="0"/>
              <a:t>-&gt; Hands On </a:t>
            </a:r>
            <a:r>
              <a:rPr lang="en-US" altLang="ko-KR" sz="1800" dirty="0" err="1"/>
              <a:t>VM</a:t>
            </a:r>
            <a:r>
              <a:rPr lang="en-US" altLang="ko-KR" sz="1800" dirty="0"/>
              <a:t> </a:t>
            </a:r>
            <a:r>
              <a:rPr lang="ko-KR" altLang="en-US" sz="1800" dirty="0"/>
              <a:t>요구 </a:t>
            </a:r>
            <a:r>
              <a:rPr lang="ko-KR" altLang="en-US" sz="1800" dirty="0" smtClean="0"/>
              <a:t>사항</a:t>
            </a:r>
            <a:endParaRPr lang="en-US" altLang="ko-KR" sz="1800" dirty="0" smtClean="0"/>
          </a:p>
          <a:p>
            <a:pPr lvl="2"/>
            <a:r>
              <a:rPr lang="en-US" altLang="ko-KR" sz="1400" dirty="0" err="1" smtClean="0"/>
              <a:t>ollama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모델에 따라 디스크 소모 </a:t>
            </a:r>
            <a:r>
              <a:rPr lang="ko-KR" altLang="en-US" sz="1400" dirty="0" err="1" smtClean="0"/>
              <a:t>많아짐</a:t>
            </a:r>
            <a:r>
              <a:rPr lang="en-US" altLang="ko-KR" sz="1400" dirty="0" smtClean="0"/>
              <a:t>.</a:t>
            </a:r>
          </a:p>
          <a:p>
            <a:pPr lvl="2"/>
            <a:r>
              <a:rPr lang="ko-KR" altLang="en-US" sz="1400" dirty="0" smtClean="0"/>
              <a:t>본 </a:t>
            </a:r>
            <a:r>
              <a:rPr lang="en-US" altLang="ko-KR" sz="1400" dirty="0" smtClean="0"/>
              <a:t>lab</a:t>
            </a:r>
            <a:r>
              <a:rPr lang="ko-KR" altLang="en-US" sz="1400" dirty="0" smtClean="0"/>
              <a:t>에서는 최소 용량 모델인 </a:t>
            </a:r>
            <a:r>
              <a:rPr lang="en-US" altLang="ko-KR" sz="1400" dirty="0" err="1" smtClean="0"/>
              <a:t>qwen3:latest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사용</a:t>
            </a:r>
            <a:endParaRPr lang="en-US" altLang="ko-KR" sz="1400" dirty="0"/>
          </a:p>
          <a:p>
            <a:pPr lvl="1">
              <a:buFontTx/>
              <a:buChar char="•"/>
            </a:pPr>
            <a:r>
              <a:rPr lang="en-US" altLang="ko-KR" sz="1800" dirty="0"/>
              <a:t>RAM </a:t>
            </a:r>
            <a:r>
              <a:rPr lang="ko-KR" altLang="en-US" sz="1800" dirty="0"/>
              <a:t>최소 </a:t>
            </a:r>
            <a:r>
              <a:rPr lang="en-US" altLang="ko-KR" sz="1800" dirty="0" err="1" smtClean="0"/>
              <a:t>8GB</a:t>
            </a:r>
            <a:r>
              <a:rPr lang="en-US" altLang="ko-KR" sz="1800" dirty="0" smtClean="0"/>
              <a:t> </a:t>
            </a:r>
            <a:r>
              <a:rPr lang="ko-KR" altLang="en-US" sz="1800" dirty="0"/>
              <a:t>이상</a:t>
            </a:r>
            <a:r>
              <a:rPr lang="en-US" altLang="ko-KR" sz="1800" dirty="0"/>
              <a:t> </a:t>
            </a:r>
            <a:r>
              <a:rPr lang="ko-KR" altLang="en-US" sz="1800" dirty="0"/>
              <a:t>필요</a:t>
            </a:r>
            <a:r>
              <a:rPr lang="en-US" altLang="ko-KR" sz="1800" dirty="0"/>
              <a:t>, </a:t>
            </a:r>
            <a:r>
              <a:rPr lang="ko-KR" altLang="en-US" sz="1800" dirty="0"/>
              <a:t>권장 </a:t>
            </a:r>
            <a:r>
              <a:rPr lang="en-US" altLang="ko-KR" sz="1800" dirty="0"/>
              <a:t>16GB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https://</a:t>
            </a:r>
            <a:r>
              <a:rPr lang="en-US" altLang="ko-KR" sz="1800" dirty="0" err="1"/>
              <a:t>www.virtualbox.org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59047565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/>
              <a:t>Oracle Virtual Box </a:t>
            </a:r>
            <a:r>
              <a:rPr lang="ko-KR" altLang="en-US" sz="2000" dirty="0"/>
              <a:t>설치 </a:t>
            </a:r>
            <a:r>
              <a:rPr lang="en-US" altLang="ko-KR" sz="2000" dirty="0"/>
              <a:t>: https://</a:t>
            </a:r>
            <a:r>
              <a:rPr lang="en-US" altLang="ko-KR" sz="2000" dirty="0" err="1"/>
              <a:t>www.virtualbox.org</a:t>
            </a:r>
            <a:r>
              <a:rPr lang="en-US" altLang="ko-KR" sz="2000" dirty="0"/>
              <a:t>/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Windows, </a:t>
            </a:r>
            <a:r>
              <a:rPr lang="en-US" altLang="ko-KR" sz="1800" dirty="0" err="1"/>
              <a:t>macOS</a:t>
            </a:r>
            <a:r>
              <a:rPr lang="en-US" altLang="ko-KR" sz="1800" dirty="0"/>
              <a:t>, Linux (Ubuntu, </a:t>
            </a:r>
            <a:r>
              <a:rPr lang="en-US" altLang="ko-KR" sz="1800" dirty="0" err="1"/>
              <a:t>RedHat</a:t>
            </a:r>
            <a:r>
              <a:rPr lang="en-US" altLang="ko-KR" sz="1800" dirty="0"/>
              <a:t> </a:t>
            </a:r>
            <a:r>
              <a:rPr lang="ko-KR" altLang="en-US" sz="1800" dirty="0"/>
              <a:t>계열</a:t>
            </a:r>
            <a:r>
              <a:rPr lang="en-US" altLang="ko-KR" sz="1800" dirty="0"/>
              <a:t>) </a:t>
            </a:r>
            <a:r>
              <a:rPr lang="ko-KR" altLang="en-US" sz="1800" dirty="0"/>
              <a:t>설치 가능</a:t>
            </a:r>
            <a:endParaRPr lang="en-US" altLang="ko-KR" sz="1800" dirty="0"/>
          </a:p>
          <a:p>
            <a:pPr>
              <a:buFontTx/>
              <a:buChar char="•"/>
            </a:pPr>
            <a:endParaRPr lang="en-US" altLang="ko-KR" sz="2000" dirty="0"/>
          </a:p>
          <a:p>
            <a:pPr>
              <a:buFontTx/>
              <a:buChar char="•"/>
            </a:pPr>
            <a:r>
              <a:rPr lang="en-US" altLang="ko-KR" sz="2000" dirty="0" err="1"/>
              <a:t>VirtualBox</a:t>
            </a:r>
            <a:r>
              <a:rPr lang="en-US" altLang="ko-KR" sz="2000" dirty="0"/>
              <a:t> </a:t>
            </a:r>
            <a:r>
              <a:rPr lang="ko-KR" altLang="en-US" sz="2000" dirty="0"/>
              <a:t>설치 후 실행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ko-KR" altLang="en-US" sz="1800" dirty="0"/>
              <a:t>좌측 </a:t>
            </a:r>
            <a:r>
              <a:rPr lang="en-US" altLang="ko-KR" sz="1800" dirty="0"/>
              <a:t>TAB</a:t>
            </a:r>
            <a:r>
              <a:rPr lang="ko-KR" altLang="en-US" sz="1800" dirty="0"/>
              <a:t>에 홈</a:t>
            </a:r>
            <a:r>
              <a:rPr lang="en-US" altLang="ko-KR" sz="1800" dirty="0"/>
              <a:t>, </a:t>
            </a:r>
            <a:r>
              <a:rPr lang="ko-KR" altLang="en-US" sz="1800" dirty="0"/>
              <a:t>확장</a:t>
            </a:r>
            <a:r>
              <a:rPr lang="en-US" altLang="ko-KR" sz="1800" dirty="0"/>
              <a:t>, </a:t>
            </a:r>
            <a:r>
              <a:rPr lang="ko-KR" altLang="en-US" sz="1800" dirty="0"/>
              <a:t>미디어</a:t>
            </a:r>
            <a:r>
              <a:rPr lang="en-US" altLang="ko-KR" sz="1800" dirty="0"/>
              <a:t>, </a:t>
            </a:r>
            <a:r>
              <a:rPr lang="ko-KR" altLang="en-US" sz="1800" dirty="0"/>
              <a:t>네트워크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클라우드</a:t>
            </a:r>
            <a:r>
              <a:rPr lang="en-US" altLang="ko-KR" sz="1800" dirty="0"/>
              <a:t>, </a:t>
            </a:r>
            <a:r>
              <a:rPr lang="ko-KR" altLang="en-US" sz="1800" dirty="0"/>
              <a:t>리소스 가 있다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2200" dirty="0"/>
          </a:p>
          <a:p>
            <a:pPr>
              <a:buFontTx/>
              <a:buChar char="•"/>
            </a:pPr>
            <a:endParaRPr lang="en-US" altLang="ko-KR" sz="1200" dirty="0"/>
          </a:p>
          <a:p>
            <a:pPr>
              <a:buFontTx/>
              <a:buChar char="•"/>
            </a:pPr>
            <a:r>
              <a:rPr lang="ko-KR" altLang="en-US" sz="2200" dirty="0"/>
              <a:t>운영 환경에서 사용 하지 말 것 </a:t>
            </a:r>
            <a:r>
              <a:rPr lang="en-US" altLang="ko-KR" sz="2200" dirty="0"/>
              <a:t>: </a:t>
            </a:r>
            <a:r>
              <a:rPr lang="ko-KR" altLang="en-US" sz="2200" dirty="0"/>
              <a:t>라이선스</a:t>
            </a:r>
            <a:r>
              <a:rPr lang="en-US" altLang="ko-KR" sz="2200" dirty="0"/>
              <a:t>, </a:t>
            </a:r>
            <a:r>
              <a:rPr lang="ko-KR" altLang="en-US" sz="2200" dirty="0"/>
              <a:t>안정성 등 이슈 있음</a:t>
            </a:r>
            <a:endParaRPr lang="en-US" altLang="ko-KR" sz="2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552" y="2636912"/>
            <a:ext cx="6696744" cy="3057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559490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 err="1"/>
              <a:t>VirtualBox</a:t>
            </a:r>
            <a:r>
              <a:rPr lang="en-US" altLang="ko-KR" sz="2000" dirty="0"/>
              <a:t> Extension </a:t>
            </a:r>
            <a:r>
              <a:rPr lang="ko-KR" altLang="en-US" sz="2000" dirty="0"/>
              <a:t>설치 </a:t>
            </a:r>
            <a:r>
              <a:rPr lang="en-US" altLang="ko-KR" sz="2000" dirty="0"/>
              <a:t>(Recommend)</a:t>
            </a:r>
          </a:p>
          <a:p>
            <a:pPr lvl="1">
              <a:buFontTx/>
              <a:buChar char="•"/>
            </a:pPr>
            <a:r>
              <a:rPr lang="en-US" altLang="ko-KR" sz="1800" dirty="0"/>
              <a:t>https://</a:t>
            </a:r>
            <a:r>
              <a:rPr lang="en-US" altLang="ko-KR" sz="1800" dirty="0" err="1"/>
              <a:t>www.virtualbox.org</a:t>
            </a:r>
            <a:r>
              <a:rPr lang="en-US" altLang="ko-KR" sz="1800" dirty="0"/>
              <a:t>/wiki/Downloads </a:t>
            </a:r>
            <a:r>
              <a:rPr lang="ko-KR" altLang="en-US" sz="1800" dirty="0"/>
              <a:t>의 우측 중간에 </a:t>
            </a:r>
            <a:r>
              <a:rPr lang="en-US" altLang="ko-KR" sz="1800" dirty="0"/>
              <a:t>“Accept and download” </a:t>
            </a:r>
            <a:r>
              <a:rPr lang="ko-KR" altLang="en-US" sz="1800" dirty="0"/>
              <a:t>버튼을 클릭하면 </a:t>
            </a:r>
            <a:r>
              <a:rPr lang="en-US" altLang="ko-KR" sz="1800" dirty="0"/>
              <a:t>Extension</a:t>
            </a:r>
            <a:r>
              <a:rPr lang="ko-KR" altLang="en-US" sz="1800" dirty="0"/>
              <a:t>을 다운로드 할 수 있다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화면의 </a:t>
            </a:r>
            <a:r>
              <a:rPr lang="en-US" altLang="ko-KR" sz="1800" dirty="0"/>
              <a:t>“</a:t>
            </a:r>
            <a:r>
              <a:rPr lang="ko-KR" altLang="en-US" sz="1800" dirty="0"/>
              <a:t>확장</a:t>
            </a:r>
            <a:r>
              <a:rPr lang="en-US" altLang="ko-KR" sz="1800" dirty="0"/>
              <a:t>“ TAB</a:t>
            </a:r>
            <a:r>
              <a:rPr lang="ko-KR" altLang="en-US" sz="1800" dirty="0"/>
              <a:t>에서 다운로드 한 </a:t>
            </a:r>
            <a:r>
              <a:rPr lang="en-US" altLang="ko-KR" sz="1800" dirty="0"/>
              <a:t>Extension</a:t>
            </a:r>
            <a:r>
              <a:rPr lang="ko-KR" altLang="en-US" sz="1800" dirty="0"/>
              <a:t>을 설치한다</a:t>
            </a:r>
            <a:r>
              <a:rPr lang="en-US" altLang="ko-KR" sz="1800" dirty="0"/>
              <a:t>.</a:t>
            </a:r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 lvl="1">
              <a:buFontTx/>
              <a:buChar char="•"/>
            </a:pPr>
            <a:endParaRPr lang="en-US" altLang="ko-KR" sz="1800" dirty="0"/>
          </a:p>
          <a:p>
            <a:pPr>
              <a:buFontTx/>
              <a:buChar char="•"/>
            </a:pPr>
            <a:r>
              <a:rPr lang="en-US" altLang="ko-KR" sz="1600" dirty="0"/>
              <a:t>Extension </a:t>
            </a:r>
            <a:r>
              <a:rPr lang="ko-KR" altLang="en-US" sz="1600" dirty="0" err="1"/>
              <a:t>설치시</a:t>
            </a:r>
            <a:r>
              <a:rPr lang="ko-KR" altLang="en-US" sz="1600" dirty="0"/>
              <a:t> </a:t>
            </a:r>
            <a:r>
              <a:rPr lang="en-US" altLang="ko-KR" sz="1600" dirty="0"/>
              <a:t>Host</a:t>
            </a:r>
            <a:r>
              <a:rPr lang="ko-KR" altLang="en-US" sz="1600" dirty="0"/>
              <a:t>와 </a:t>
            </a:r>
            <a:r>
              <a:rPr lang="en-US" altLang="ko-KR" sz="1600" dirty="0"/>
              <a:t>Drag &amp; Drop, Clipboard, </a:t>
            </a:r>
            <a:r>
              <a:rPr lang="ko-KR" altLang="en-US" sz="1600" dirty="0"/>
              <a:t>화면 공유 등 가능</a:t>
            </a:r>
            <a:endParaRPr lang="en-US" altLang="ko-KR" sz="1600" dirty="0"/>
          </a:p>
        </p:txBody>
      </p:sp>
      <p:grpSp>
        <p:nvGrpSpPr>
          <p:cNvPr id="5" name="그룹 4"/>
          <p:cNvGrpSpPr/>
          <p:nvPr/>
        </p:nvGrpSpPr>
        <p:grpSpPr>
          <a:xfrm>
            <a:off x="644402" y="2204864"/>
            <a:ext cx="4104456" cy="1829724"/>
            <a:chOff x="416496" y="2420888"/>
            <a:chExt cx="4104456" cy="1829724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6496" y="2420888"/>
              <a:ext cx="4104456" cy="1829724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/>
          </p:nvSpPr>
          <p:spPr>
            <a:xfrm>
              <a:off x="3836876" y="4005166"/>
              <a:ext cx="648072" cy="19473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rIns="288000" rtlCol="0" anchor="ctr"/>
            <a:lstStyle/>
            <a:p>
              <a:pPr algn="ctr"/>
              <a:endParaRPr lang="ko-KR" altLang="en-US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906" y="2211575"/>
            <a:ext cx="3978275" cy="181630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406" y="4525143"/>
            <a:ext cx="3996444" cy="1418278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0905" y="4132979"/>
            <a:ext cx="3978275" cy="1816301"/>
          </a:xfrm>
          <a:prstGeom prst="rect">
            <a:avLst/>
          </a:prstGeom>
        </p:spPr>
      </p:pic>
      <p:sp>
        <p:nvSpPr>
          <p:cNvPr id="13" name="직사각형 12"/>
          <p:cNvSpPr/>
          <p:nvPr/>
        </p:nvSpPr>
        <p:spPr>
          <a:xfrm>
            <a:off x="5340554" y="2485080"/>
            <a:ext cx="360040" cy="28803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696926" y="5692512"/>
            <a:ext cx="504056" cy="216024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340554" y="4653136"/>
            <a:ext cx="3860918" cy="28803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" name="직선 화살표 연결선 11"/>
          <p:cNvCxnSpPr/>
          <p:nvPr/>
        </p:nvCxnSpPr>
        <p:spPr>
          <a:xfrm flipH="1">
            <a:off x="3740746" y="2773112"/>
            <a:ext cx="1800201" cy="2919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>
            <a:stCxn id="14" idx="3"/>
            <a:endCxn id="15" idx="1"/>
          </p:cNvCxnSpPr>
          <p:nvPr/>
        </p:nvCxnSpPr>
        <p:spPr>
          <a:xfrm flipV="1">
            <a:off x="4200982" y="4797152"/>
            <a:ext cx="1139572" cy="10033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769017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2000" dirty="0"/>
              <a:t>Hands On</a:t>
            </a:r>
            <a:r>
              <a:rPr lang="ko-KR" altLang="en-US" sz="2000" dirty="0"/>
              <a:t>을 위한 가상 머신 오픈</a:t>
            </a:r>
            <a:endParaRPr lang="en-US" altLang="ko-KR" sz="2000" dirty="0"/>
          </a:p>
          <a:p>
            <a:pPr lvl="1">
              <a:buFontTx/>
              <a:buChar char="•"/>
            </a:pPr>
            <a:r>
              <a:rPr lang="en-US" altLang="ko-KR" sz="1800" dirty="0" err="1"/>
              <a:t>VirtualBox</a:t>
            </a:r>
            <a:r>
              <a:rPr lang="en-US" altLang="ko-KR" sz="1800" dirty="0"/>
              <a:t> </a:t>
            </a:r>
            <a:r>
              <a:rPr lang="ko-KR" altLang="en-US" sz="1800" dirty="0"/>
              <a:t>화면의 </a:t>
            </a:r>
            <a:r>
              <a:rPr lang="en-US" altLang="ko-KR" sz="1800" dirty="0"/>
              <a:t>“</a:t>
            </a:r>
            <a:r>
              <a:rPr lang="ko-KR" altLang="en-US" sz="1800" dirty="0"/>
              <a:t>홈</a:t>
            </a:r>
            <a:r>
              <a:rPr lang="en-US" altLang="ko-KR" sz="1800" dirty="0"/>
              <a:t>“ Open </a:t>
            </a:r>
            <a:r>
              <a:rPr lang="ko-KR" altLang="en-US" sz="1800" dirty="0"/>
              <a:t>메뉴를 이용해 제공된 </a:t>
            </a:r>
            <a:r>
              <a:rPr lang="en-US" altLang="ko-KR" sz="1800" dirty="0" err="1"/>
              <a:t>KafkaHandsOnLabHands</a:t>
            </a:r>
            <a:r>
              <a:rPr lang="en-US" altLang="ko-KR" sz="1800" dirty="0"/>
              <a:t> </a:t>
            </a:r>
            <a:r>
              <a:rPr lang="ko-KR" altLang="en-US" sz="1800" dirty="0"/>
              <a:t>가상 </a:t>
            </a:r>
            <a:r>
              <a:rPr lang="ko-KR" altLang="en-US" sz="1800" dirty="0" err="1"/>
              <a:t>머신을</a:t>
            </a:r>
            <a:r>
              <a:rPr lang="ko-KR" altLang="en-US" sz="1800" dirty="0"/>
              <a:t> </a:t>
            </a:r>
            <a:r>
              <a:rPr lang="en-US" altLang="ko-KR" sz="1800" dirty="0" err="1"/>
              <a:t>VirtualBox</a:t>
            </a:r>
            <a:r>
              <a:rPr lang="ko-KR" altLang="en-US" sz="1800" dirty="0"/>
              <a:t>에 반영</a:t>
            </a:r>
            <a:endParaRPr lang="en-US" altLang="ko-KR" sz="18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88" y="2060848"/>
            <a:ext cx="4422204" cy="2018979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787" y="4203118"/>
            <a:ext cx="2926707" cy="2178210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008" y="2060849"/>
            <a:ext cx="4696616" cy="4032448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1472885" y="2333640"/>
            <a:ext cx="338051" cy="3600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004179" y="6206428"/>
            <a:ext cx="371155" cy="1647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75334" y="5229200"/>
            <a:ext cx="1080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>
                <a:latin typeface="맑은 고딕" pitchFamily="50" charset="-127"/>
                <a:ea typeface="맑은 고딕" pitchFamily="50" charset="-127"/>
              </a:rPr>
              <a:t>가상머신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vbox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파일 선택</a:t>
            </a:r>
          </a:p>
        </p:txBody>
      </p:sp>
      <p:cxnSp>
        <p:nvCxnSpPr>
          <p:cNvPr id="22" name="직선 화살표 연결선 21"/>
          <p:cNvCxnSpPr>
            <a:stCxn id="20" idx="2"/>
            <a:endCxn id="21" idx="0"/>
          </p:cNvCxnSpPr>
          <p:nvPr/>
        </p:nvCxnSpPr>
        <p:spPr>
          <a:xfrm>
            <a:off x="1641911" y="2693680"/>
            <a:ext cx="1547846" cy="35127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endCxn id="11" idx="1"/>
          </p:cNvCxnSpPr>
          <p:nvPr/>
        </p:nvCxnSpPr>
        <p:spPr>
          <a:xfrm flipV="1">
            <a:off x="3385494" y="4077073"/>
            <a:ext cx="1639514" cy="22322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6670077" y="2305784"/>
            <a:ext cx="371155" cy="377736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endParaRPr lang="ko-KR" altLang="en-US" dirty="0" err="1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939928" y="6073546"/>
            <a:ext cx="4781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가성 머신 로딩 후 정보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 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시작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”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버튼을 클릭하면 실행된다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err="1">
                <a:latin typeface="맑은 고딕" pitchFamily="50" charset="-127"/>
                <a:ea typeface="맑은 고딕" pitchFamily="50" charset="-127"/>
              </a:rPr>
              <a:t>필요시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“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설정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＂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을 통해 가상 머신 환경을 수정한다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. (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네트워크 설정 변경 필요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000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800720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/>
              <a:t>CPU / MEMORY / Network </a:t>
            </a:r>
            <a:r>
              <a:rPr lang="ko-KR" altLang="en-US" sz="1800" dirty="0"/>
              <a:t>설정 </a:t>
            </a:r>
            <a:r>
              <a:rPr lang="en-US" altLang="ko-KR" sz="1800" dirty="0"/>
              <a:t>(Optional)</a:t>
            </a:r>
          </a:p>
          <a:p>
            <a:pPr lvl="1">
              <a:buFontTx/>
              <a:buChar char="•"/>
            </a:pPr>
            <a:r>
              <a:rPr lang="en-US" altLang="ko-KR" sz="1600" dirty="0" err="1"/>
              <a:t>VM</a:t>
            </a:r>
            <a:r>
              <a:rPr lang="ko-KR" altLang="en-US" sz="1600" dirty="0"/>
              <a:t>을 제작한 환경과 사용하는 환경이 다를 수 있어서 </a:t>
            </a:r>
            <a:r>
              <a:rPr lang="ko-KR" altLang="en-US" sz="1600" dirty="0" err="1"/>
              <a:t>필요시</a:t>
            </a:r>
            <a:r>
              <a:rPr lang="ko-KR" altLang="en-US" sz="1600" dirty="0"/>
              <a:t> </a:t>
            </a:r>
            <a:r>
              <a:rPr lang="en-US" altLang="ko-KR" sz="1600" dirty="0"/>
              <a:t>“</a:t>
            </a:r>
            <a:r>
              <a:rPr lang="ko-KR" altLang="en-US" sz="1600" dirty="0"/>
              <a:t>설정</a:t>
            </a:r>
            <a:r>
              <a:rPr lang="en-US" altLang="ko-KR" sz="1600" dirty="0"/>
              <a:t>”</a:t>
            </a:r>
            <a:r>
              <a:rPr lang="ko-KR" altLang="en-US" sz="1600" dirty="0"/>
              <a:t>으로 수정한다</a:t>
            </a:r>
            <a:r>
              <a:rPr lang="en-US" altLang="ko-KR" sz="1600" dirty="0"/>
              <a:t>.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CPU : 4 CORE, MEM </a:t>
            </a:r>
            <a:r>
              <a:rPr lang="en-US" altLang="ko-KR" sz="1600" dirty="0" err="1"/>
              <a:t>4GB</a:t>
            </a:r>
            <a:r>
              <a:rPr lang="en-US" altLang="ko-KR" sz="1600" dirty="0"/>
              <a:t> </a:t>
            </a:r>
            <a:r>
              <a:rPr lang="ko-KR" altLang="en-US" sz="1600" dirty="0" err="1"/>
              <a:t>셋팅</a:t>
            </a:r>
            <a:r>
              <a:rPr lang="ko-KR" altLang="en-US" sz="1600" dirty="0"/>
              <a:t> </a:t>
            </a:r>
            <a:r>
              <a:rPr lang="en-US" altLang="ko-KR" sz="1600" dirty="0"/>
              <a:t>-&gt; PC </a:t>
            </a:r>
            <a:r>
              <a:rPr lang="ko-KR" altLang="en-US" sz="1600" dirty="0"/>
              <a:t>환경에 따라 필요 설정 변경</a:t>
            </a:r>
            <a:endParaRPr lang="en-US" altLang="ko-KR" sz="1600" dirty="0"/>
          </a:p>
          <a:p>
            <a:pPr lvl="1">
              <a:buFontTx/>
              <a:buChar char="•"/>
            </a:pPr>
            <a:r>
              <a:rPr lang="en-US" altLang="ko-KR" sz="1600" dirty="0"/>
              <a:t>NETWORK : Bridge </a:t>
            </a:r>
            <a:r>
              <a:rPr lang="ko-KR" altLang="en-US" sz="1600" dirty="0"/>
              <a:t>선택 후 </a:t>
            </a:r>
            <a:r>
              <a:rPr lang="en-US" altLang="ko-KR" sz="1600" dirty="0"/>
              <a:t>HOST PC</a:t>
            </a:r>
            <a:r>
              <a:rPr lang="ko-KR" altLang="en-US" sz="1600" dirty="0"/>
              <a:t>에 설정된 비디오 카드 선택</a:t>
            </a:r>
            <a:endParaRPr lang="en-US" altLang="ko-KR" sz="1600" dirty="0"/>
          </a:p>
          <a:p>
            <a:pPr lvl="1">
              <a:buFontTx/>
              <a:buChar char="•"/>
            </a:pPr>
            <a:endParaRPr lang="en-US" altLang="ko-KR" sz="1600" dirty="0"/>
          </a:p>
          <a:p>
            <a:pPr>
              <a:buFontTx/>
              <a:buChar char="•"/>
            </a:pPr>
            <a:r>
              <a:rPr lang="ko-KR" altLang="en-US" sz="1800" dirty="0"/>
              <a:t>주의 사항</a:t>
            </a:r>
            <a:endParaRPr lang="en-US" altLang="ko-KR" sz="1800" dirty="0"/>
          </a:p>
          <a:p>
            <a:pPr lvl="1">
              <a:buFontTx/>
              <a:buChar char="•"/>
            </a:pPr>
            <a:r>
              <a:rPr lang="ko-KR" altLang="en-US" sz="1600" dirty="0"/>
              <a:t>설정한 </a:t>
            </a:r>
            <a:r>
              <a:rPr lang="en-US" altLang="ko-KR" sz="1600" dirty="0"/>
              <a:t>NETWORK Adaptor</a:t>
            </a:r>
            <a:r>
              <a:rPr lang="ko-KR" altLang="en-US" sz="1600" dirty="0"/>
              <a:t>가 </a:t>
            </a:r>
            <a:r>
              <a:rPr lang="en-US" altLang="ko-KR" sz="1600" dirty="0"/>
              <a:t>PC</a:t>
            </a:r>
            <a:r>
              <a:rPr lang="ko-KR" altLang="en-US" sz="1600" dirty="0"/>
              <a:t>마다 다른 관계로 </a:t>
            </a:r>
            <a:r>
              <a:rPr lang="en-US" altLang="ko-KR" sz="1600" dirty="0"/>
              <a:t>HOST PC</a:t>
            </a:r>
            <a:r>
              <a:rPr lang="ko-KR" altLang="en-US" sz="1600" dirty="0"/>
              <a:t>의 </a:t>
            </a:r>
            <a:r>
              <a:rPr lang="en-US" altLang="ko-KR" sz="1600" dirty="0"/>
              <a:t>Adaptor</a:t>
            </a:r>
            <a:r>
              <a:rPr lang="ko-KR" altLang="en-US" sz="1600" dirty="0"/>
              <a:t>로 변경 필요</a:t>
            </a:r>
            <a:endParaRPr lang="en-US" altLang="ko-KR" sz="1600" dirty="0"/>
          </a:p>
          <a:p>
            <a:pPr lvl="1">
              <a:buFontTx/>
              <a:buChar char="•"/>
            </a:pPr>
            <a:r>
              <a:rPr lang="ko-KR" altLang="en-US" sz="1600" dirty="0"/>
              <a:t>디스플레이 옵션의 </a:t>
            </a:r>
            <a:r>
              <a:rPr lang="en-US" altLang="ko-KR" sz="1600" dirty="0" err="1"/>
              <a:t>3d</a:t>
            </a:r>
            <a:r>
              <a:rPr lang="en-US" altLang="ko-KR" sz="1600" dirty="0"/>
              <a:t> </a:t>
            </a:r>
            <a:r>
              <a:rPr lang="en-US" altLang="ko-KR" sz="1600" dirty="0" err="1"/>
              <a:t>Accelation</a:t>
            </a:r>
            <a:r>
              <a:rPr lang="ko-KR" altLang="en-US" sz="1600" dirty="0"/>
              <a:t>은 </a:t>
            </a:r>
            <a:r>
              <a:rPr lang="en-US" altLang="ko-KR" sz="1600" dirty="0"/>
              <a:t>PC </a:t>
            </a:r>
            <a:r>
              <a:rPr lang="ko-KR" altLang="en-US" sz="1600" dirty="0"/>
              <a:t>그래픽 카드에 따라 오동작 할 수 있음 </a:t>
            </a:r>
            <a:r>
              <a:rPr lang="en-US" altLang="ko-KR" sz="1600" dirty="0"/>
              <a:t>(</a:t>
            </a:r>
            <a:r>
              <a:rPr lang="ko-KR" altLang="en-US" sz="1600" dirty="0"/>
              <a:t>선택 해제 후 사용</a:t>
            </a:r>
            <a:r>
              <a:rPr lang="en-US" altLang="ko-KR" sz="16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Graphics Controller</a:t>
            </a:r>
            <a:r>
              <a:rPr lang="ko-KR" altLang="en-US" sz="1600" dirty="0"/>
              <a:t>는 </a:t>
            </a:r>
            <a:r>
              <a:rPr lang="en-US" altLang="ko-KR" sz="1600" dirty="0"/>
              <a:t>VMSGA </a:t>
            </a:r>
            <a:r>
              <a:rPr lang="ko-KR" altLang="en-US" sz="1600" dirty="0"/>
              <a:t>선택 </a:t>
            </a:r>
            <a:r>
              <a:rPr lang="en-US" altLang="ko-KR" sz="1600" dirty="0"/>
              <a:t>(Linux </a:t>
            </a:r>
            <a:r>
              <a:rPr lang="ko-KR" altLang="en-US" sz="1600" dirty="0"/>
              <a:t>계열 게스트 사용시 선택</a:t>
            </a:r>
            <a:r>
              <a:rPr lang="en-US" altLang="ko-KR" sz="1600" dirty="0"/>
              <a:t>)</a:t>
            </a:r>
          </a:p>
          <a:p>
            <a:pPr lvl="1">
              <a:buFontTx/>
              <a:buChar char="•"/>
            </a:pPr>
            <a:r>
              <a:rPr lang="en-US" altLang="ko-KR" sz="1600" dirty="0"/>
              <a:t>Windows </a:t>
            </a:r>
            <a:r>
              <a:rPr lang="ko-KR" altLang="en-US" sz="1600" dirty="0" err="1"/>
              <a:t>계역을</a:t>
            </a:r>
            <a:r>
              <a:rPr lang="ko-KR" altLang="en-US" sz="1600" dirty="0"/>
              <a:t> </a:t>
            </a:r>
            <a:r>
              <a:rPr lang="en-US" altLang="ko-KR" sz="1600" dirty="0" err="1"/>
              <a:t>VBoxSGA</a:t>
            </a:r>
            <a:r>
              <a:rPr lang="en-US" altLang="ko-KR" sz="1600" dirty="0"/>
              <a:t> </a:t>
            </a:r>
            <a:r>
              <a:rPr lang="ko-KR" altLang="en-US" sz="1600" dirty="0"/>
              <a:t>사용 권장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557554875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/>
              <a:t>1.3 Oracle Virtual Box </a:t>
            </a:r>
            <a:r>
              <a:rPr lang="ko-KR" altLang="en-US"/>
              <a:t>설치 및 준비</a:t>
            </a:r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2"/>
            <a:ext cx="9193212" cy="5472707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2000" dirty="0"/>
              <a:t>가상 머신 계정 </a:t>
            </a:r>
            <a:r>
              <a:rPr lang="en-US" altLang="ko-KR" sz="2000" dirty="0"/>
              <a:t>(root</a:t>
            </a:r>
            <a:r>
              <a:rPr lang="ko-KR" altLang="en-US" sz="2000" dirty="0"/>
              <a:t>로 </a:t>
            </a:r>
            <a:r>
              <a:rPr lang="ko-KR" altLang="en-US" sz="2000" dirty="0" err="1"/>
              <a:t>로그인은</a:t>
            </a:r>
            <a:r>
              <a:rPr lang="ko-KR" altLang="en-US" sz="2000" dirty="0"/>
              <a:t> 안됨</a:t>
            </a:r>
            <a:r>
              <a:rPr lang="en-US" altLang="ko-KR" sz="2000" dirty="0"/>
              <a:t>)</a:t>
            </a:r>
          </a:p>
          <a:p>
            <a:pPr lvl="1">
              <a:buFontTx/>
              <a:buChar char="•"/>
            </a:pPr>
            <a:r>
              <a:rPr lang="ko-KR" altLang="en-US" sz="1800" dirty="0"/>
              <a:t>로그인 계정 </a:t>
            </a:r>
            <a:r>
              <a:rPr lang="en-US" altLang="ko-KR" sz="1800" dirty="0"/>
              <a:t>: user / </a:t>
            </a:r>
            <a:r>
              <a:rPr lang="en-US" altLang="ko-KR" sz="1800" dirty="0" err="1"/>
              <a:t>user1</a:t>
            </a:r>
            <a:r>
              <a:rPr lang="en-US" altLang="ko-KR" sz="1800" dirty="0"/>
              <a:t>!</a:t>
            </a:r>
          </a:p>
          <a:p>
            <a:pPr lvl="1">
              <a:buFontTx/>
              <a:buChar char="•"/>
            </a:pPr>
            <a:r>
              <a:rPr lang="ko-KR" altLang="en-US" sz="1800" dirty="0"/>
              <a:t>관리자 계정 </a:t>
            </a:r>
            <a:r>
              <a:rPr lang="en-US" altLang="ko-KR" sz="1800" dirty="0"/>
              <a:t>: root / </a:t>
            </a:r>
            <a:r>
              <a:rPr lang="en-US" altLang="ko-KR" sz="1800" dirty="0" err="1"/>
              <a:t>root1</a:t>
            </a:r>
            <a:r>
              <a:rPr lang="en-US" altLang="ko-KR" sz="1800" dirty="0"/>
              <a:t>! (</a:t>
            </a:r>
            <a:r>
              <a:rPr lang="en-US" altLang="ko-KR" sz="1800" dirty="0" err="1"/>
              <a:t>su</a:t>
            </a:r>
            <a:r>
              <a:rPr lang="en-US" altLang="ko-KR" sz="1800" dirty="0"/>
              <a:t> </a:t>
            </a:r>
            <a:r>
              <a:rPr lang="ko-KR" altLang="en-US" sz="1800" dirty="0"/>
              <a:t>로만 계정 변경 가능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로그인은</a:t>
            </a:r>
            <a:r>
              <a:rPr lang="ko-KR" altLang="en-US" sz="1800" dirty="0"/>
              <a:t> 안됨</a:t>
            </a:r>
            <a:r>
              <a:rPr lang="en-US" altLang="ko-KR" sz="1800" dirty="0"/>
              <a:t>)</a:t>
            </a:r>
          </a:p>
          <a:p>
            <a:pPr>
              <a:buFontTx/>
              <a:buChar char="•"/>
            </a:pPr>
            <a:r>
              <a:rPr lang="ko-KR" altLang="en-US" sz="2000" dirty="0"/>
              <a:t>가상 </a:t>
            </a:r>
            <a:r>
              <a:rPr lang="ko-KR" altLang="en-US" sz="2000" dirty="0" err="1"/>
              <a:t>머신에서</a:t>
            </a:r>
            <a:r>
              <a:rPr lang="ko-KR" altLang="en-US" sz="2000" dirty="0"/>
              <a:t> 하거나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SSH</a:t>
            </a:r>
            <a:r>
              <a:rPr lang="en-US" altLang="ko-KR" sz="2000" dirty="0"/>
              <a:t> </a:t>
            </a:r>
            <a:r>
              <a:rPr lang="ko-KR" altLang="en-US" sz="2000" dirty="0"/>
              <a:t>로 연결해서 </a:t>
            </a:r>
            <a:r>
              <a:rPr lang="en-US" altLang="ko-KR" sz="2000" dirty="0"/>
              <a:t>Lab </a:t>
            </a:r>
            <a:r>
              <a:rPr lang="ko-KR" altLang="en-US" sz="2000" dirty="0"/>
              <a:t>진행 </a:t>
            </a:r>
            <a:r>
              <a:rPr lang="ko-KR" altLang="en-US" sz="2000" dirty="0" smtClean="0"/>
              <a:t>가능</a:t>
            </a:r>
            <a:endParaRPr lang="en-US" altLang="ko-KR" sz="16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8" y="2636912"/>
            <a:ext cx="4551706" cy="328918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8816" y="2637620"/>
            <a:ext cx="4561800" cy="3288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92431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 smtClean="0">
                <a:solidFill>
                  <a:schemeClr val="bg1"/>
                </a:solidFill>
              </a:rPr>
              <a:t>Ontology </a:t>
            </a:r>
            <a:r>
              <a:rPr kumimoji="0" lang="ko-KR" altLang="en-US" sz="3200" b="1" dirty="0" smtClean="0">
                <a:solidFill>
                  <a:schemeClr val="bg1"/>
                </a:solidFill>
              </a:rPr>
              <a:t>개요</a:t>
            </a:r>
            <a:endParaRPr kumimoji="0" lang="en-US" altLang="ko-KR" sz="3200" b="1" dirty="0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2</a:t>
            </a: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2.1 </a:t>
            </a:r>
            <a:r>
              <a:rPr kumimoji="0" lang="en-US" altLang="ko-KR" b="1" dirty="0" smtClean="0"/>
              <a:t>..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2.2 </a:t>
            </a:r>
            <a:r>
              <a:rPr kumimoji="0" lang="en-US" altLang="ko-KR" b="1" dirty="0" smtClean="0"/>
              <a:t>..</a:t>
            </a:r>
            <a:endParaRPr kumimoji="0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66978195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smtClean="0"/>
              <a:t>2.1 </a:t>
            </a:r>
            <a:r>
              <a:rPr lang="ko-KR" altLang="en-US" dirty="0" smtClean="0"/>
              <a:t>프로세스 흐름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800" dirty="0" smtClean="0"/>
              <a:t>본 </a:t>
            </a:r>
            <a:r>
              <a:rPr lang="en-US" altLang="ko-KR" sz="1800" dirty="0" smtClean="0"/>
              <a:t>LAB</a:t>
            </a:r>
            <a:r>
              <a:rPr lang="ko-KR" altLang="en-US" sz="1800" dirty="0" smtClean="0"/>
              <a:t>을 통해 최종적으로 구현하려는 목표는 </a:t>
            </a:r>
            <a:r>
              <a:rPr lang="en-US" altLang="ko-KR" sz="1800" dirty="0" err="1" smtClean="0"/>
              <a:t>LLM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기반의 </a:t>
            </a:r>
            <a:r>
              <a:rPr lang="en-US" altLang="ko-KR" sz="1800" dirty="0" smtClean="0"/>
              <a:t>Ontology</a:t>
            </a:r>
            <a:r>
              <a:rPr lang="ko-KR" altLang="en-US" sz="1800" dirty="0" smtClean="0"/>
              <a:t>를 구축해서 질의에 응답하는 시스템을 만드는 것이다</a:t>
            </a:r>
            <a:r>
              <a:rPr lang="en-US" altLang="ko-KR" sz="1800" dirty="0" smtClean="0"/>
              <a:t>.</a:t>
            </a:r>
            <a:endParaRPr lang="en-US" altLang="ko-KR" sz="1400" dirty="0"/>
          </a:p>
        </p:txBody>
      </p:sp>
      <p:sp>
        <p:nvSpPr>
          <p:cNvPr id="2" name="타원 1"/>
          <p:cNvSpPr/>
          <p:nvPr/>
        </p:nvSpPr>
        <p:spPr>
          <a:xfrm>
            <a:off x="1496656" y="1880849"/>
            <a:ext cx="720000" cy="7200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1</a:t>
            </a:r>
            <a:endParaRPr lang="ko-KR" altLang="en-US" sz="2000" b="1" dirty="0" err="1" smtClean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" name="타원 4"/>
          <p:cNvSpPr/>
          <p:nvPr/>
        </p:nvSpPr>
        <p:spPr>
          <a:xfrm>
            <a:off x="4556996" y="1880849"/>
            <a:ext cx="720000" cy="7200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2</a:t>
            </a:r>
            <a:endParaRPr lang="ko-KR" altLang="en-US" sz="2000" b="1" dirty="0" err="1" smtClean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" name="타원 5"/>
          <p:cNvSpPr/>
          <p:nvPr/>
        </p:nvSpPr>
        <p:spPr>
          <a:xfrm>
            <a:off x="7797356" y="1859154"/>
            <a:ext cx="720000" cy="7200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288000"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3</a:t>
            </a:r>
            <a:endParaRPr lang="ko-KR" altLang="en-US" sz="2000" b="1" dirty="0" err="1" smtClean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15295" y="2744945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ko-KR" altLang="en-US" smtClean="0">
                <a:latin typeface="맑은 고딕" pitchFamily="50" charset="-127"/>
                <a:ea typeface="맑은 고딕" pitchFamily="50" charset="-127"/>
              </a:rPr>
              <a:t>자연어 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51" y="2744945"/>
            <a:ext cx="21530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 err="1" smtClean="0">
                <a:latin typeface="맑은 고딕" pitchFamily="50" charset="-127"/>
                <a:ea typeface="맑은 고딕" pitchFamily="50" charset="-127"/>
              </a:rPr>
              <a:t>SPARQL</a:t>
            </a:r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변환 및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8587" y="2694423"/>
            <a:ext cx="1077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ko-KR" altLang="en-US" smtClean="0">
                <a:latin typeface="맑은 고딕" pitchFamily="50" charset="-127"/>
                <a:ea typeface="맑은 고딕" pitchFamily="50" charset="-127"/>
              </a:rPr>
              <a:t>답변 생성</a:t>
            </a:r>
            <a:endParaRPr lang="ko-KR" altLang="en-US" dirty="0" smtClean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560512" y="3249001"/>
            <a:ext cx="2592288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• 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사용자가 자연어로 질문을 입력</a:t>
            </a:r>
            <a:endParaRPr lang="ko-KR" altLang="en-US" sz="12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• </a:t>
            </a:r>
            <a:r>
              <a:rPr lang="en-US" altLang="ko-KR" sz="1200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LLM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이 의도와 핵심 </a:t>
            </a:r>
            <a:r>
              <a:rPr lang="ko-KR" altLang="en-US" sz="1200" dirty="0" err="1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엔티티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 파악</a:t>
            </a:r>
            <a:endParaRPr lang="ko-KR" altLang="en-US" sz="12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• </a:t>
            </a:r>
            <a:r>
              <a:rPr lang="ko-KR" altLang="en-US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예</a:t>
            </a:r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위치</a:t>
            </a:r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1200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강남역</a:t>
            </a:r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), </a:t>
            </a:r>
            <a:r>
              <a:rPr lang="ko-KR" altLang="en-US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시간</a:t>
            </a:r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오늘</a:t>
            </a:r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), 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  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행위</a:t>
            </a:r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차이용</a:t>
            </a:r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200" dirty="0" err="1" smtClean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584848" y="3227595"/>
            <a:ext cx="2664296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• </a:t>
            </a:r>
            <a:r>
              <a:rPr lang="en-US" altLang="ko-KR" sz="1200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LLM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이 질문을 </a:t>
            </a:r>
            <a:r>
              <a:rPr lang="en-US" altLang="ko-KR" sz="1200" dirty="0" err="1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SPARQL</a:t>
            </a:r>
            <a:r>
              <a:rPr lang="en-US" altLang="ko-KR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쿼리로 변환</a:t>
            </a:r>
            <a:endParaRPr lang="ko-KR" altLang="en-US" sz="12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• </a:t>
            </a:r>
            <a:r>
              <a:rPr lang="en-US" altLang="ko-KR" sz="1200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Fuseki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에서 정확한 사실 데이터 검색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6681192" y="3227595"/>
            <a:ext cx="2952328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r>
              <a:rPr lang="en-US" altLang="ko-KR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• 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검색된 사실을 </a:t>
            </a:r>
            <a:r>
              <a:rPr lang="en-US" altLang="ko-KR" sz="1200" dirty="0" err="1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LLM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의 </a:t>
            </a:r>
            <a:r>
              <a:rPr lang="ko-KR" altLang="en-US" sz="1200" dirty="0" err="1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컨텍스트로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 주입</a:t>
            </a:r>
            <a:endParaRPr lang="ko-KR" altLang="en-US" sz="12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• 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사실 기반의 자연스러운 답변 생성</a:t>
            </a:r>
            <a:endParaRPr lang="ko-KR" altLang="en-US" sz="12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• </a:t>
            </a:r>
            <a:r>
              <a:rPr lang="ko-KR" altLang="en-US" sz="12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근거 데이터 배지 표시로 투명성 확보</a:t>
            </a:r>
          </a:p>
        </p:txBody>
      </p:sp>
      <p:sp>
        <p:nvSpPr>
          <p:cNvPr id="7" name="오른쪽 화살표 6"/>
          <p:cNvSpPr/>
          <p:nvPr/>
        </p:nvSpPr>
        <p:spPr>
          <a:xfrm>
            <a:off x="3194506" y="1998533"/>
            <a:ext cx="418033" cy="484632"/>
          </a:xfrm>
          <a:prstGeom prst="rightArrow">
            <a:avLst/>
          </a:prstGeom>
          <a:solidFill>
            <a:srgbClr val="FF0000"/>
          </a:soli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오른쪽 화살표 13"/>
          <p:cNvSpPr/>
          <p:nvPr/>
        </p:nvSpPr>
        <p:spPr>
          <a:xfrm>
            <a:off x="6393160" y="1972330"/>
            <a:ext cx="418033" cy="484632"/>
          </a:xfrm>
          <a:prstGeom prst="rightArrow">
            <a:avLst/>
          </a:prstGeom>
          <a:solidFill>
            <a:srgbClr val="FF0000"/>
          </a:soli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25030" y="4545145"/>
            <a:ext cx="27270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b="1" dirty="0" err="1" smtClean="0">
                <a:latin typeface="맑은 고딕" pitchFamily="50" charset="-127"/>
                <a:ea typeface="맑은 고딕" pitchFamily="50" charset="-127"/>
              </a:rPr>
              <a:t>Ollama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로 자연어 질문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0832" y="4512022"/>
            <a:ext cx="296382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altLang="ko-KR" b="1" dirty="0" err="1" smtClean="0">
                <a:latin typeface="맑은 고딕" pitchFamily="50" charset="-127"/>
                <a:ea typeface="맑은 고딕" pitchFamily="50" charset="-127"/>
              </a:rPr>
              <a:t>Protege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로 </a:t>
            </a:r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Ontology 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모델링</a:t>
            </a:r>
            <a:endParaRPr lang="en-US" altLang="ko-KR" dirty="0" smtClean="0">
              <a:latin typeface="맑은 고딕" pitchFamily="50" charset="-127"/>
              <a:ea typeface="맑은 고딕" pitchFamily="50" charset="-127"/>
            </a:endParaRP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altLang="ko-KR" b="1" dirty="0" err="1" smtClean="0">
                <a:latin typeface="맑은 고딕" pitchFamily="50" charset="-127"/>
                <a:ea typeface="맑은 고딕" pitchFamily="50" charset="-127"/>
              </a:rPr>
              <a:t>Ollama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로 </a:t>
            </a:r>
            <a:r>
              <a:rPr lang="en-US" altLang="ko-KR" dirty="0" err="1" smtClean="0">
                <a:latin typeface="맑은 고딕" pitchFamily="50" charset="-127"/>
                <a:ea typeface="맑은 고딕" pitchFamily="50" charset="-127"/>
              </a:rPr>
              <a:t>SPARQL</a:t>
            </a:r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생성</a:t>
            </a:r>
            <a:endParaRPr lang="en-US" altLang="ko-KR" dirty="0" smtClean="0">
              <a:latin typeface="맑은 고딕" pitchFamily="50" charset="-127"/>
              <a:ea typeface="맑은 고딕" pitchFamily="50" charset="-127"/>
            </a:endParaRP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ko-KR" altLang="en-US" dirty="0" err="1" smtClean="0">
                <a:latin typeface="맑은 고딕" pitchFamily="50" charset="-127"/>
                <a:ea typeface="맑은 고딕" pitchFamily="50" charset="-127"/>
              </a:rPr>
              <a:t>필요시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b="1" dirty="0" smtClean="0">
                <a:latin typeface="맑은 고딕" pitchFamily="50" charset="-127"/>
                <a:ea typeface="맑은 고딕" pitchFamily="50" charset="-127"/>
              </a:rPr>
              <a:t>Python</a:t>
            </a:r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코딩</a:t>
            </a:r>
            <a:endParaRPr lang="en-US" altLang="ko-KR" dirty="0" smtClean="0">
              <a:latin typeface="맑은 고딕" pitchFamily="50" charset="-127"/>
              <a:ea typeface="맑은 고딕" pitchFamily="50" charset="-127"/>
            </a:endParaRP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altLang="ko-KR" dirty="0" err="1" smtClean="0">
                <a:latin typeface="맑은 고딕" pitchFamily="50" charset="-127"/>
                <a:ea typeface="맑은 고딕" pitchFamily="50" charset="-127"/>
              </a:rPr>
              <a:t>SPARQL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로 </a:t>
            </a:r>
            <a:r>
              <a:rPr lang="en-US" altLang="ko-KR" b="1" dirty="0" err="1" smtClean="0">
                <a:latin typeface="맑은 고딕" pitchFamily="50" charset="-127"/>
                <a:ea typeface="맑은 고딕" pitchFamily="50" charset="-127"/>
              </a:rPr>
              <a:t>Fuseki</a:t>
            </a:r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검색</a:t>
            </a:r>
            <a:endParaRPr lang="en-US" altLang="ko-KR" dirty="0" smtClean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29276" y="4468200"/>
            <a:ext cx="30042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err="1" smtClean="0">
                <a:latin typeface="맑은 고딕" pitchFamily="50" charset="-127"/>
                <a:ea typeface="맑은 고딕" pitchFamily="50" charset="-127"/>
              </a:rPr>
              <a:t>Fuseki</a:t>
            </a:r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검색 결과 </a:t>
            </a:r>
            <a:r>
              <a:rPr lang="en-US" altLang="ko-KR" b="1" dirty="0" err="1" smtClean="0">
                <a:latin typeface="맑은 고딕" pitchFamily="50" charset="-127"/>
                <a:ea typeface="맑은 고딕" pitchFamily="50" charset="-127"/>
              </a:rPr>
              <a:t>Ollama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로 답변 생성</a:t>
            </a:r>
            <a:endParaRPr lang="en-US" altLang="ko-KR" dirty="0" smtClean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5030" y="6021288"/>
            <a:ext cx="8376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** 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단계별로 </a:t>
            </a:r>
            <a:r>
              <a:rPr lang="en-US" altLang="ko-KR" dirty="0" err="1" smtClean="0">
                <a:latin typeface="맑은 고딕" pitchFamily="50" charset="-127"/>
                <a:ea typeface="맑은 고딕" pitchFamily="50" charset="-127"/>
              </a:rPr>
              <a:t>Ollama</a:t>
            </a:r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en-US" altLang="ko-KR" dirty="0" err="1" smtClean="0">
                <a:latin typeface="맑은 고딕" pitchFamily="50" charset="-127"/>
                <a:ea typeface="맑은 고딕" pitchFamily="50" charset="-127"/>
              </a:rPr>
              <a:t>Protege</a:t>
            </a:r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en-US" altLang="ko-KR" dirty="0" err="1" smtClean="0">
                <a:latin typeface="맑은 고딕" pitchFamily="50" charset="-127"/>
                <a:ea typeface="맑은 고딕" pitchFamily="50" charset="-127"/>
              </a:rPr>
              <a:t>Fuseki</a:t>
            </a:r>
            <a:r>
              <a:rPr lang="ko-KR" altLang="en-US" dirty="0" err="1" smtClean="0">
                <a:latin typeface="맑은 고딕" pitchFamily="50" charset="-127"/>
                <a:ea typeface="맑은 고딕" pitchFamily="50" charset="-127"/>
              </a:rPr>
              <a:t>를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 사용하며 상호 연계를 위하여 </a:t>
            </a:r>
            <a:r>
              <a:rPr lang="en-US" altLang="ko-KR" b="1" dirty="0" smtClean="0">
                <a:latin typeface="맑은 고딕" pitchFamily="50" charset="-127"/>
                <a:ea typeface="맑은 고딕" pitchFamily="50" charset="-127"/>
              </a:rPr>
              <a:t>Python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을 이용한다</a:t>
            </a:r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dirty="0" smtClean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19646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2.2 </a:t>
            </a:r>
            <a:r>
              <a:rPr lang="ko-KR" altLang="en-US" dirty="0" smtClean="0"/>
              <a:t>질의</a:t>
            </a:r>
            <a:r>
              <a:rPr lang="en-US" altLang="ko-KR" dirty="0" smtClean="0"/>
              <a:t>/</a:t>
            </a:r>
            <a:r>
              <a:rPr lang="ko-KR" altLang="en-US" dirty="0" smtClean="0"/>
              <a:t>응답 예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800" dirty="0" smtClean="0"/>
              <a:t>간단한 질의에 대하 </a:t>
            </a:r>
            <a:r>
              <a:rPr lang="en-US" altLang="ko-KR" sz="1800" dirty="0" smtClean="0"/>
              <a:t>Ontology</a:t>
            </a:r>
            <a:r>
              <a:rPr lang="ko-KR" altLang="en-US" sz="1800" dirty="0" smtClean="0"/>
              <a:t>를 거쳐 </a:t>
            </a:r>
            <a:r>
              <a:rPr lang="en-US" altLang="ko-KR" sz="1800" dirty="0" err="1" smtClean="0"/>
              <a:t>Ollama</a:t>
            </a:r>
            <a:r>
              <a:rPr lang="ko-KR" altLang="en-US" sz="1800" dirty="0" smtClean="0"/>
              <a:t>로 응답하는 목표 시스템 예</a:t>
            </a:r>
            <a:endParaRPr lang="en-US" altLang="ko-KR" sz="1400" dirty="0"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l="2907" t="3041" r="1867" b="11823"/>
          <a:stretch/>
        </p:blipFill>
        <p:spPr>
          <a:xfrm>
            <a:off x="441158" y="1412874"/>
            <a:ext cx="9264370" cy="396034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006582" y="5373216"/>
            <a:ext cx="47628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dirty="0" err="1" smtClean="0">
                <a:latin typeface="맑은 고딕" pitchFamily="50" charset="-127"/>
                <a:ea typeface="맑은 고딕" pitchFamily="50" charset="-127"/>
              </a:rPr>
              <a:t>Ollama</a:t>
            </a:r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모델에 따라 생성되는 자연어 형태는 다름</a:t>
            </a:r>
            <a:endParaRPr lang="en-US" altLang="ko-KR" dirty="0" smtClean="0">
              <a:latin typeface="맑은 고딕" pitchFamily="50" charset="-127"/>
              <a:ea typeface="맑은 고딕" pitchFamily="50" charset="-127"/>
            </a:endParaRPr>
          </a:p>
          <a:p>
            <a:pPr marL="342900" indent="-342900"/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(** 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위 예제는 </a:t>
            </a:r>
            <a:r>
              <a:rPr lang="en-US" altLang="ko-KR" dirty="0" err="1" smtClean="0">
                <a:latin typeface="맑은 고딕" pitchFamily="50" charset="-127"/>
                <a:ea typeface="맑은 고딕" pitchFamily="50" charset="-127"/>
              </a:rPr>
              <a:t>qwen3</a:t>
            </a:r>
            <a:r>
              <a:rPr lang="ko-KR" altLang="en-US" dirty="0" smtClean="0">
                <a:latin typeface="맑은 고딕" pitchFamily="50" charset="-127"/>
                <a:ea typeface="맑은 고딕" pitchFamily="50" charset="-127"/>
              </a:rPr>
              <a:t>로 생성한 결과임</a:t>
            </a:r>
            <a:r>
              <a:rPr lang="en-US" altLang="ko-KR" dirty="0" smtClean="0"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dirty="0" smtClean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2955474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2.3 </a:t>
            </a:r>
            <a:r>
              <a:rPr lang="ko-KR" altLang="en-US" dirty="0" smtClean="0"/>
              <a:t>연관 솔루션 정리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smtClean="0"/>
              <a:t>Ontology </a:t>
            </a:r>
            <a:r>
              <a:rPr lang="ko-KR" altLang="en-US" sz="1800" dirty="0" smtClean="0"/>
              <a:t>기반 질의</a:t>
            </a:r>
            <a:r>
              <a:rPr lang="en-US" altLang="ko-KR" sz="1800" dirty="0" smtClean="0"/>
              <a:t>/</a:t>
            </a:r>
            <a:r>
              <a:rPr lang="ko-KR" altLang="en-US" sz="1800" dirty="0" smtClean="0"/>
              <a:t>응답 시스템은 다양한 선택이 가능한데 이곳에서는 가장 쉽고 빠르게 익힐 수 있는 것을 선택했다</a:t>
            </a:r>
            <a:r>
              <a:rPr lang="en-US" altLang="ko-KR" sz="1800" dirty="0" smtClean="0"/>
              <a:t>.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435655249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 dirty="0" smtClean="0">
                <a:solidFill>
                  <a:schemeClr val="bg1"/>
                </a:solidFill>
              </a:rPr>
              <a:t>Ontology Quick Start</a:t>
            </a:r>
            <a:endParaRPr kumimoji="0" lang="en-US" altLang="ko-KR" sz="3200" b="1" dirty="0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 dirty="0" smtClean="0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3</a:t>
            </a:r>
            <a:endParaRPr lang="en-US" altLang="ko-KR" sz="14000" i="1" dirty="0">
              <a:solidFill>
                <a:srgbClr val="FF0000"/>
              </a:solidFill>
              <a:latin typeface="Arial Black" pitchFamily="34" charset="0"/>
              <a:ea typeface="HY견고딕" pitchFamily="18" charset="-127"/>
            </a:endParaRP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2.1 </a:t>
            </a:r>
            <a:r>
              <a:rPr kumimoji="0" lang="en-US" altLang="ko-KR" b="1" dirty="0" smtClean="0"/>
              <a:t>..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2.2 </a:t>
            </a:r>
            <a:r>
              <a:rPr kumimoji="0" lang="en-US" altLang="ko-KR" b="1" dirty="0" smtClean="0"/>
              <a:t>..</a:t>
            </a:r>
            <a:endParaRPr kumimoji="0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635269479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3.1 </a:t>
            </a:r>
            <a:r>
              <a:rPr lang="en-US" altLang="ko-KR" dirty="0" err="1" smtClean="0"/>
              <a:t>Ollama</a:t>
            </a:r>
            <a:r>
              <a:rPr lang="en-US" altLang="ko-KR" dirty="0" smtClean="0"/>
              <a:t> </a:t>
            </a:r>
            <a:r>
              <a:rPr lang="ko-KR" altLang="en-US" dirty="0" smtClean="0"/>
              <a:t>설치 및 활용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400" dirty="0" err="1" smtClean="0"/>
              <a:t>Ollama</a:t>
            </a:r>
            <a:r>
              <a:rPr lang="ko-KR" altLang="en-US" sz="1400" dirty="0" smtClean="0"/>
              <a:t>는 대표적인 로컬 </a:t>
            </a:r>
            <a:r>
              <a:rPr lang="ko-KR" altLang="en-US" sz="1400" dirty="0"/>
              <a:t>환경에서 대규모 언어 모델</a:t>
            </a:r>
            <a:r>
              <a:rPr lang="en-US" altLang="ko-KR" sz="1400" dirty="0"/>
              <a:t>(</a:t>
            </a:r>
            <a:r>
              <a:rPr lang="en-US" altLang="ko-KR" sz="1400" dirty="0" err="1"/>
              <a:t>LLM</a:t>
            </a:r>
            <a:r>
              <a:rPr lang="en-US" altLang="ko-KR" sz="1400" dirty="0"/>
              <a:t>)</a:t>
            </a:r>
            <a:r>
              <a:rPr lang="ko-KR" altLang="en-US" sz="1400" dirty="0"/>
              <a:t>을 쉽게 실행할 수 있게 해주는 </a:t>
            </a:r>
            <a:r>
              <a:rPr lang="ko-KR" altLang="en-US" sz="1400" dirty="0" err="1"/>
              <a:t>오픈소스</a:t>
            </a:r>
            <a:r>
              <a:rPr lang="ko-KR" altLang="en-US" sz="1400" dirty="0"/>
              <a:t> </a:t>
            </a:r>
            <a:r>
              <a:rPr lang="ko-KR" altLang="en-US" sz="1400" dirty="0" smtClean="0"/>
              <a:t>도구다</a:t>
            </a:r>
            <a:r>
              <a:rPr lang="en-US" altLang="ko-KR" sz="1400" dirty="0" smtClean="0"/>
              <a:t>. </a:t>
            </a:r>
          </a:p>
          <a:p>
            <a:pPr>
              <a:buFontTx/>
              <a:buChar char="•"/>
            </a:pPr>
            <a:r>
              <a:rPr lang="en-US" altLang="ko-KR" sz="1400" dirty="0" smtClean="0"/>
              <a:t>https</a:t>
            </a:r>
            <a:r>
              <a:rPr lang="en-US" altLang="ko-KR" sz="1400" dirty="0"/>
              <a:t>://</a:t>
            </a:r>
            <a:r>
              <a:rPr lang="en-US" altLang="ko-KR" sz="1400" dirty="0" err="1"/>
              <a:t>ollama.com</a:t>
            </a:r>
            <a:r>
              <a:rPr lang="en-US" altLang="ko-KR" sz="1400" dirty="0" smtClean="0"/>
              <a:t>/ </a:t>
            </a:r>
            <a:r>
              <a:rPr lang="ko-KR" altLang="en-US" sz="1400" dirty="0" smtClean="0"/>
              <a:t>에 상세한 정보 확인 가능</a:t>
            </a:r>
            <a:r>
              <a:rPr lang="en-US" altLang="ko-KR" sz="1400" dirty="0" smtClean="0"/>
              <a:t>. </a:t>
            </a:r>
            <a:r>
              <a:rPr lang="ko-KR" altLang="en-US" sz="1400" dirty="0" smtClean="0"/>
              <a:t>다른 유명한 도구로 </a:t>
            </a:r>
            <a:r>
              <a:rPr lang="en-US" altLang="ko-KR" sz="1400" dirty="0" smtClean="0"/>
              <a:t>LM Studio</a:t>
            </a:r>
            <a:r>
              <a:rPr lang="ko-KR" altLang="en-US" sz="1400" dirty="0" smtClean="0"/>
              <a:t>가 있다</a:t>
            </a:r>
            <a:r>
              <a:rPr lang="en-US" altLang="ko-KR" sz="1400" dirty="0" smtClean="0"/>
              <a:t>.</a:t>
            </a:r>
          </a:p>
          <a:p>
            <a:pPr>
              <a:buFontTx/>
              <a:buChar char="•"/>
            </a:pPr>
            <a:r>
              <a:rPr lang="en-US" altLang="ko-KR" sz="1400" dirty="0" err="1" smtClean="0"/>
              <a:t>Ollama</a:t>
            </a:r>
            <a:r>
              <a:rPr lang="ko-KR" altLang="en-US" sz="1400" dirty="0" smtClean="0"/>
              <a:t>는 아래와 같은 장점이 있다</a:t>
            </a:r>
            <a:r>
              <a:rPr lang="en-US" altLang="ko-KR" sz="1400" dirty="0" smtClean="0"/>
              <a:t>.</a:t>
            </a:r>
          </a:p>
          <a:p>
            <a:pPr lvl="1">
              <a:buFontTx/>
              <a:buChar char="•"/>
            </a:pPr>
            <a:r>
              <a:rPr lang="ko-KR" altLang="en-US" sz="1000" dirty="0" smtClean="0"/>
              <a:t>설치가 쉽다 </a:t>
            </a:r>
            <a:r>
              <a:rPr lang="en-US" altLang="ko-KR" sz="1000" dirty="0"/>
              <a:t>: </a:t>
            </a:r>
            <a:r>
              <a:rPr lang="en-US" altLang="ko-KR" sz="1000" dirty="0" err="1" smtClean="0"/>
              <a:t>sh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스크립트 하나 실행시키면 설치가 완료된다</a:t>
            </a:r>
            <a:r>
              <a:rPr lang="en-US" altLang="ko-KR" sz="1000" dirty="0" smtClean="0"/>
              <a:t>.</a:t>
            </a:r>
          </a:p>
          <a:p>
            <a:pPr lvl="1">
              <a:buFontTx/>
              <a:buChar char="•"/>
            </a:pPr>
            <a:r>
              <a:rPr lang="en-US" altLang="ko-KR" sz="1000" dirty="0" smtClean="0"/>
              <a:t>CLI</a:t>
            </a:r>
            <a:r>
              <a:rPr lang="ko-KR" altLang="en-US" sz="1000" dirty="0"/>
              <a:t>가 </a:t>
            </a:r>
            <a:r>
              <a:rPr lang="ko-KR" altLang="en-US" sz="1000" dirty="0" smtClean="0"/>
              <a:t>직관적 </a:t>
            </a:r>
            <a:r>
              <a:rPr lang="en-US" altLang="ko-KR" sz="1000" dirty="0"/>
              <a:t>: Docker </a:t>
            </a:r>
            <a:r>
              <a:rPr lang="ko-KR" altLang="en-US" sz="1000" dirty="0"/>
              <a:t>쓰듯이 </a:t>
            </a:r>
            <a:r>
              <a:rPr lang="en-US" altLang="ko-KR" sz="1000" dirty="0"/>
              <a:t>pull, run </a:t>
            </a:r>
            <a:r>
              <a:rPr lang="ko-KR" altLang="en-US" sz="1000" dirty="0"/>
              <a:t>명령어로 모델 </a:t>
            </a:r>
            <a:r>
              <a:rPr lang="ko-KR" altLang="en-US" sz="1000" dirty="0" smtClean="0"/>
              <a:t>관리한다</a:t>
            </a:r>
            <a:endParaRPr lang="en-US" altLang="ko-KR" sz="1000" dirty="0" smtClean="0"/>
          </a:p>
          <a:p>
            <a:pPr lvl="1">
              <a:buFontTx/>
              <a:buChar char="•"/>
            </a:pPr>
            <a:r>
              <a:rPr lang="en-US" altLang="ko-KR" sz="1000" dirty="0" smtClean="0"/>
              <a:t>API</a:t>
            </a:r>
            <a:r>
              <a:rPr lang="ko-KR" altLang="en-US" sz="1000" dirty="0"/>
              <a:t>가 </a:t>
            </a:r>
            <a:r>
              <a:rPr lang="ko-KR" altLang="en-US" sz="1000" dirty="0" smtClean="0"/>
              <a:t>표준적 </a:t>
            </a:r>
            <a:r>
              <a:rPr lang="en-US" altLang="ko-KR" sz="1000" dirty="0"/>
              <a:t>: </a:t>
            </a:r>
            <a:r>
              <a:rPr lang="en-US" altLang="ko-KR" sz="1000" dirty="0" err="1"/>
              <a:t>OpenAI</a:t>
            </a:r>
            <a:r>
              <a:rPr lang="en-US" altLang="ko-KR" sz="1000" dirty="0"/>
              <a:t> API </a:t>
            </a:r>
            <a:r>
              <a:rPr lang="ko-KR" altLang="en-US" sz="1000" dirty="0"/>
              <a:t>형식이라 기존 코드 재활용 </a:t>
            </a:r>
            <a:r>
              <a:rPr lang="ko-KR" altLang="en-US" sz="1000" dirty="0" smtClean="0"/>
              <a:t>가능성이 높다</a:t>
            </a:r>
            <a:endParaRPr lang="en-US" altLang="ko-KR" sz="1000" dirty="0" smtClean="0"/>
          </a:p>
          <a:p>
            <a:pPr lvl="1">
              <a:buFontTx/>
              <a:buChar char="•"/>
            </a:pPr>
            <a:r>
              <a:rPr lang="ko-KR" altLang="en-US" sz="1000" dirty="0" smtClean="0"/>
              <a:t>리소스 효율적 </a:t>
            </a:r>
            <a:r>
              <a:rPr lang="en-US" altLang="ko-KR" sz="1000" dirty="0"/>
              <a:t>: </a:t>
            </a:r>
            <a:r>
              <a:rPr lang="ko-KR" altLang="en-US" sz="1000" dirty="0"/>
              <a:t>메모리 사용량이 다른 도구보다 </a:t>
            </a:r>
            <a:r>
              <a:rPr lang="ko-KR" altLang="en-US" sz="1000" dirty="0" smtClean="0"/>
              <a:t>적다</a:t>
            </a:r>
            <a:r>
              <a:rPr lang="en-US" altLang="ko-KR" sz="1000" dirty="0" smtClean="0"/>
              <a:t>.</a:t>
            </a:r>
          </a:p>
          <a:p>
            <a:pPr lvl="1">
              <a:buFontTx/>
              <a:buChar char="•"/>
            </a:pPr>
            <a:r>
              <a:rPr lang="ko-KR" altLang="en-US" sz="1000" dirty="0" smtClean="0"/>
              <a:t>활발한 </a:t>
            </a:r>
            <a:r>
              <a:rPr lang="ko-KR" altLang="en-US" sz="1000" dirty="0"/>
              <a:t>커뮤니티 </a:t>
            </a:r>
            <a:r>
              <a:rPr lang="en-US" altLang="ko-KR" sz="1000" dirty="0"/>
              <a:t>: GitHub Stars 148,000</a:t>
            </a:r>
            <a:r>
              <a:rPr lang="ko-KR" altLang="en-US" sz="1000" dirty="0"/>
              <a:t>개</a:t>
            </a:r>
            <a:r>
              <a:rPr lang="en-US" altLang="ko-KR" sz="1000" dirty="0"/>
              <a:t>, </a:t>
            </a:r>
            <a:r>
              <a:rPr lang="ko-KR" altLang="en-US" sz="1000" dirty="0"/>
              <a:t>지속적인 </a:t>
            </a:r>
            <a:r>
              <a:rPr lang="ko-KR" altLang="en-US" sz="1000" dirty="0" smtClean="0"/>
              <a:t>업데이트 중이다</a:t>
            </a:r>
            <a:r>
              <a:rPr lang="en-US" altLang="ko-KR" sz="1000" dirty="0" smtClean="0"/>
              <a:t>.</a:t>
            </a:r>
          </a:p>
          <a:p>
            <a:pPr lvl="1">
              <a:buFontTx/>
              <a:buChar char="•"/>
            </a:pPr>
            <a:endParaRPr lang="en-US" altLang="ko-KR" sz="1000" dirty="0"/>
          </a:p>
          <a:p>
            <a:pPr marL="5715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 smtClean="0"/>
              <a:t>ollama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설치 </a:t>
            </a:r>
            <a:r>
              <a:rPr lang="en-US" altLang="ko-KR" sz="1000" dirty="0" smtClean="0"/>
              <a:t>: Ubuntu </a:t>
            </a:r>
            <a:r>
              <a:rPr lang="ko-KR" altLang="en-US" sz="1000" dirty="0" smtClean="0"/>
              <a:t>기준</a:t>
            </a:r>
            <a:endParaRPr lang="en-US" altLang="ko-KR" sz="1000" dirty="0" smtClean="0"/>
          </a:p>
          <a:p>
            <a:pPr marL="57150" indent="0">
              <a:buNone/>
            </a:pPr>
            <a:r>
              <a:rPr lang="en-US" altLang="ko-KR" sz="1000" dirty="0"/>
              <a:t>curl -</a:t>
            </a:r>
            <a:r>
              <a:rPr lang="en-US" altLang="ko-KR" sz="1000" dirty="0" err="1"/>
              <a:t>fsSL</a:t>
            </a:r>
            <a:r>
              <a:rPr lang="en-US" altLang="ko-KR" sz="1000" dirty="0"/>
              <a:t> https://</a:t>
            </a:r>
            <a:r>
              <a:rPr lang="en-US" altLang="ko-KR" sz="1000" dirty="0" err="1"/>
              <a:t>ollama.com</a:t>
            </a:r>
            <a:r>
              <a:rPr lang="en-US" altLang="ko-KR" sz="1000" dirty="0"/>
              <a:t>/</a:t>
            </a:r>
            <a:r>
              <a:rPr lang="en-US" altLang="ko-KR" sz="1000" dirty="0" err="1"/>
              <a:t>install.sh</a:t>
            </a:r>
            <a:r>
              <a:rPr lang="en-US" altLang="ko-KR" sz="1000" dirty="0"/>
              <a:t> | </a:t>
            </a:r>
            <a:r>
              <a:rPr lang="en-US" altLang="ko-KR" sz="1000" dirty="0" err="1" smtClean="0"/>
              <a:t>sh</a:t>
            </a: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설치 결과</a:t>
            </a:r>
            <a:endParaRPr lang="en-US" altLang="ko-KR" sz="1000" dirty="0" smtClean="0"/>
          </a:p>
          <a:p>
            <a:pPr marL="57150" indent="0">
              <a:buNone/>
            </a:pP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user@ontology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:~$ curl -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fsSL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https://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ollama.com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install.sh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|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sh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 </a:t>
            </a:r>
          </a:p>
          <a:p>
            <a:pPr marL="5715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&gt;&gt;&gt;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Installing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to 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usr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/local</a:t>
            </a:r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&gt;&gt;&gt; Downloading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ollama-linux-amd64.tar.zst</a:t>
            </a:r>
            <a:endParaRPr lang="en-US" altLang="ko-KR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######################################################################## 100.0%</a:t>
            </a:r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&gt;&gt;&gt; Creating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user...</a:t>
            </a:r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&gt;&gt;&gt; Adding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user to render group...</a:t>
            </a:r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&gt;&gt;&gt; Adding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user to video group...</a:t>
            </a:r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&gt;&gt;&gt; Adding current user to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group...</a:t>
            </a:r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&gt;&gt;&gt; Creating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systemd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service...</a:t>
            </a:r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&gt;&gt;&gt; Enabling and starting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service...</a:t>
            </a:r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Created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symlink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etc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systemd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/system/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default.target.wants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ollama.service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→ 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etc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systemd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/system/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ollama.service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.</a:t>
            </a:r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&gt;&gt;&gt; The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API is now available at 127.0.0.1:11434.</a:t>
            </a:r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&gt;&gt;&gt; </a:t>
            </a:r>
            <a:r>
              <a:rPr lang="en-US" altLang="ko-KR" sz="1000" b="1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Install complete. Run "</a:t>
            </a:r>
            <a:r>
              <a:rPr lang="en-US" altLang="ko-KR" sz="1000" b="1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b="1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" from the command line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.</a:t>
            </a:r>
          </a:p>
          <a:p>
            <a:pPr marL="57150" indent="0">
              <a:buNone/>
            </a:pPr>
            <a:r>
              <a:rPr lang="en-US" altLang="ko-KR" sz="1000" b="1" dirty="0">
                <a:latin typeface="돋움체" panose="020B0609000101010101" pitchFamily="49" charset="-127"/>
                <a:ea typeface="돋움체" panose="020B0609000101010101" pitchFamily="49" charset="-127"/>
              </a:rPr>
              <a:t>WARNING: No NVIDIA/AMD GPU detected. </a:t>
            </a:r>
            <a:r>
              <a:rPr lang="en-US" altLang="ko-KR" sz="1000" b="1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b="1" dirty="0">
                <a:latin typeface="돋움체" panose="020B0609000101010101" pitchFamily="49" charset="-127"/>
                <a:ea typeface="돋움체" panose="020B0609000101010101" pitchFamily="49" charset="-127"/>
              </a:rPr>
              <a:t> will run in CPU-only mode</a:t>
            </a:r>
            <a:r>
              <a:rPr lang="en-US" altLang="ko-KR" sz="1000" b="1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.  -&gt; </a:t>
            </a:r>
            <a:r>
              <a:rPr lang="ko-KR" altLang="en-US" sz="1000" b="1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가상머신은</a:t>
            </a:r>
            <a:r>
              <a:rPr lang="ko-KR" altLang="en-US" sz="1000" b="1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000" b="1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GPU</a:t>
            </a:r>
            <a:r>
              <a:rPr lang="ko-KR" altLang="en-US" sz="1000" b="1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를 인식 못해서 경고 발생</a:t>
            </a:r>
            <a:endParaRPr lang="en-US" altLang="ko-KR" sz="1000" b="1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user@ontology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:~$ </a:t>
            </a:r>
          </a:p>
        </p:txBody>
      </p:sp>
    </p:spTree>
    <p:extLst>
      <p:ext uri="{BB962C8B-B14F-4D97-AF65-F5344CB8AC3E}">
        <p14:creationId xmlns:p14="http://schemas.microsoft.com/office/powerpoint/2010/main" val="3535851470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3.1 </a:t>
            </a:r>
            <a:r>
              <a:rPr lang="en-US" altLang="ko-KR" dirty="0" err="1" smtClean="0"/>
              <a:t>Ollama</a:t>
            </a:r>
            <a:r>
              <a:rPr lang="en-US" altLang="ko-KR" dirty="0" smtClean="0"/>
              <a:t> </a:t>
            </a:r>
            <a:r>
              <a:rPr lang="ko-KR" altLang="en-US" dirty="0" smtClean="0"/>
              <a:t>설치 및 활용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712"/>
            <a:ext cx="9193212" cy="576262"/>
          </a:xfrm>
        </p:spPr>
        <p:txBody>
          <a:bodyPr/>
          <a:lstStyle/>
          <a:p>
            <a:pPr marL="5715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 smtClean="0"/>
              <a:t>ollama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설치 </a:t>
            </a:r>
            <a:r>
              <a:rPr lang="en-US" altLang="ko-KR" sz="1000" dirty="0" smtClean="0"/>
              <a:t>: Ubuntu </a:t>
            </a:r>
            <a:r>
              <a:rPr lang="ko-KR" altLang="en-US" sz="1000" dirty="0" smtClean="0"/>
              <a:t>기준</a:t>
            </a:r>
            <a:endParaRPr lang="en-US" altLang="ko-KR" sz="1000" dirty="0" smtClean="0"/>
          </a:p>
          <a:p>
            <a:pPr marL="5715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/>
              <a:t>ollama</a:t>
            </a:r>
            <a:r>
              <a:rPr lang="en-US" altLang="ko-KR" sz="1000" dirty="0"/>
              <a:t> </a:t>
            </a:r>
            <a:r>
              <a:rPr lang="ko-KR" altLang="en-US" sz="1000" dirty="0"/>
              <a:t>설치 후 프로세스 확인</a:t>
            </a:r>
          </a:p>
          <a:p>
            <a:pPr marL="57150" indent="0">
              <a:buNone/>
            </a:pP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ps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-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ef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| grep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endParaRPr lang="en-US" altLang="ko-KR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/>
              <a:t>아래와 같이 </a:t>
            </a:r>
            <a:r>
              <a:rPr lang="en-US" altLang="ko-KR" sz="1000" dirty="0" err="1"/>
              <a:t>ollama</a:t>
            </a:r>
            <a:r>
              <a:rPr lang="en-US" altLang="ko-KR" sz="1000" dirty="0"/>
              <a:t> server </a:t>
            </a:r>
            <a:r>
              <a:rPr lang="ko-KR" altLang="en-US" sz="1000" dirty="0"/>
              <a:t>프로세스가 실행되어 있으면 정상</a:t>
            </a:r>
          </a:p>
          <a:p>
            <a:pPr marL="57150" indent="0">
              <a:buNone/>
            </a:pP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user@ontology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:~$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ps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-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ef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| grep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endParaRPr lang="en-US" altLang="ko-KR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    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3795       1  0 01:53 ?        00:00:00 </a:t>
            </a:r>
            <a:r>
              <a:rPr lang="en-US" altLang="ko-KR" sz="1000" b="1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1000" b="1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usr</a:t>
            </a:r>
            <a:r>
              <a:rPr lang="en-US" altLang="ko-KR" sz="1000" b="1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/local/bin/</a:t>
            </a:r>
            <a:r>
              <a:rPr lang="en-US" altLang="ko-KR" sz="1000" b="1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b="1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serve</a:t>
            </a:r>
          </a:p>
          <a:p>
            <a:pPr marL="5715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user       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3835    3316  0 01:56 pts/0    00:00:00 grep --color=auto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endParaRPr lang="en-US" altLang="ko-KR" sz="1000" dirty="0" smtClean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외부 접속 가능하도록 수정 </a:t>
            </a:r>
            <a:r>
              <a:rPr lang="en-US" altLang="ko-KR" sz="1000" dirty="0" smtClean="0"/>
              <a:t>:</a:t>
            </a:r>
          </a:p>
          <a:p>
            <a:pPr marL="5715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아래 파일의 </a:t>
            </a:r>
            <a:r>
              <a:rPr lang="en-US" altLang="ko-KR" sz="1000" dirty="0"/>
              <a:t>[Service</a:t>
            </a:r>
            <a:r>
              <a:rPr lang="en-US" altLang="ko-KR" sz="1000" dirty="0" smtClean="0"/>
              <a:t>] </a:t>
            </a:r>
            <a:r>
              <a:rPr lang="ko-KR" altLang="en-US" sz="1000" dirty="0" smtClean="0"/>
              <a:t>그룹에 </a:t>
            </a:r>
            <a:r>
              <a:rPr lang="en-US" altLang="ko-KR" sz="1000" dirty="0"/>
              <a:t>Environment="</a:t>
            </a:r>
            <a:r>
              <a:rPr lang="en-US" altLang="ko-KR" sz="1000" dirty="0" err="1"/>
              <a:t>OLLAMA_HOST</a:t>
            </a:r>
            <a:r>
              <a:rPr lang="en-US" altLang="ko-KR" sz="1000" dirty="0"/>
              <a:t>=0.0.0.0"</a:t>
            </a:r>
            <a:endParaRPr lang="en-US" altLang="ko-KR" sz="1000" dirty="0" smtClean="0"/>
          </a:p>
          <a:p>
            <a:pPr marL="57150" indent="0">
              <a:buNone/>
            </a:pP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sudo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vi /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etc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systemd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/system/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ollama.service</a:t>
            </a:r>
            <a:endParaRPr lang="en-US" altLang="ko-KR" sz="1000" dirty="0" smtClean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 smtClean="0"/>
              <a:t>ollama</a:t>
            </a:r>
            <a:r>
              <a:rPr lang="en-US" altLang="ko-KR" sz="1000" dirty="0" smtClean="0"/>
              <a:t> </a:t>
            </a:r>
            <a:r>
              <a:rPr lang="ko-KR" altLang="en-US" sz="1000" dirty="0" err="1" smtClean="0"/>
              <a:t>재기동</a:t>
            </a:r>
            <a:r>
              <a:rPr lang="ko-KR" altLang="en-US" sz="1000" dirty="0" smtClean="0"/>
              <a:t> 및 방화벽 오픈</a:t>
            </a:r>
            <a:endParaRPr lang="en-US" altLang="ko-KR" sz="1000" dirty="0" smtClean="0"/>
          </a:p>
          <a:p>
            <a:pPr marL="57150" indent="0">
              <a:buNone/>
            </a:pP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sudo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systemctl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daemon-reload</a:t>
            </a:r>
          </a:p>
          <a:p>
            <a:pPr marL="57150" indent="0">
              <a:buNone/>
            </a:pP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sudo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systemctl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restart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endParaRPr lang="en-US" altLang="ko-KR" sz="1000" dirty="0" smtClean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sudo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ufw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allow 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11434/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tcp</a:t>
            </a:r>
            <a:endParaRPr lang="en-US" altLang="ko-KR" sz="1000" dirty="0" smtClean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접속 테스트</a:t>
            </a:r>
            <a:endParaRPr lang="en-US" altLang="ko-KR" sz="1000" dirty="0" smtClean="0"/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curl -v http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://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localhost:11434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</a:p>
          <a:p>
            <a:pPr marL="57150" indent="0">
              <a:buNone/>
            </a:pPr>
            <a:endParaRPr lang="en-US" altLang="ko-KR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# </a:t>
            </a:r>
            <a:r>
              <a:rPr lang="ko-KR" altLang="en-US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접속 </a:t>
            </a:r>
            <a:r>
              <a:rPr lang="ko-KR" altLang="en-US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테스트시</a:t>
            </a:r>
            <a:r>
              <a:rPr lang="ko-KR" altLang="en-US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아래와 같은 결과 나오면 설치 정상</a:t>
            </a:r>
            <a:endParaRPr lang="en-US" altLang="ko-KR" sz="1000" dirty="0" smtClean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# </a:t>
            </a:r>
            <a:r>
              <a:rPr lang="ko-KR" altLang="en-US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외부에서 가상 머신 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IP</a:t>
            </a:r>
            <a:r>
              <a:rPr lang="ko-KR" altLang="en-US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를 이용해 접속 테스트해도 동일한 결과 나와야 함</a:t>
            </a:r>
            <a:endParaRPr lang="en-US" altLang="ko-KR" sz="1000" dirty="0" smtClean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r>
              <a:rPr lang="en-US" altLang="ko-KR" sz="1000" b="1" dirty="0" err="1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b="1" dirty="0">
                <a:solidFill>
                  <a:srgbClr val="FF000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is running</a:t>
            </a:r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82825572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3.1 </a:t>
            </a:r>
            <a:r>
              <a:rPr lang="en-US" altLang="ko-KR" dirty="0" err="1" smtClean="0"/>
              <a:t>Ollama</a:t>
            </a:r>
            <a:r>
              <a:rPr lang="en-US" altLang="ko-KR" dirty="0" smtClean="0"/>
              <a:t> </a:t>
            </a:r>
            <a:r>
              <a:rPr lang="ko-KR" altLang="en-US" dirty="0" smtClean="0"/>
              <a:t>설치 및 활용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712"/>
            <a:ext cx="9193212" cy="576262"/>
          </a:xfrm>
        </p:spPr>
        <p:txBody>
          <a:bodyPr/>
          <a:lstStyle/>
          <a:p>
            <a:pPr marL="57150" indent="0"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모델 다운로드 및 </a:t>
            </a:r>
            <a:r>
              <a:rPr lang="ko-KR" altLang="en-US" sz="1000" dirty="0" smtClean="0"/>
              <a:t>실행</a:t>
            </a:r>
            <a:endParaRPr lang="en-US" altLang="ko-KR" sz="1000" dirty="0" smtClean="0"/>
          </a:p>
          <a:p>
            <a:pPr marL="57150" indent="0">
              <a:buNone/>
            </a:pPr>
            <a:r>
              <a:rPr lang="en-US" altLang="ko-KR" sz="1000" dirty="0" smtClean="0"/>
              <a:t># Hands On Lab</a:t>
            </a:r>
            <a:r>
              <a:rPr lang="ko-KR" altLang="en-US" sz="1000" dirty="0" smtClean="0"/>
              <a:t>에서는 가볍게 실행할 수 있는 </a:t>
            </a:r>
            <a:r>
              <a:rPr lang="en-US" altLang="ko-KR" sz="1000" dirty="0" err="1" smtClean="0"/>
              <a:t>qwen3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모델을 이용</a:t>
            </a:r>
            <a:r>
              <a:rPr lang="en-US" altLang="ko-KR" sz="1000" dirty="0" smtClean="0"/>
              <a:t>. </a:t>
            </a:r>
            <a:r>
              <a:rPr lang="ko-KR" altLang="en-US" sz="1000" dirty="0" smtClean="0"/>
              <a:t>다른 모델을 사용해도 무방함</a:t>
            </a:r>
            <a:endParaRPr lang="en-US" altLang="ko-KR" sz="1000" dirty="0"/>
          </a:p>
          <a:p>
            <a:pPr marL="57150" indent="0">
              <a:buNone/>
            </a:pP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ollama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run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qwen3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모델 다운로드 후 원하는 질문 하면 </a:t>
            </a:r>
            <a:r>
              <a:rPr lang="en-US" altLang="ko-KR" sz="1000" dirty="0" err="1" smtClean="0"/>
              <a:t>ollama</a:t>
            </a:r>
            <a:r>
              <a:rPr lang="ko-KR" altLang="en-US" sz="1000" dirty="0" smtClean="0"/>
              <a:t>의 </a:t>
            </a:r>
            <a:r>
              <a:rPr lang="en-US" altLang="ko-KR" sz="1000" dirty="0" err="1" smtClean="0"/>
              <a:t>qwen3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모델이 답변을 함</a:t>
            </a: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r>
              <a:rPr lang="ko-KR" altLang="en-US" sz="1000" dirty="0" smtClean="0"/>
              <a:t>모델에 원하는 문구를 전달한다</a:t>
            </a:r>
            <a:r>
              <a:rPr lang="en-US" altLang="ko-KR" sz="1000" dirty="0" smtClean="0"/>
              <a:t>. </a:t>
            </a:r>
            <a:r>
              <a:rPr lang="ko-KR" altLang="en-US" sz="1000" dirty="0" smtClean="0"/>
              <a:t>예</a:t>
            </a:r>
            <a:r>
              <a:rPr lang="en-US" altLang="ko-KR" sz="1000" dirty="0" smtClean="0"/>
              <a:t>) Hello, Who are you?</a:t>
            </a:r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37" y="1844824"/>
            <a:ext cx="8480403" cy="96885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788" y="3068960"/>
            <a:ext cx="8022604" cy="29665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81392" y="5157192"/>
            <a:ext cx="14574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한국어도 잘 인식한다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1000" dirty="0" smtClean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16496" y="3861048"/>
            <a:ext cx="8136904" cy="2016224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98174" y="6053226"/>
            <a:ext cx="58849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가상 </a:t>
            </a:r>
            <a:r>
              <a:rPr lang="ko-KR" altLang="en-US" sz="1000" dirty="0" err="1" smtClean="0">
                <a:latin typeface="맑은 고딕" pitchFamily="50" charset="-127"/>
                <a:ea typeface="맑은 고딕" pitchFamily="50" charset="-127"/>
              </a:rPr>
              <a:t>머신은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 디스크 용량 문제로 큰 모델을 사용하는데 제약이 크다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다른 모델 사용을 원할 경우 가상 </a:t>
            </a:r>
            <a:r>
              <a:rPr lang="ko-KR" altLang="en-US" sz="1000" dirty="0" err="1" smtClean="0">
                <a:latin typeface="맑은 고딕" pitchFamily="50" charset="-127"/>
                <a:ea typeface="맑은 고딕" pitchFamily="50" charset="-127"/>
              </a:rPr>
              <a:t>머신이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 아닌 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GPU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가 설치된 호스트 </a:t>
            </a:r>
            <a:r>
              <a:rPr lang="ko-KR" altLang="en-US" sz="1000" dirty="0" err="1" smtClean="0">
                <a:latin typeface="맑은 고딕" pitchFamily="50" charset="-127"/>
                <a:ea typeface="맑은 고딕" pitchFamily="50" charset="-127"/>
              </a:rPr>
              <a:t>머신에서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 사용해야 한다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1000" dirty="0" smtClean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419665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3.2 </a:t>
            </a:r>
            <a:r>
              <a:rPr lang="en-US" altLang="ko-KR" dirty="0" smtClean="0"/>
              <a:t>Open Web UI </a:t>
            </a:r>
            <a:r>
              <a:rPr lang="ko-KR" altLang="en-US" dirty="0" smtClean="0"/>
              <a:t>설치 및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600" dirty="0" err="1" smtClean="0"/>
              <a:t>Ollama</a:t>
            </a:r>
            <a:r>
              <a:rPr lang="ko-KR" altLang="en-US" sz="1600" dirty="0" smtClean="0"/>
              <a:t>의 </a:t>
            </a:r>
            <a:r>
              <a:rPr lang="ko-KR" altLang="en-US" sz="1600" dirty="0" err="1" smtClean="0"/>
              <a:t>사용성을</a:t>
            </a:r>
            <a:r>
              <a:rPr lang="ko-KR" altLang="en-US" sz="1600" dirty="0" smtClean="0"/>
              <a:t> 높이기 위해 </a:t>
            </a:r>
            <a:r>
              <a:rPr lang="en-US" altLang="ko-KR" sz="1600" dirty="0" smtClean="0"/>
              <a:t>CLI</a:t>
            </a:r>
            <a:r>
              <a:rPr lang="ko-KR" altLang="en-US" sz="1600" dirty="0" smtClean="0"/>
              <a:t>가 아닌 </a:t>
            </a:r>
            <a:r>
              <a:rPr lang="en-US" altLang="ko-KR" sz="1600" dirty="0" smtClean="0"/>
              <a:t>Open Web UI</a:t>
            </a:r>
            <a:r>
              <a:rPr lang="ko-KR" altLang="en-US" sz="1600" dirty="0" smtClean="0"/>
              <a:t>를 이용해 연동한다</a:t>
            </a:r>
            <a:r>
              <a:rPr lang="en-US" altLang="ko-KR" sz="1600" dirty="0" smtClean="0"/>
              <a:t>.</a:t>
            </a:r>
          </a:p>
          <a:p>
            <a:pPr>
              <a:buFontTx/>
              <a:buChar char="•"/>
            </a:pPr>
            <a:r>
              <a:rPr lang="en-US" altLang="ko-KR" sz="1600" dirty="0" smtClean="0"/>
              <a:t>Open Web UI</a:t>
            </a:r>
            <a:r>
              <a:rPr lang="ko-KR" altLang="en-US" sz="1600" dirty="0" smtClean="0"/>
              <a:t>는 </a:t>
            </a:r>
            <a:r>
              <a:rPr lang="en-US" altLang="ko-KR" sz="1600" dirty="0" err="1" smtClean="0"/>
              <a:t>Ollama</a:t>
            </a:r>
            <a:r>
              <a:rPr lang="en-US" altLang="ko-KR" sz="1600" dirty="0"/>
              <a:t> </a:t>
            </a:r>
            <a:r>
              <a:rPr lang="ko-KR" altLang="en-US" sz="1600" dirty="0" smtClean="0"/>
              <a:t>외에도 </a:t>
            </a:r>
            <a:r>
              <a:rPr lang="en-US" altLang="ko-KR" sz="1600" dirty="0" err="1" smtClean="0"/>
              <a:t>OpenAPI</a:t>
            </a:r>
            <a:r>
              <a:rPr lang="en-US" altLang="ko-KR" sz="1600" dirty="0" smtClean="0"/>
              <a:t>, LM Studio </a:t>
            </a:r>
            <a:r>
              <a:rPr lang="ko-KR" altLang="en-US" sz="1600" dirty="0" smtClean="0"/>
              <a:t>등을 지원한다</a:t>
            </a:r>
            <a:r>
              <a:rPr lang="en-US" altLang="ko-KR" sz="1600" dirty="0" smtClean="0"/>
              <a:t>.</a:t>
            </a:r>
          </a:p>
          <a:p>
            <a:pPr>
              <a:buFontTx/>
              <a:buChar char="•"/>
            </a:pPr>
            <a:r>
              <a:rPr lang="en-US" altLang="ko-KR" sz="1600" dirty="0" smtClean="0"/>
              <a:t>Python </a:t>
            </a:r>
            <a:r>
              <a:rPr lang="ko-KR" altLang="en-US" sz="1600" dirty="0" smtClean="0"/>
              <a:t>기반으로 설치가 복잡하여 </a:t>
            </a:r>
            <a:r>
              <a:rPr lang="en-US" altLang="ko-KR" sz="1600" b="1" dirty="0" err="1" smtClean="0"/>
              <a:t>docker</a:t>
            </a:r>
            <a:r>
              <a:rPr lang="ko-KR" altLang="en-US" sz="1600" b="1" dirty="0" smtClean="0"/>
              <a:t>를 이용</a:t>
            </a:r>
            <a:r>
              <a:rPr lang="ko-KR" altLang="en-US" sz="1600" dirty="0" smtClean="0"/>
              <a:t>한다</a:t>
            </a:r>
            <a:r>
              <a:rPr lang="en-US" altLang="ko-KR" sz="1600" dirty="0" smtClean="0"/>
              <a:t>.</a:t>
            </a:r>
          </a:p>
          <a:p>
            <a:pPr>
              <a:buFontTx/>
              <a:buChar char="•"/>
            </a:pPr>
            <a:endParaRPr lang="en-US" altLang="ko-KR" sz="1000" dirty="0"/>
          </a:p>
          <a:p>
            <a:pPr marL="57150" indent="0">
              <a:buNone/>
            </a:pPr>
            <a:r>
              <a:rPr lang="en-US" altLang="ko-KR" sz="1000" dirty="0"/>
              <a:t># </a:t>
            </a:r>
            <a:r>
              <a:rPr lang="en-US" altLang="ko-KR" sz="1000" dirty="0" err="1" smtClean="0"/>
              <a:t>docker</a:t>
            </a:r>
            <a:r>
              <a:rPr lang="en-US" altLang="ko-KR" sz="1000" dirty="0" smtClean="0"/>
              <a:t> compose</a:t>
            </a:r>
            <a:r>
              <a:rPr lang="ko-KR" altLang="en-US" sz="1000" dirty="0" smtClean="0"/>
              <a:t>를 이용한 설치</a:t>
            </a:r>
            <a:endParaRPr lang="en-US" altLang="ko-KR" sz="1000" dirty="0"/>
          </a:p>
          <a:p>
            <a:pPr marL="5715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cd /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home/user/Desktop/materials</a:t>
            </a:r>
          </a:p>
          <a:p>
            <a:pPr marL="57150" indent="0">
              <a:buNone/>
            </a:pP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sudo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compose -f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-compose-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openwebui.yml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up</a:t>
            </a:r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 smtClean="0"/>
              <a:t>docker</a:t>
            </a:r>
            <a:r>
              <a:rPr lang="en-US" altLang="ko-KR" sz="1000" dirty="0" smtClean="0"/>
              <a:t> container </a:t>
            </a:r>
            <a:r>
              <a:rPr lang="ko-KR" altLang="en-US" sz="1000" dirty="0" smtClean="0"/>
              <a:t>생성 결과</a:t>
            </a:r>
            <a:endParaRPr lang="en-US" altLang="ko-KR" sz="1000" dirty="0" smtClean="0"/>
          </a:p>
          <a:p>
            <a:pPr marL="57150" indent="0">
              <a:buNone/>
            </a:pP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sudo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docker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ps</a:t>
            </a:r>
            <a:endParaRPr lang="en-US" altLang="ko-KR" sz="1000" dirty="0" smtClean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 smtClean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endParaRPr lang="en-US" altLang="ko-KR" sz="1000" dirty="0"/>
          </a:p>
          <a:p>
            <a:pPr marL="57150" indent="0">
              <a:buNone/>
            </a:pPr>
            <a:r>
              <a:rPr lang="en-US" altLang="ko-KR" sz="1000" dirty="0" smtClean="0"/>
              <a:t># Open WEB UI </a:t>
            </a:r>
            <a:r>
              <a:rPr lang="ko-KR" altLang="en-US" sz="1000" dirty="0" smtClean="0"/>
              <a:t>접속 </a:t>
            </a:r>
            <a:r>
              <a:rPr lang="en-US" altLang="ko-KR" sz="1000" dirty="0" smtClean="0"/>
              <a:t>: </a:t>
            </a:r>
            <a:r>
              <a:rPr lang="ko-KR" altLang="en-US" sz="1000" dirty="0" smtClean="0"/>
              <a:t>외부 접속을 위해서는 </a:t>
            </a:r>
            <a:r>
              <a:rPr lang="en-US" altLang="ko-KR" sz="1000" dirty="0" smtClean="0"/>
              <a:t>localhost </a:t>
            </a:r>
            <a:r>
              <a:rPr lang="ko-KR" altLang="en-US" sz="1000" dirty="0" smtClean="0"/>
              <a:t>대신 </a:t>
            </a:r>
            <a:r>
              <a:rPr lang="ko-KR" altLang="en-US" sz="1000" dirty="0" err="1" smtClean="0"/>
              <a:t>가상머신</a:t>
            </a:r>
            <a:r>
              <a:rPr lang="ko-KR" altLang="en-US" sz="1000" dirty="0" smtClean="0"/>
              <a:t> </a:t>
            </a:r>
            <a:r>
              <a:rPr lang="en-US" altLang="ko-KR" sz="1000" dirty="0" err="1" smtClean="0"/>
              <a:t>ip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사용</a:t>
            </a:r>
            <a:endParaRPr lang="en-US" altLang="ko-KR" sz="1000" dirty="0" smtClean="0"/>
          </a:p>
          <a:p>
            <a:pPr marL="5715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http://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localhost:3000</a:t>
            </a:r>
            <a:endParaRPr lang="en-US" altLang="ko-KR" sz="1000" dirty="0" smtClean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57150" indent="0">
              <a:buNone/>
            </a:pP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032" y="5269554"/>
            <a:ext cx="9091488" cy="51451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321152" y="5299556"/>
            <a:ext cx="1440160" cy="3600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13140" y="4725144"/>
            <a:ext cx="165618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기본 포트는 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8080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이지만 </a:t>
            </a:r>
            <a:r>
              <a:rPr lang="ko-KR" altLang="en-US" sz="1000" dirty="0" err="1" smtClean="0">
                <a:latin typeface="맑은 고딕" pitchFamily="50" charset="-127"/>
                <a:ea typeface="맑은 고딕" pitchFamily="50" charset="-127"/>
              </a:rPr>
              <a:t>충돌방지를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 위해 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3000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으로 변경</a:t>
            </a:r>
            <a:endParaRPr lang="ko-KR" altLang="en-US" sz="1000" dirty="0" smtClean="0"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12" y="2492896"/>
            <a:ext cx="5269130" cy="2085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075785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3.2 </a:t>
            </a:r>
            <a:r>
              <a:rPr lang="en-US" altLang="ko-KR" dirty="0" smtClean="0"/>
              <a:t>Open Web UI </a:t>
            </a:r>
            <a:r>
              <a:rPr lang="ko-KR" altLang="en-US" dirty="0" smtClean="0"/>
              <a:t>설치 및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712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600" dirty="0" smtClean="0"/>
              <a:t>Open Web UI </a:t>
            </a:r>
            <a:r>
              <a:rPr lang="ko-KR" altLang="en-US" sz="1600" dirty="0" smtClean="0"/>
              <a:t>설치 이후 최초 </a:t>
            </a:r>
            <a:r>
              <a:rPr lang="en-US" altLang="ko-KR" sz="1600" dirty="0" err="1" smtClean="0"/>
              <a:t>ollama</a:t>
            </a:r>
            <a:r>
              <a:rPr lang="ko-KR" altLang="en-US" sz="1600" dirty="0" smtClean="0"/>
              <a:t>와 연동 작업을 해야 한다</a:t>
            </a:r>
            <a:r>
              <a:rPr lang="en-US" altLang="ko-KR" sz="1600" dirty="0" smtClean="0"/>
              <a:t>.</a:t>
            </a:r>
            <a:endParaRPr lang="en-US" altLang="ko-KR" sz="10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88" y="1159196"/>
            <a:ext cx="3198068" cy="18302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520" y="3068960"/>
            <a:ext cx="27077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최초 로그인 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: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실습 목적으로 계정 관리 </a:t>
            </a:r>
            <a:r>
              <a:rPr lang="ko-KR" altLang="en-US" sz="1000" dirty="0" err="1" smtClean="0">
                <a:latin typeface="맑은 고딕" pitchFamily="50" charset="-127"/>
                <a:ea typeface="맑은 고딕" pitchFamily="50" charset="-127"/>
              </a:rPr>
              <a:t>안함</a:t>
            </a:r>
            <a:endParaRPr lang="ko-KR" altLang="en-US" sz="1000" dirty="0" smtClean="0"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8864" y="2132856"/>
            <a:ext cx="6039380" cy="3456384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3505024" y="1416882"/>
            <a:ext cx="144000" cy="143818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0" name="꺾인 연결선 9"/>
          <p:cNvCxnSpPr>
            <a:stCxn id="11" idx="3"/>
            <a:endCxn id="8" idx="0"/>
          </p:cNvCxnSpPr>
          <p:nvPr/>
        </p:nvCxnSpPr>
        <p:spPr>
          <a:xfrm>
            <a:off x="3649024" y="1488791"/>
            <a:ext cx="3099530" cy="644065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97217" y="1261209"/>
            <a:ext cx="28987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오른쪽 상단 사람 아이콘 클릭</a:t>
            </a:r>
            <a:endParaRPr lang="en-US" altLang="ko-KR" sz="1000" dirty="0" smtClean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-&gt; Admin Panel -&gt; Settings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화면에서 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Connections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메뉴 선택</a:t>
            </a:r>
            <a:endParaRPr lang="en-US" altLang="ko-KR" sz="1000" dirty="0" smtClean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Manage </a:t>
            </a:r>
            <a:r>
              <a:rPr lang="en-US" altLang="ko-KR" sz="1000" dirty="0" err="1" smtClean="0">
                <a:latin typeface="맑은 고딕" pitchFamily="50" charset="-127"/>
                <a:ea typeface="맑은 고딕" pitchFamily="50" charset="-127"/>
              </a:rPr>
              <a:t>Ollama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 API Connection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수정</a:t>
            </a:r>
            <a:endParaRPr lang="en-US" altLang="ko-KR" sz="1000" dirty="0" smtClean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77023" y="5733256"/>
            <a:ext cx="6218977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&lt;&lt;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주의 사항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&gt;&gt;</a:t>
            </a:r>
          </a:p>
          <a:p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* "</a:t>
            </a:r>
            <a:r>
              <a:rPr lang="en-US" altLang="ko-KR" sz="1000" dirty="0" err="1" smtClean="0">
                <a:latin typeface="맑은 고딕" pitchFamily="50" charset="-127"/>
                <a:ea typeface="맑은 고딕" pitchFamily="50" charset="-127"/>
              </a:rPr>
              <a:t>host.docker.internal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"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사용시 </a:t>
            </a:r>
            <a:r>
              <a:rPr lang="en-US" altLang="ko-KR" sz="1000" dirty="0" err="1">
                <a:latin typeface="맑은 고딕" pitchFamily="50" charset="-127"/>
                <a:ea typeface="맑은 고딕" pitchFamily="50" charset="-127"/>
              </a:rPr>
              <a:t>docker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의 호스트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IP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를 자동으로 가져옴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*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정상 동작 하지 않을 경우 가상 </a:t>
            </a:r>
            <a:r>
              <a:rPr lang="ko-KR" altLang="en-US" sz="1000" dirty="0" err="1">
                <a:latin typeface="맑은 고딕" pitchFamily="50" charset="-127"/>
                <a:ea typeface="맑은 고딕" pitchFamily="50" charset="-127"/>
              </a:rPr>
              <a:t>머신의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000" dirty="0">
                <a:latin typeface="맑은 고딕" pitchFamily="50" charset="-127"/>
                <a:ea typeface="맑은 고딕" pitchFamily="50" charset="-127"/>
              </a:rPr>
              <a:t>Real IP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로 변경</a:t>
            </a:r>
            <a:endParaRPr lang="en-US" altLang="ko-KR" sz="1000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* 11434 </a:t>
            </a:r>
            <a:r>
              <a:rPr lang="ko-KR" altLang="en-US" sz="1000" dirty="0">
                <a:latin typeface="맑은 고딕" pitchFamily="50" charset="-127"/>
                <a:ea typeface="맑은 고딕" pitchFamily="50" charset="-127"/>
              </a:rPr>
              <a:t>방화벽 오픈 여부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확인</a:t>
            </a:r>
            <a:endParaRPr lang="en-US" altLang="ko-KR" sz="1000" dirty="0" smtClean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* </a:t>
            </a:r>
            <a:r>
              <a:rPr lang="en-US" altLang="ko-KR" sz="1000" dirty="0" err="1" smtClean="0">
                <a:latin typeface="맑은 고딕" pitchFamily="50" charset="-127"/>
                <a:ea typeface="맑은 고딕" pitchFamily="50" charset="-127"/>
              </a:rPr>
              <a:t>Ollama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설정에서 외부 접속 허용을 위해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etc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systemd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/system/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ollama.service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파일 수정 여부 확인</a:t>
            </a:r>
            <a:endParaRPr lang="ko-KR" altLang="en-US" sz="1000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817096" y="3664814"/>
            <a:ext cx="3834904" cy="17284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94188570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3.2 </a:t>
            </a:r>
            <a:r>
              <a:rPr lang="en-US" altLang="ko-KR" dirty="0" smtClean="0"/>
              <a:t>Open Web UI </a:t>
            </a:r>
            <a:r>
              <a:rPr lang="ko-KR" altLang="en-US" dirty="0" smtClean="0"/>
              <a:t>설치 및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712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600" dirty="0" smtClean="0"/>
              <a:t>Open Web UI </a:t>
            </a:r>
            <a:r>
              <a:rPr lang="ko-KR" altLang="en-US" sz="1600" dirty="0" smtClean="0"/>
              <a:t>채팅 화면에서 </a:t>
            </a:r>
            <a:r>
              <a:rPr lang="ko-KR" altLang="en-US" sz="1600" dirty="0" err="1" smtClean="0"/>
              <a:t>다운로드한</a:t>
            </a:r>
            <a:r>
              <a:rPr lang="ko-KR" altLang="en-US" sz="1600" dirty="0" smtClean="0"/>
              <a:t> 모델을 선택 한 후 채팅을 한다</a:t>
            </a:r>
            <a:r>
              <a:rPr lang="en-US" altLang="ko-KR" sz="1600" dirty="0" smtClean="0"/>
              <a:t>.</a:t>
            </a:r>
          </a:p>
          <a:p>
            <a:pPr>
              <a:buFontTx/>
              <a:buChar char="•"/>
            </a:pPr>
            <a:r>
              <a:rPr lang="en-US" altLang="ko-KR" sz="1600" dirty="0" err="1" smtClean="0"/>
              <a:t>ollama</a:t>
            </a:r>
            <a:r>
              <a:rPr lang="en-US" altLang="ko-KR" sz="1600" dirty="0" smtClean="0"/>
              <a:t> run </a:t>
            </a:r>
            <a:r>
              <a:rPr lang="ko-KR" altLang="en-US" sz="1600" dirty="0" smtClean="0"/>
              <a:t>명령으로 최소 </a:t>
            </a:r>
            <a:r>
              <a:rPr lang="en-US" altLang="ko-KR" sz="1600" dirty="0" smtClean="0"/>
              <a:t>1</a:t>
            </a:r>
            <a:r>
              <a:rPr lang="ko-KR" altLang="en-US" sz="1600" dirty="0" smtClean="0"/>
              <a:t>개 이상의 모델을 사전에 다운로드 해야 한다</a:t>
            </a:r>
            <a:r>
              <a:rPr lang="en-US" altLang="ko-KR" sz="1600" dirty="0" smtClean="0"/>
              <a:t>.</a:t>
            </a:r>
          </a:p>
          <a:p>
            <a:pPr>
              <a:buFontTx/>
              <a:buChar char="•"/>
            </a:pPr>
            <a:r>
              <a:rPr lang="ko-KR" altLang="en-US" sz="1600" dirty="0" smtClean="0"/>
              <a:t>앞서 </a:t>
            </a:r>
            <a:r>
              <a:rPr lang="en-US" altLang="ko-KR" sz="1600" dirty="0" err="1" smtClean="0"/>
              <a:t>ollama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설치 시 </a:t>
            </a:r>
            <a:r>
              <a:rPr lang="en-US" altLang="ko-KR" sz="1600" dirty="0" err="1" smtClean="0"/>
              <a:t>qwen3</a:t>
            </a:r>
            <a:r>
              <a:rPr lang="ko-KR" altLang="en-US" sz="1600" dirty="0" smtClean="0"/>
              <a:t>으로 테스트 해서 </a:t>
            </a:r>
            <a:r>
              <a:rPr lang="en-US" altLang="ko-KR" sz="1600" dirty="0" err="1" smtClean="0"/>
              <a:t>qwen3</a:t>
            </a:r>
            <a:r>
              <a:rPr lang="ko-KR" altLang="en-US" sz="1600" dirty="0" smtClean="0"/>
              <a:t>가 기본으로 보인다</a:t>
            </a:r>
            <a:r>
              <a:rPr lang="en-US" altLang="ko-KR" sz="1600" dirty="0" smtClean="0"/>
              <a:t>.</a:t>
            </a: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12" y="1844824"/>
            <a:ext cx="6984776" cy="4459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946349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3.3 </a:t>
            </a:r>
            <a:r>
              <a:rPr lang="en-US" altLang="ko-KR" dirty="0" smtClean="0"/>
              <a:t>Apache Jena </a:t>
            </a:r>
            <a:r>
              <a:rPr lang="en-US" altLang="ko-KR" dirty="0" err="1" smtClean="0"/>
              <a:t>Fuseki</a:t>
            </a:r>
            <a:r>
              <a:rPr lang="en-US" altLang="ko-KR" dirty="0" smtClean="0"/>
              <a:t> </a:t>
            </a:r>
            <a:r>
              <a:rPr lang="ko-KR" altLang="en-US" dirty="0" smtClean="0"/>
              <a:t>설치 및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400" dirty="0" err="1" smtClean="0"/>
              <a:t>Fuseki</a:t>
            </a:r>
            <a:r>
              <a:rPr lang="ko-KR" altLang="en-US" sz="1400" dirty="0" smtClean="0"/>
              <a:t>는 </a:t>
            </a:r>
            <a:r>
              <a:rPr lang="en-US" altLang="ko-KR" sz="1400" dirty="0" smtClean="0"/>
              <a:t>Apache Jena</a:t>
            </a:r>
            <a:r>
              <a:rPr lang="ko-KR" altLang="en-US" sz="1400" dirty="0" smtClean="0"/>
              <a:t>에서 개발한 </a:t>
            </a:r>
            <a:r>
              <a:rPr lang="en-US" altLang="ko-KR" sz="1400" dirty="0"/>
              <a:t>RDF(Resource Description Framework) </a:t>
            </a:r>
            <a:r>
              <a:rPr lang="ko-KR" altLang="en-US" sz="1400" dirty="0"/>
              <a:t>데이터를 제공하기 </a:t>
            </a:r>
            <a:r>
              <a:rPr lang="ko-KR" altLang="en-US" sz="1400" dirty="0" smtClean="0"/>
              <a:t>위한 서버이다</a:t>
            </a:r>
            <a:r>
              <a:rPr lang="en-US" altLang="ko-KR" sz="1400" dirty="0" smtClean="0"/>
              <a:t>.</a:t>
            </a:r>
          </a:p>
          <a:p>
            <a:pPr>
              <a:buFontTx/>
              <a:buChar char="•"/>
            </a:pPr>
            <a:r>
              <a:rPr lang="en-US" altLang="ko-KR" sz="1400" dirty="0" err="1" smtClean="0"/>
              <a:t>SPARQL</a:t>
            </a:r>
            <a:r>
              <a:rPr lang="ko-KR" altLang="en-US" sz="1400" dirty="0" smtClean="0"/>
              <a:t>을 이용해서 </a:t>
            </a:r>
            <a:r>
              <a:rPr lang="en-US" altLang="ko-KR" sz="1400" dirty="0" smtClean="0"/>
              <a:t>RDF </a:t>
            </a:r>
            <a:r>
              <a:rPr lang="ko-KR" altLang="en-US" sz="1400" dirty="0" smtClean="0"/>
              <a:t>데이터를 조회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수정 및 추가가 가능하다</a:t>
            </a:r>
            <a:endParaRPr lang="en-US" altLang="ko-KR" sz="1400" dirty="0" smtClean="0"/>
          </a:p>
          <a:p>
            <a:pPr>
              <a:buFontTx/>
              <a:buChar char="•"/>
            </a:pPr>
            <a:r>
              <a:rPr lang="en-US" altLang="ko-KR" sz="1400" dirty="0" smtClean="0"/>
              <a:t>Rest API</a:t>
            </a:r>
            <a:r>
              <a:rPr lang="ko-KR" altLang="en-US" sz="1400" dirty="0" smtClean="0"/>
              <a:t>를 이용해서 </a:t>
            </a:r>
            <a:r>
              <a:rPr lang="en-US" altLang="ko-KR" sz="1400" dirty="0" smtClean="0"/>
              <a:t>Turtle, RDF/XML, </a:t>
            </a:r>
            <a:r>
              <a:rPr lang="en-US" altLang="ko-KR" sz="1400" dirty="0" err="1" smtClean="0"/>
              <a:t>JSON</a:t>
            </a:r>
            <a:r>
              <a:rPr lang="en-US" altLang="ko-KR" sz="1400" dirty="0" smtClean="0"/>
              <a:t>-LD </a:t>
            </a:r>
            <a:r>
              <a:rPr lang="ko-KR" altLang="en-US" sz="1400" dirty="0" smtClean="0"/>
              <a:t>등 다양한 포맷의 데이터를 처리할 수 있다</a:t>
            </a:r>
            <a:r>
              <a:rPr lang="en-US" altLang="ko-KR" sz="1400" dirty="0" smtClean="0"/>
              <a:t>.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>
              <a:buFontTx/>
              <a:buChar char="•"/>
            </a:pPr>
            <a:r>
              <a:rPr lang="ko-KR" altLang="en-US" sz="1400" b="1" dirty="0" smtClean="0"/>
              <a:t>이 </a:t>
            </a:r>
            <a:r>
              <a:rPr lang="en-US" altLang="ko-KR" sz="1400" b="1" dirty="0" smtClean="0"/>
              <a:t>Hands On Lab</a:t>
            </a:r>
            <a:r>
              <a:rPr lang="ko-KR" altLang="en-US" sz="1400" b="1" dirty="0" smtClean="0"/>
              <a:t>에서는 </a:t>
            </a:r>
            <a:r>
              <a:rPr lang="en-US" altLang="ko-KR" sz="1400" b="1" dirty="0" smtClean="0"/>
              <a:t>Ontology Server </a:t>
            </a:r>
            <a:r>
              <a:rPr lang="ko-KR" altLang="en-US" sz="1400" b="1" dirty="0" smtClean="0"/>
              <a:t>역할을 한다</a:t>
            </a:r>
            <a:r>
              <a:rPr lang="en-US" altLang="ko-KR" sz="1400" b="1" dirty="0" smtClean="0"/>
              <a:t>.</a:t>
            </a:r>
          </a:p>
          <a:p>
            <a:pPr>
              <a:buFontTx/>
              <a:buChar char="•"/>
            </a:pPr>
            <a:endParaRPr lang="en-US" altLang="ko-KR" sz="1400" b="1" dirty="0"/>
          </a:p>
          <a:p>
            <a:pPr marL="0" indent="0">
              <a:buNone/>
            </a:pPr>
            <a:r>
              <a:rPr lang="en-US" altLang="ko-KR" sz="1000" dirty="0" smtClean="0"/>
              <a:t># Apache Jena </a:t>
            </a:r>
            <a:r>
              <a:rPr lang="en-US" altLang="ko-KR" sz="1000" dirty="0" err="1" smtClean="0"/>
              <a:t>Fuseki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설치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cd </a:t>
            </a:r>
            <a:r>
              <a:rPr lang="en-US" altLang="ko-KR" sz="1000" dirty="0"/>
              <a:t>/opt</a:t>
            </a:r>
          </a:p>
          <a:p>
            <a:pPr marL="0" indent="0">
              <a:buNone/>
            </a:pPr>
            <a:r>
              <a:rPr lang="en-US" altLang="ko-KR" sz="1000" dirty="0" err="1" smtClean="0"/>
              <a:t>sudo</a:t>
            </a:r>
            <a:r>
              <a:rPr lang="en-US" altLang="ko-KR" sz="1000" dirty="0" smtClean="0"/>
              <a:t> </a:t>
            </a:r>
            <a:r>
              <a:rPr lang="en-US" altLang="ko-KR" sz="1000" dirty="0" err="1"/>
              <a:t>wget</a:t>
            </a:r>
            <a:r>
              <a:rPr lang="en-US" altLang="ko-KR" sz="1000" dirty="0"/>
              <a:t> https://</a:t>
            </a:r>
            <a:r>
              <a:rPr lang="en-US" altLang="ko-KR" sz="1000" dirty="0" err="1"/>
              <a:t>dlcdn.apache.org</a:t>
            </a:r>
            <a:r>
              <a:rPr lang="en-US" altLang="ko-KR" sz="1000" dirty="0"/>
              <a:t>/</a:t>
            </a:r>
            <a:r>
              <a:rPr lang="en-US" altLang="ko-KR" sz="1000" dirty="0" err="1"/>
              <a:t>jena</a:t>
            </a:r>
            <a:r>
              <a:rPr lang="en-US" altLang="ko-KR" sz="1000" dirty="0"/>
              <a:t>/binaries/apache-</a:t>
            </a:r>
            <a:r>
              <a:rPr lang="en-US" altLang="ko-KR" sz="1000" dirty="0" err="1"/>
              <a:t>jena</a:t>
            </a:r>
            <a:r>
              <a:rPr lang="en-US" altLang="ko-KR" sz="1000" dirty="0"/>
              <a:t>-</a:t>
            </a:r>
            <a:r>
              <a:rPr lang="en-US" altLang="ko-KR" sz="1000" dirty="0" err="1"/>
              <a:t>fuseki-6.0.0.zip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 smtClean="0"/>
              <a:t>sudo</a:t>
            </a:r>
            <a:r>
              <a:rPr lang="en-US" altLang="ko-KR" sz="1000" dirty="0" smtClean="0"/>
              <a:t> </a:t>
            </a:r>
            <a:r>
              <a:rPr lang="en-US" altLang="ko-KR" sz="1000" dirty="0"/>
              <a:t>unzip apache-</a:t>
            </a:r>
            <a:r>
              <a:rPr lang="en-US" altLang="ko-KR" sz="1000" dirty="0" err="1"/>
              <a:t>jena</a:t>
            </a:r>
            <a:r>
              <a:rPr lang="en-US" altLang="ko-KR" sz="1000" dirty="0"/>
              <a:t>-</a:t>
            </a:r>
            <a:r>
              <a:rPr lang="en-US" altLang="ko-KR" sz="1000" dirty="0" err="1"/>
              <a:t>fuseki-6.0.0.zip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 smtClean="0"/>
              <a:t>sudo</a:t>
            </a:r>
            <a:r>
              <a:rPr lang="en-US" altLang="ko-KR" sz="1000" dirty="0" smtClean="0"/>
              <a:t> </a:t>
            </a:r>
            <a:r>
              <a:rPr lang="en-US" altLang="ko-KR" sz="1000" dirty="0" err="1"/>
              <a:t>chown</a:t>
            </a:r>
            <a:r>
              <a:rPr lang="en-US" altLang="ko-KR" sz="1000" dirty="0"/>
              <a:t> -R </a:t>
            </a:r>
            <a:r>
              <a:rPr lang="en-US" altLang="ko-KR" sz="1000" dirty="0" err="1"/>
              <a:t>user:user</a:t>
            </a:r>
            <a:r>
              <a:rPr lang="en-US" altLang="ko-KR" sz="1000" dirty="0"/>
              <a:t> apache-</a:t>
            </a:r>
            <a:r>
              <a:rPr lang="en-US" altLang="ko-KR" sz="1000" dirty="0" err="1"/>
              <a:t>jena</a:t>
            </a:r>
            <a:r>
              <a:rPr lang="en-US" altLang="ko-KR" sz="1000" dirty="0"/>
              <a:t>-</a:t>
            </a:r>
            <a:r>
              <a:rPr lang="en-US" altLang="ko-KR" sz="1000" dirty="0" err="1"/>
              <a:t>fuseki</a:t>
            </a:r>
            <a:r>
              <a:rPr lang="en-US" altLang="ko-KR" sz="1000" dirty="0" smtClean="0"/>
              <a:t>*</a:t>
            </a:r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 smtClean="0"/>
              <a:t>Fuseki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실행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/>
              <a:t>cd /opt/apache-</a:t>
            </a:r>
            <a:r>
              <a:rPr lang="en-US" altLang="ko-KR" sz="1000" dirty="0" err="1"/>
              <a:t>jena</a:t>
            </a:r>
            <a:r>
              <a:rPr lang="en-US" altLang="ko-KR" sz="1000" dirty="0"/>
              <a:t>-</a:t>
            </a:r>
            <a:r>
              <a:rPr lang="en-US" altLang="ko-KR" sz="1000" dirty="0" err="1"/>
              <a:t>fuseki</a:t>
            </a:r>
            <a:r>
              <a:rPr lang="en-US" altLang="ko-KR" sz="1000" dirty="0"/>
              <a:t>-6.0.0</a:t>
            </a:r>
          </a:p>
          <a:p>
            <a:pPr marL="0" indent="0">
              <a:buNone/>
            </a:pPr>
            <a:r>
              <a:rPr lang="en-US" altLang="ko-KR" sz="1000" dirty="0" smtClean="0"/>
              <a:t>./</a:t>
            </a:r>
            <a:r>
              <a:rPr lang="en-US" altLang="ko-KR" sz="1000" dirty="0" err="1"/>
              <a:t>fuseki</a:t>
            </a:r>
            <a:r>
              <a:rPr lang="en-US" altLang="ko-KR" sz="1000" dirty="0"/>
              <a:t>-server --update --mem /</a:t>
            </a:r>
            <a:r>
              <a:rPr lang="en-US" altLang="ko-KR" sz="1000" dirty="0" err="1" smtClean="0"/>
              <a:t>doverenc</a:t>
            </a: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 smtClean="0"/>
              <a:t>Fuseki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실행 결과</a:t>
            </a: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방화벽 오픈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 smtClean="0"/>
              <a:t>sudo</a:t>
            </a:r>
            <a:r>
              <a:rPr lang="en-US" altLang="ko-KR" sz="1000" dirty="0" smtClean="0"/>
              <a:t> </a:t>
            </a:r>
            <a:r>
              <a:rPr lang="en-US" altLang="ko-KR" sz="1000" dirty="0" err="1"/>
              <a:t>ufw</a:t>
            </a:r>
            <a:r>
              <a:rPr lang="en-US" altLang="ko-KR" sz="1000" dirty="0"/>
              <a:t> allow 3030/</a:t>
            </a:r>
            <a:r>
              <a:rPr lang="en-US" altLang="ko-KR" sz="1000" dirty="0" err="1"/>
              <a:t>tcp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 smtClean="0"/>
              <a:t>sudo</a:t>
            </a:r>
            <a:r>
              <a:rPr lang="en-US" altLang="ko-KR" sz="1000" dirty="0" smtClean="0"/>
              <a:t> </a:t>
            </a:r>
            <a:r>
              <a:rPr lang="en-US" altLang="ko-KR" sz="1000" dirty="0" err="1"/>
              <a:t>systemctl</a:t>
            </a:r>
            <a:r>
              <a:rPr lang="en-US" altLang="ko-KR" sz="1000" dirty="0"/>
              <a:t> restart </a:t>
            </a:r>
            <a:r>
              <a:rPr lang="en-US" altLang="ko-KR" sz="1000" dirty="0" err="1"/>
              <a:t>ufw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04" y="4194550"/>
            <a:ext cx="6696744" cy="1500116"/>
          </a:xfrm>
          <a:prstGeom prst="rect">
            <a:avLst/>
          </a:prstGeom>
        </p:spPr>
      </p:pic>
      <p:sp>
        <p:nvSpPr>
          <p:cNvPr id="7" name="설명선 1 6"/>
          <p:cNvSpPr/>
          <p:nvPr/>
        </p:nvSpPr>
        <p:spPr>
          <a:xfrm>
            <a:off x="3600480" y="3104384"/>
            <a:ext cx="4464496" cy="756664"/>
          </a:xfrm>
          <a:prstGeom prst="borderCallout1">
            <a:avLst>
              <a:gd name="adj1" fmla="val 24491"/>
              <a:gd name="adj2" fmla="val -1068"/>
              <a:gd name="adj3" fmla="val 80696"/>
              <a:gd name="adj4" fmla="val -12370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&lt;&lt; Option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설명 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&gt;&gt;</a:t>
            </a:r>
          </a:p>
          <a:p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--update :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데이터를 추가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삭제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수정할 수 있음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.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옵션 없을 경우 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read only</a:t>
            </a:r>
          </a:p>
          <a:p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--mem :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메모리에 데이터 저장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.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서버 </a:t>
            </a:r>
            <a:r>
              <a:rPr lang="ko-KR" altLang="en-US" sz="1000" dirty="0" err="1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재기동시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 데이터 유실 됨</a:t>
            </a:r>
            <a:endParaRPr lang="en-US" altLang="ko-KR" sz="1000" dirty="0" smtClean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en-US" altLang="ko-KR" sz="1000" dirty="0" err="1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doverenc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 : 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데이터 최상위 구분 값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.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원하는 값 사용 가능</a:t>
            </a:r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1553078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3.3 </a:t>
            </a:r>
            <a:r>
              <a:rPr lang="en-US" altLang="ko-KR" dirty="0" smtClean="0"/>
              <a:t>Apache Jena </a:t>
            </a:r>
            <a:r>
              <a:rPr lang="en-US" altLang="ko-KR" dirty="0" err="1" smtClean="0"/>
              <a:t>Fuseki</a:t>
            </a:r>
            <a:r>
              <a:rPr lang="en-US" altLang="ko-KR" dirty="0" smtClean="0"/>
              <a:t> </a:t>
            </a:r>
            <a:r>
              <a:rPr lang="ko-KR" altLang="en-US" dirty="0" smtClean="0"/>
              <a:t>설치 및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400" dirty="0" smtClean="0"/>
              <a:t>Admin </a:t>
            </a:r>
            <a:r>
              <a:rPr lang="ko-KR" altLang="en-US" sz="1400" dirty="0" smtClean="0"/>
              <a:t>화면 접속 및 데이터 처리</a:t>
            </a:r>
            <a:r>
              <a:rPr lang="en-US" altLang="ko-KR" sz="1400" dirty="0" smtClean="0"/>
              <a:t>. </a:t>
            </a:r>
            <a:r>
              <a:rPr lang="en-US" altLang="ko-KR" sz="1400" dirty="0" smtClean="0"/>
              <a:t>http://</a:t>
            </a:r>
            <a:r>
              <a:rPr lang="en-US" altLang="ko-KR" sz="1400" dirty="0" err="1" smtClean="0"/>
              <a:t>localhost:3030</a:t>
            </a:r>
            <a:r>
              <a:rPr lang="en-US" altLang="ko-KR" sz="1400" dirty="0" smtClean="0"/>
              <a:t> (</a:t>
            </a:r>
            <a:r>
              <a:rPr lang="ko-KR" altLang="en-US" sz="1400" dirty="0" smtClean="0"/>
              <a:t>원할 경우 가상 </a:t>
            </a:r>
            <a:r>
              <a:rPr lang="ko-KR" altLang="en-US" sz="1400" dirty="0" err="1" smtClean="0"/>
              <a:t>머신의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Real IP </a:t>
            </a:r>
            <a:r>
              <a:rPr lang="ko-KR" altLang="en-US" sz="1400" dirty="0" smtClean="0"/>
              <a:t>사용</a:t>
            </a:r>
            <a:r>
              <a:rPr lang="en-US" altLang="ko-KR" sz="1400" dirty="0" smtClean="0"/>
              <a:t>)</a:t>
            </a:r>
          </a:p>
          <a:p>
            <a:pPr>
              <a:buFontTx/>
              <a:buChar char="•"/>
            </a:pPr>
            <a:r>
              <a:rPr lang="en-US" altLang="ko-KR" sz="1400" dirty="0" err="1" smtClean="0"/>
              <a:t>TTL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데이터 </a:t>
            </a:r>
            <a:r>
              <a:rPr lang="en-US" altLang="ko-KR" sz="1400" dirty="0" smtClean="0"/>
              <a:t>ADD </a:t>
            </a:r>
            <a:r>
              <a:rPr lang="ko-KR" altLang="en-US" sz="1400" dirty="0" smtClean="0"/>
              <a:t>및 조회</a:t>
            </a:r>
            <a:endParaRPr lang="en-US" altLang="ko-KR" sz="1400" dirty="0" smtClean="0"/>
          </a:p>
          <a:p>
            <a:pPr marL="0" indent="0">
              <a:buNone/>
            </a:pPr>
            <a:endParaRPr lang="en-US" altLang="ko-KR" sz="1000" b="1" dirty="0" smtClean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/>
              <a:t>fuseki</a:t>
            </a:r>
            <a:r>
              <a:rPr lang="en-US" altLang="ko-KR" sz="1000" dirty="0"/>
              <a:t> </a:t>
            </a:r>
            <a:r>
              <a:rPr lang="ko-KR" altLang="en-US" sz="1000" dirty="0"/>
              <a:t>서버에 </a:t>
            </a:r>
            <a:r>
              <a:rPr lang="en-US" altLang="ko-KR" sz="1000" dirty="0" err="1" smtClean="0"/>
              <a:t>TTL</a:t>
            </a:r>
            <a:r>
              <a:rPr lang="en-US" altLang="ko-KR" sz="1000" dirty="0" smtClean="0"/>
              <a:t> </a:t>
            </a:r>
            <a:r>
              <a:rPr lang="ko-KR" altLang="en-US" sz="1000" dirty="0"/>
              <a:t>파일 </a:t>
            </a:r>
            <a:r>
              <a:rPr lang="en-US" altLang="ko-KR" sz="1000" dirty="0" smtClean="0"/>
              <a:t>Post. </a:t>
            </a:r>
            <a:r>
              <a:rPr lang="en-US" altLang="ko-KR" sz="1000" dirty="0" err="1"/>
              <a:t>Fuseki</a:t>
            </a:r>
            <a:r>
              <a:rPr lang="en-US" altLang="ko-KR" sz="1000" dirty="0"/>
              <a:t> UI </a:t>
            </a:r>
            <a:r>
              <a:rPr lang="ko-KR" altLang="en-US" sz="1000" dirty="0"/>
              <a:t>화면에서 </a:t>
            </a:r>
            <a:r>
              <a:rPr lang="en-US" altLang="ko-KR" sz="1000" dirty="0" smtClean="0"/>
              <a:t>"add data" </a:t>
            </a:r>
            <a:r>
              <a:rPr lang="ko-KR" altLang="en-US" sz="1000" dirty="0" smtClean="0"/>
              <a:t>해도 됨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/>
              <a:t>cd /home/user/Desktop/materials/</a:t>
            </a:r>
            <a:r>
              <a:rPr lang="en-US" altLang="ko-KR" sz="1000" dirty="0" err="1"/>
              <a:t>part1</a:t>
            </a:r>
            <a:r>
              <a:rPr lang="en-US" altLang="ko-KR" sz="1000" dirty="0"/>
              <a:t>/01-02-</a:t>
            </a:r>
            <a:r>
              <a:rPr lang="en-US" altLang="ko-KR" sz="1000" dirty="0" err="1"/>
              <a:t>oag</a:t>
            </a:r>
            <a:r>
              <a:rPr lang="en-US" altLang="ko-KR" sz="1000" dirty="0"/>
              <a:t>/convert/</a:t>
            </a:r>
            <a:endParaRPr lang="ko-KR" altLang="en-US" sz="1000" dirty="0"/>
          </a:p>
          <a:p>
            <a:pPr marL="0" indent="0">
              <a:buNone/>
            </a:pPr>
            <a:r>
              <a:rPr lang="en-US" altLang="ko-KR" sz="1000" dirty="0" smtClean="0"/>
              <a:t>curl </a:t>
            </a:r>
            <a:r>
              <a:rPr lang="en-US" altLang="ko-KR" sz="1000" dirty="0"/>
              <a:t>-X POST -H "Content-Type: text/turtle" \</a:t>
            </a:r>
          </a:p>
          <a:p>
            <a:pPr marL="0" indent="0">
              <a:buNone/>
            </a:pPr>
            <a:r>
              <a:rPr lang="en-US" altLang="ko-KR" sz="1000" dirty="0" smtClean="0"/>
              <a:t>    </a:t>
            </a:r>
            <a:r>
              <a:rPr lang="en-US" altLang="ko-KR" sz="1000" dirty="0"/>
              <a:t>--data-binary @</a:t>
            </a:r>
            <a:r>
              <a:rPr lang="en-US" altLang="ko-KR" sz="1000" dirty="0" err="1"/>
              <a:t>gangnam.ttl</a:t>
            </a:r>
            <a:r>
              <a:rPr lang="en-US" altLang="ko-KR" sz="1000" dirty="0"/>
              <a:t> \</a:t>
            </a:r>
          </a:p>
          <a:p>
            <a:pPr marL="0" indent="0">
              <a:buNone/>
            </a:pPr>
            <a:r>
              <a:rPr lang="en-US" altLang="ko-KR" sz="1000" dirty="0" smtClean="0"/>
              <a:t>    </a:t>
            </a:r>
            <a:r>
              <a:rPr lang="en-US" altLang="ko-KR" sz="1000" dirty="0"/>
              <a:t>"http://127.0.0.1:3030/</a:t>
            </a:r>
            <a:r>
              <a:rPr lang="en-US" altLang="ko-KR" sz="1000" dirty="0" err="1"/>
              <a:t>doverenc</a:t>
            </a:r>
            <a:r>
              <a:rPr lang="en-US" altLang="ko-KR" sz="1000" dirty="0"/>
              <a:t>/</a:t>
            </a:r>
            <a:r>
              <a:rPr lang="en-US" altLang="ko-KR" sz="1000" dirty="0" err="1"/>
              <a:t>data?graph</a:t>
            </a:r>
            <a:r>
              <a:rPr lang="en-US" altLang="ko-KR" sz="1000" dirty="0"/>
              <a:t>=http://</a:t>
            </a:r>
            <a:r>
              <a:rPr lang="en-US" altLang="ko-KR" sz="1000" dirty="0" err="1"/>
              <a:t>k.doverenc</a:t>
            </a:r>
            <a:r>
              <a:rPr lang="en-US" altLang="ko-KR" sz="1000" dirty="0"/>
              <a:t>/onto</a:t>
            </a:r>
            <a:r>
              <a:rPr lang="en-US" altLang="ko-KR" sz="1000" dirty="0" smtClean="0"/>
              <a:t>#"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Data </a:t>
            </a:r>
            <a:r>
              <a:rPr lang="ko-KR" altLang="en-US" sz="1000" dirty="0" smtClean="0"/>
              <a:t>로딩 결과 </a:t>
            </a:r>
            <a:r>
              <a:rPr lang="ko-KR" altLang="en-US" sz="1000" dirty="0" err="1" smtClean="0"/>
              <a:t>메세지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: 149</a:t>
            </a:r>
            <a:r>
              <a:rPr lang="ko-KR" altLang="en-US" sz="1000" dirty="0" smtClean="0"/>
              <a:t>개 데이터 </a:t>
            </a:r>
            <a:r>
              <a:rPr lang="en-US" altLang="ko-KR" sz="1000" dirty="0" smtClean="0"/>
              <a:t>insert </a:t>
            </a:r>
            <a:r>
              <a:rPr lang="ko-KR" altLang="en-US" sz="1000" dirty="0" smtClean="0"/>
              <a:t>되었다고 나옴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{ </a:t>
            </a:r>
            <a:endParaRPr lang="en-US" altLang="ko-KR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   "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count" : 149 ,</a:t>
            </a: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   "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tripleCount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" : 149 ,</a:t>
            </a: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   "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quadCount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" : 0</a:t>
            </a: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웹 </a:t>
            </a:r>
            <a:r>
              <a:rPr lang="ko-KR" altLang="en-US" sz="1000" dirty="0" err="1" smtClean="0"/>
              <a:t>브라우져로</a:t>
            </a:r>
            <a:r>
              <a:rPr lang="ko-KR" altLang="en-US" sz="1000" dirty="0" smtClean="0"/>
              <a:t> 관리 화면 접속 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/>
              <a:t>http://</a:t>
            </a:r>
            <a:r>
              <a:rPr lang="en-US" altLang="ko-KR" sz="1000" dirty="0" err="1" smtClean="0"/>
              <a:t>localhost:3030</a:t>
            </a: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query </a:t>
            </a:r>
            <a:r>
              <a:rPr lang="ko-KR" altLang="en-US" sz="1000" dirty="0" smtClean="0"/>
              <a:t>버튼 클릭 후 아래 </a:t>
            </a:r>
            <a:r>
              <a:rPr lang="en-US" altLang="ko-KR" sz="1000" dirty="0" err="1" smtClean="0"/>
              <a:t>SPARQL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실행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SELECT ?subject ?predicate ?object</a:t>
            </a: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WHERE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{</a:t>
            </a: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GRAPH ?g {</a:t>
            </a: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  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?subject ?predicate ?object</a:t>
            </a: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</a:p>
          <a:p>
            <a:pPr marL="0" indent="0">
              <a:buNone/>
            </a:pPr>
            <a:endParaRPr lang="en-US" altLang="ko-KR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# 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SPARQL</a:t>
            </a:r>
            <a:r>
              <a:rPr lang="ko-KR" altLang="en-US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에 대한 기술적 설명은 생략</a:t>
            </a:r>
            <a:endParaRPr lang="en-US" altLang="ko-KR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233" y="1412875"/>
            <a:ext cx="4808029" cy="5246961"/>
          </a:xfrm>
          <a:prstGeom prst="rect">
            <a:avLst/>
          </a:prstGeom>
        </p:spPr>
      </p:pic>
      <p:cxnSp>
        <p:nvCxnSpPr>
          <p:cNvPr id="8" name="꺾인 연결선 7"/>
          <p:cNvCxnSpPr>
            <a:endCxn id="3" idx="1"/>
          </p:cNvCxnSpPr>
          <p:nvPr/>
        </p:nvCxnSpPr>
        <p:spPr>
          <a:xfrm flipV="1">
            <a:off x="2936776" y="4036356"/>
            <a:ext cx="1992457" cy="90481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6276206" y="5186236"/>
            <a:ext cx="936000" cy="2160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152507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0111" y="1208780"/>
            <a:ext cx="4541889" cy="4956524"/>
          </a:xfrm>
          <a:prstGeom prst="rect">
            <a:avLst/>
          </a:prstGeom>
        </p:spPr>
      </p:pic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3.3 </a:t>
            </a:r>
            <a:r>
              <a:rPr lang="en-US" altLang="ko-KR" dirty="0" smtClean="0"/>
              <a:t>Apache Jena </a:t>
            </a:r>
            <a:r>
              <a:rPr lang="en-US" altLang="ko-KR" dirty="0" err="1" smtClean="0"/>
              <a:t>Fuseki</a:t>
            </a:r>
            <a:r>
              <a:rPr lang="en-US" altLang="ko-KR" dirty="0" smtClean="0"/>
              <a:t> </a:t>
            </a:r>
            <a:r>
              <a:rPr lang="ko-KR" altLang="en-US" dirty="0" smtClean="0"/>
              <a:t>설치 및 사용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400" dirty="0" smtClean="0"/>
              <a:t>Admin </a:t>
            </a:r>
            <a:r>
              <a:rPr lang="ko-KR" altLang="en-US" sz="1400" dirty="0" smtClean="0"/>
              <a:t>화면 접속 및 데이터 처리</a:t>
            </a:r>
            <a:r>
              <a:rPr lang="en-US" altLang="ko-KR" sz="1400" dirty="0" smtClean="0"/>
              <a:t>. </a:t>
            </a:r>
            <a:r>
              <a:rPr lang="en-US" altLang="ko-KR" sz="1400" dirty="0" smtClean="0"/>
              <a:t>http://</a:t>
            </a:r>
            <a:r>
              <a:rPr lang="en-US" altLang="ko-KR" sz="1400" dirty="0" err="1" smtClean="0"/>
              <a:t>localhost:3030</a:t>
            </a:r>
            <a:r>
              <a:rPr lang="en-US" altLang="ko-KR" sz="1400" dirty="0" smtClean="0"/>
              <a:t> (</a:t>
            </a:r>
            <a:r>
              <a:rPr lang="ko-KR" altLang="en-US" sz="1400" dirty="0" smtClean="0"/>
              <a:t>원할 경우 가상 </a:t>
            </a:r>
            <a:r>
              <a:rPr lang="ko-KR" altLang="en-US" sz="1400" dirty="0" err="1" smtClean="0"/>
              <a:t>머신의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Real IP </a:t>
            </a:r>
            <a:r>
              <a:rPr lang="ko-KR" altLang="en-US" sz="1400" dirty="0" smtClean="0"/>
              <a:t>사용</a:t>
            </a:r>
            <a:r>
              <a:rPr lang="en-US" altLang="ko-KR" sz="1400" dirty="0" smtClean="0"/>
              <a:t>)</a:t>
            </a:r>
          </a:p>
          <a:p>
            <a:pPr>
              <a:buFontTx/>
              <a:buChar char="•"/>
            </a:pPr>
            <a:r>
              <a:rPr lang="en-US" altLang="ko-KR" sz="1400" dirty="0" err="1" smtClean="0"/>
              <a:t>TTL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정책 데이터 </a:t>
            </a:r>
            <a:r>
              <a:rPr lang="en-US" altLang="ko-KR" sz="1400" dirty="0" smtClean="0"/>
              <a:t>ADD </a:t>
            </a:r>
            <a:r>
              <a:rPr lang="ko-KR" altLang="en-US" sz="1400" dirty="0" smtClean="0"/>
              <a:t>및 조회</a:t>
            </a:r>
            <a:endParaRPr lang="en-US" altLang="ko-KR" sz="1400" dirty="0" smtClean="0"/>
          </a:p>
          <a:p>
            <a:pPr marL="0" indent="0">
              <a:buNone/>
            </a:pPr>
            <a:endParaRPr lang="en-US" altLang="ko-KR" sz="1000" b="1" dirty="0" smtClean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/>
              <a:t>fuseki</a:t>
            </a:r>
            <a:r>
              <a:rPr lang="en-US" altLang="ko-KR" sz="1000" dirty="0"/>
              <a:t> </a:t>
            </a:r>
            <a:r>
              <a:rPr lang="ko-KR" altLang="en-US" sz="1000" dirty="0"/>
              <a:t>서버에 </a:t>
            </a:r>
            <a:r>
              <a:rPr lang="en-US" altLang="ko-KR" sz="1000" dirty="0" err="1" smtClean="0"/>
              <a:t>TTL</a:t>
            </a:r>
            <a:r>
              <a:rPr lang="en-US" altLang="ko-KR" sz="1000" dirty="0" smtClean="0"/>
              <a:t> </a:t>
            </a:r>
            <a:r>
              <a:rPr lang="ko-KR" altLang="en-US" sz="1000" dirty="0"/>
              <a:t>파일 </a:t>
            </a:r>
            <a:r>
              <a:rPr lang="en-US" altLang="ko-KR" sz="1000" dirty="0" smtClean="0"/>
              <a:t>Post. </a:t>
            </a:r>
            <a:r>
              <a:rPr lang="en-US" altLang="ko-KR" sz="1000" dirty="0" err="1"/>
              <a:t>Fuseki</a:t>
            </a:r>
            <a:r>
              <a:rPr lang="en-US" altLang="ko-KR" sz="1000" dirty="0"/>
              <a:t> UI </a:t>
            </a:r>
            <a:r>
              <a:rPr lang="ko-KR" altLang="en-US" sz="1000" dirty="0"/>
              <a:t>화면에서 </a:t>
            </a:r>
            <a:r>
              <a:rPr lang="en-US" altLang="ko-KR" sz="1000" dirty="0" smtClean="0"/>
              <a:t>"add data" </a:t>
            </a:r>
            <a:r>
              <a:rPr lang="ko-KR" altLang="en-US" sz="1000" dirty="0" smtClean="0"/>
              <a:t>해도 됨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cd /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home/user/Desktop/materials/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part1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/01-03-rules</a:t>
            </a: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curl 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-X POST \</a:t>
            </a:r>
          </a:p>
          <a:p>
            <a:pPr marL="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   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-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H "Content-Type: text/turtle" \</a:t>
            </a:r>
          </a:p>
          <a:p>
            <a:pPr marL="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   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--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data-binary @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policy.ttl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\</a:t>
            </a:r>
          </a:p>
          <a:p>
            <a:pPr marL="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   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"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http://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localhost:3030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doverenc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data?graph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=http://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k.doverenc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/onto#"</a:t>
            </a:r>
            <a:endParaRPr lang="en-US" altLang="ko-KR" sz="1000" dirty="0" smtClean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Data </a:t>
            </a:r>
            <a:r>
              <a:rPr lang="ko-KR" altLang="en-US" sz="1000" dirty="0" smtClean="0"/>
              <a:t>로딩 결과 </a:t>
            </a:r>
            <a:r>
              <a:rPr lang="ko-KR" altLang="en-US" sz="1000" dirty="0" err="1" smtClean="0"/>
              <a:t>메세지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: 48</a:t>
            </a:r>
            <a:r>
              <a:rPr lang="ko-KR" altLang="en-US" sz="1000" dirty="0" smtClean="0"/>
              <a:t>개 데이터 </a:t>
            </a:r>
            <a:r>
              <a:rPr lang="en-US" altLang="ko-KR" sz="1000" dirty="0" smtClean="0"/>
              <a:t>insert </a:t>
            </a:r>
            <a:r>
              <a:rPr lang="ko-KR" altLang="en-US" sz="1000" dirty="0" smtClean="0"/>
              <a:t>되었다고 나옴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{ </a:t>
            </a:r>
            <a:endParaRPr lang="en-US" altLang="ko-KR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   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"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count" : 48 ,</a:t>
            </a:r>
          </a:p>
          <a:p>
            <a:pPr marL="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   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"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tripleCount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" : 48 ,</a:t>
            </a:r>
          </a:p>
          <a:p>
            <a:pPr marL="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    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"</a:t>
            </a:r>
            <a:r>
              <a:rPr lang="en-US" altLang="ko-KR" sz="1000" dirty="0" err="1">
                <a:latin typeface="돋움체" panose="020B0609000101010101" pitchFamily="49" charset="-127"/>
                <a:ea typeface="돋움체" panose="020B0609000101010101" pitchFamily="49" charset="-127"/>
              </a:rPr>
              <a:t>quadCount</a:t>
            </a: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" : 0</a:t>
            </a: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웹 </a:t>
            </a:r>
            <a:r>
              <a:rPr lang="ko-KR" altLang="en-US" sz="1000" dirty="0" err="1" smtClean="0"/>
              <a:t>브라우져로</a:t>
            </a:r>
            <a:r>
              <a:rPr lang="ko-KR" altLang="en-US" sz="1000" dirty="0" smtClean="0"/>
              <a:t> 관리 화면 접속 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/>
              <a:t>http://</a:t>
            </a:r>
            <a:r>
              <a:rPr lang="en-US" altLang="ko-KR" sz="1000" dirty="0" err="1" smtClean="0"/>
              <a:t>localhost:3030</a:t>
            </a: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복잡한 </a:t>
            </a:r>
            <a:r>
              <a:rPr lang="en-US" altLang="ko-KR" sz="1000" dirty="0" err="1" smtClean="0"/>
              <a:t>SPARQL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실행 후 결과 확인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>
                <a:latin typeface="돋움체" panose="020B0609000101010101" pitchFamily="49" charset="-127"/>
                <a:ea typeface="돋움체" panose="020B0609000101010101" pitchFamily="49" charset="-127"/>
              </a:rPr>
              <a:t>vi 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query.sparql</a:t>
            </a:r>
            <a:endParaRPr lang="en-US" altLang="ko-KR" sz="1000" dirty="0" smtClean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r>
              <a:rPr lang="ko-KR" altLang="en-US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위의 파일의 내용을 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Fuseki</a:t>
            </a: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ko-KR" altLang="en-US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관리화면에</a:t>
            </a:r>
            <a:r>
              <a:rPr lang="ko-KR" altLang="en-US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 입력 후 조회</a:t>
            </a:r>
            <a:endParaRPr lang="en-US" altLang="ko-KR" sz="1000" dirty="0" smtClean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endParaRPr lang="en-US" altLang="ko-KR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pPr marL="0" indent="0">
              <a:buNone/>
            </a:pPr>
            <a:r>
              <a:rPr lang="en-US" altLang="ko-KR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# </a:t>
            </a:r>
            <a:r>
              <a:rPr lang="en-US" altLang="ko-KR" sz="1000" dirty="0" err="1" smtClean="0">
                <a:latin typeface="돋움체" panose="020B0609000101010101" pitchFamily="49" charset="-127"/>
                <a:ea typeface="돋움체" panose="020B0609000101010101" pitchFamily="49" charset="-127"/>
              </a:rPr>
              <a:t>SPARQL</a:t>
            </a:r>
            <a:r>
              <a:rPr lang="ko-KR" altLang="en-US" sz="1000" dirty="0" smtClean="0">
                <a:latin typeface="돋움체" panose="020B0609000101010101" pitchFamily="49" charset="-127"/>
                <a:ea typeface="돋움체" panose="020B0609000101010101" pitchFamily="49" charset="-127"/>
              </a:rPr>
              <a:t>에 대한 기술적 설명은 생략</a:t>
            </a:r>
            <a:endParaRPr lang="en-US" altLang="ko-KR" sz="1000" dirty="0">
              <a:latin typeface="돋움체" panose="020B0609000101010101" pitchFamily="49" charset="-127"/>
              <a:ea typeface="돋움체" panose="020B0609000101010101" pitchFamily="49" charset="-127"/>
            </a:endParaRPr>
          </a:p>
        </p:txBody>
      </p:sp>
      <p:cxnSp>
        <p:nvCxnSpPr>
          <p:cNvPr id="8" name="꺾인 연결선 7"/>
          <p:cNvCxnSpPr/>
          <p:nvPr/>
        </p:nvCxnSpPr>
        <p:spPr>
          <a:xfrm flipV="1">
            <a:off x="2936776" y="3789040"/>
            <a:ext cx="2173335" cy="1152128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6393160" y="4797152"/>
            <a:ext cx="828000" cy="1440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4279132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3.4 </a:t>
            </a:r>
            <a:r>
              <a:rPr lang="ko-KR" altLang="en-US" dirty="0" smtClean="0"/>
              <a:t>추천 시스템 </a:t>
            </a:r>
            <a:r>
              <a:rPr lang="en-US" altLang="ko-KR" dirty="0" smtClean="0"/>
              <a:t>- Python </a:t>
            </a:r>
            <a:r>
              <a:rPr lang="ko-KR" altLang="en-US" dirty="0" smtClean="0"/>
              <a:t>이용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400" dirty="0" smtClean="0"/>
              <a:t>Python</a:t>
            </a:r>
            <a:r>
              <a:rPr lang="ko-KR" altLang="en-US" sz="1400" dirty="0" smtClean="0"/>
              <a:t>으로 자연어 질의 수행</a:t>
            </a:r>
            <a:r>
              <a:rPr lang="en-US" altLang="ko-KR" sz="1400" dirty="0" smtClean="0"/>
              <a:t>. </a:t>
            </a:r>
            <a:r>
              <a:rPr lang="en-US" altLang="ko-KR" sz="1400" dirty="0" smtClean="0"/>
              <a:t>Ontology (</a:t>
            </a:r>
            <a:r>
              <a:rPr lang="en-US" altLang="ko-KR" sz="1400" dirty="0" err="1" smtClean="0"/>
              <a:t>Fuseki</a:t>
            </a:r>
            <a:r>
              <a:rPr lang="en-US" altLang="ko-KR" sz="1400" dirty="0" smtClean="0"/>
              <a:t>) </a:t>
            </a:r>
            <a:r>
              <a:rPr lang="ko-KR" altLang="en-US" sz="1400" dirty="0" smtClean="0"/>
              <a:t>및 </a:t>
            </a:r>
            <a:r>
              <a:rPr lang="en-US" altLang="ko-KR" sz="1400" dirty="0" err="1" smtClean="0"/>
              <a:t>LLM</a:t>
            </a:r>
            <a:r>
              <a:rPr lang="en-US" altLang="ko-KR" sz="1400" dirty="0" smtClean="0"/>
              <a:t> (</a:t>
            </a:r>
            <a:r>
              <a:rPr lang="en-US" altLang="ko-KR" sz="1400" dirty="0" err="1" smtClean="0"/>
              <a:t>Ollama</a:t>
            </a:r>
            <a:r>
              <a:rPr lang="en-US" altLang="ko-KR" sz="1400" dirty="0" smtClean="0"/>
              <a:t>) </a:t>
            </a:r>
            <a:r>
              <a:rPr lang="ko-KR" altLang="en-US" sz="1400" dirty="0" smtClean="0"/>
              <a:t>처리 후 자연어 결과 응답</a:t>
            </a:r>
            <a:endParaRPr lang="en-US" altLang="ko-KR" sz="1400" dirty="0" smtClean="0"/>
          </a:p>
          <a:p>
            <a:pPr>
              <a:buFontTx/>
              <a:buChar char="•"/>
            </a:pPr>
            <a:r>
              <a:rPr lang="ko-KR" altLang="en-US" sz="1400" dirty="0" smtClean="0"/>
              <a:t>앞서 </a:t>
            </a:r>
            <a:r>
              <a:rPr lang="en-US" altLang="ko-KR" sz="1400" dirty="0" err="1" smtClean="0"/>
              <a:t>Fuseki</a:t>
            </a:r>
            <a:r>
              <a:rPr lang="ko-KR" altLang="en-US" sz="1400" dirty="0" smtClean="0"/>
              <a:t>에 반영한 </a:t>
            </a:r>
            <a:r>
              <a:rPr lang="en-US" altLang="ko-KR" sz="1400" dirty="0" err="1" smtClean="0"/>
              <a:t>TTL</a:t>
            </a:r>
            <a:r>
              <a:rPr lang="en-US" altLang="ko-KR" sz="1400" dirty="0" smtClean="0"/>
              <a:t> </a:t>
            </a:r>
            <a:r>
              <a:rPr lang="ko-KR" altLang="en-US" sz="1400" dirty="0" smtClean="0"/>
              <a:t>데이터를 활용</a:t>
            </a:r>
            <a:endParaRPr lang="en-US" altLang="ko-KR" sz="1400" dirty="0" smtClean="0"/>
          </a:p>
          <a:p>
            <a:pPr marL="0" indent="0">
              <a:buNone/>
            </a:pPr>
            <a:endParaRPr lang="en-US" altLang="ko-KR" sz="1000" b="1" dirty="0" smtClean="0"/>
          </a:p>
          <a:p>
            <a:pPr marL="0" indent="0">
              <a:buNone/>
            </a:pPr>
            <a:r>
              <a:rPr lang="en-US" altLang="ko-KR" sz="1000" dirty="0" smtClean="0"/>
              <a:t># Python </a:t>
            </a:r>
            <a:r>
              <a:rPr lang="ko-KR" altLang="en-US" sz="1000" dirty="0" smtClean="0"/>
              <a:t>가상 환경 생성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/>
              <a:t>cd /</a:t>
            </a:r>
            <a:r>
              <a:rPr lang="en-US" altLang="ko-KR" sz="1000" dirty="0" smtClean="0"/>
              <a:t>home/user/Desktop/materials/</a:t>
            </a:r>
            <a:r>
              <a:rPr lang="en-US" altLang="ko-KR" sz="1000" dirty="0" err="1" smtClean="0"/>
              <a:t>part1</a:t>
            </a:r>
            <a:r>
              <a:rPr lang="en-US" altLang="ko-KR" sz="1000" dirty="0" smtClean="0"/>
              <a:t>/01-02-</a:t>
            </a:r>
            <a:r>
              <a:rPr lang="en-US" altLang="ko-KR" sz="1000" dirty="0" err="1" smtClean="0"/>
              <a:t>oag</a:t>
            </a:r>
            <a:r>
              <a:rPr lang="en-US" altLang="ko-KR" sz="1000" dirty="0" smtClean="0"/>
              <a:t>/</a:t>
            </a:r>
            <a:r>
              <a:rPr lang="en-US" altLang="ko-KR" sz="1000" dirty="0" err="1" smtClean="0"/>
              <a:t>oag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err="1"/>
              <a:t>python3</a:t>
            </a:r>
            <a:r>
              <a:rPr lang="en-US" altLang="ko-KR" sz="1000" dirty="0"/>
              <a:t> -m </a:t>
            </a:r>
            <a:r>
              <a:rPr lang="en-US" altLang="ko-KR" sz="1000" dirty="0" err="1"/>
              <a:t>venv</a:t>
            </a:r>
            <a:r>
              <a:rPr lang="en-US" altLang="ko-KR" sz="1000" dirty="0"/>
              <a:t> .</a:t>
            </a:r>
            <a:r>
              <a:rPr lang="en-US" altLang="ko-KR" sz="1000" dirty="0" err="1" smtClean="0"/>
              <a:t>venv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/>
              <a:t>source .</a:t>
            </a:r>
            <a:r>
              <a:rPr lang="en-US" altLang="ko-KR" sz="1000" dirty="0" err="1" smtClean="0"/>
              <a:t>venv</a:t>
            </a:r>
            <a:r>
              <a:rPr lang="en-US" altLang="ko-KR" sz="1000" dirty="0" smtClean="0"/>
              <a:t>/bin/activate</a:t>
            </a:r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# Python </a:t>
            </a:r>
            <a:r>
              <a:rPr lang="ko-KR" altLang="en-US" sz="1000" dirty="0" smtClean="0"/>
              <a:t>라이브러리 설치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/>
              <a:t>pip install -r </a:t>
            </a:r>
            <a:r>
              <a:rPr lang="en-US" altLang="ko-KR" sz="1000" dirty="0" err="1"/>
              <a:t>requirements.txt</a:t>
            </a:r>
            <a:r>
              <a:rPr lang="en-US" altLang="ko-KR" sz="1000" dirty="0"/>
              <a:t> </a:t>
            </a: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Python </a:t>
            </a:r>
            <a:r>
              <a:rPr lang="ko-KR" altLang="en-US" sz="1000" dirty="0" smtClean="0"/>
              <a:t>프로그램으로 질의 및 결과 확인 </a:t>
            </a:r>
            <a:r>
              <a:rPr lang="en-US" altLang="ko-KR" sz="1000" dirty="0" smtClean="0"/>
              <a:t>(1)</a:t>
            </a:r>
          </a:p>
          <a:p>
            <a:pPr marL="0" indent="0">
              <a:buNone/>
            </a:pPr>
            <a:r>
              <a:rPr lang="en-US" altLang="ko-KR" sz="1000" dirty="0"/>
              <a:t>python </a:t>
            </a:r>
            <a:r>
              <a:rPr lang="en-US" altLang="ko-KR" sz="1000" dirty="0" err="1"/>
              <a:t>ask_query.py</a:t>
            </a:r>
            <a:r>
              <a:rPr lang="en-US" altLang="ko-KR" sz="1000" dirty="0"/>
              <a:t> --question "</a:t>
            </a:r>
            <a:r>
              <a:rPr lang="ko-KR" altLang="en-US" sz="1000" dirty="0" err="1"/>
              <a:t>강남역의</a:t>
            </a:r>
            <a:r>
              <a:rPr lang="ko-KR" altLang="en-US" sz="1000" dirty="0"/>
              <a:t> 붐비는 시간대를 </a:t>
            </a:r>
            <a:r>
              <a:rPr lang="ko-KR" altLang="en-US" sz="1000" dirty="0" err="1"/>
              <a:t>나열해줘</a:t>
            </a:r>
            <a:r>
              <a:rPr lang="en-US" altLang="ko-KR" sz="1000" dirty="0" smtClean="0"/>
              <a:t>"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/>
              <a:t># Python </a:t>
            </a:r>
            <a:r>
              <a:rPr lang="ko-KR" altLang="en-US" sz="1000" dirty="0"/>
              <a:t>프로그램으로 질의 및 결과 확인 </a:t>
            </a:r>
            <a:r>
              <a:rPr lang="en-US" altLang="ko-KR" sz="1000" dirty="0" smtClean="0"/>
              <a:t>(2)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python </a:t>
            </a:r>
            <a:r>
              <a:rPr lang="en-US" altLang="ko-KR" sz="1000" dirty="0" err="1"/>
              <a:t>ask_query.py</a:t>
            </a:r>
            <a:r>
              <a:rPr lang="en-US" altLang="ko-KR" sz="1000" dirty="0"/>
              <a:t> --question "</a:t>
            </a:r>
            <a:r>
              <a:rPr lang="ko-KR" altLang="en-US" sz="1000" dirty="0" err="1"/>
              <a:t>강남역의</a:t>
            </a:r>
            <a:r>
              <a:rPr lang="ko-KR" altLang="en-US" sz="1000" dirty="0"/>
              <a:t> 붐비는 시간대는 언제입니까</a:t>
            </a:r>
            <a:r>
              <a:rPr lang="en-US" altLang="ko-KR" sz="1000" dirty="0" smtClean="0"/>
              <a:t>?"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2072680" y="5013176"/>
            <a:ext cx="5760640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ko-KR" altLang="en-US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데이터 오류 발생</a:t>
            </a:r>
            <a:r>
              <a:rPr lang="en-US" altLang="ko-KR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. </a:t>
            </a:r>
            <a:r>
              <a:rPr lang="ko-KR" altLang="en-US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기본 적인 구조만 이해하고 넘어감</a:t>
            </a:r>
            <a:endParaRPr lang="ko-KR" altLang="en-US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495736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en-US" altLang="ko-KR" sz="3200" b="1" dirty="0" smtClean="0">
                <a:solidFill>
                  <a:schemeClr val="bg1"/>
                </a:solidFill>
              </a:rPr>
              <a:t>Ontology </a:t>
            </a:r>
            <a:r>
              <a:rPr kumimoji="0" lang="ko-KR" altLang="en-US" sz="3200" b="1" dirty="0" smtClean="0">
                <a:solidFill>
                  <a:schemeClr val="bg1"/>
                </a:solidFill>
              </a:rPr>
              <a:t>모델링 및 반영</a:t>
            </a:r>
            <a:endParaRPr kumimoji="0" lang="en-US" altLang="ko-KR" sz="3200" b="1" dirty="0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 dirty="0" smtClean="0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4</a:t>
            </a:r>
            <a:endParaRPr lang="en-US" altLang="ko-KR" sz="14000" i="1" dirty="0">
              <a:solidFill>
                <a:srgbClr val="FF0000"/>
              </a:solidFill>
              <a:latin typeface="Arial Black" pitchFamily="34" charset="0"/>
              <a:ea typeface="HY견고딕" pitchFamily="18" charset="-127"/>
            </a:endParaRP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2.1 </a:t>
            </a:r>
            <a:r>
              <a:rPr kumimoji="0" lang="en-US" altLang="ko-KR" b="1" dirty="0" smtClean="0"/>
              <a:t>..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2.2 </a:t>
            </a:r>
            <a:r>
              <a:rPr kumimoji="0" lang="en-US" altLang="ko-KR" b="1" dirty="0" smtClean="0"/>
              <a:t>..</a:t>
            </a:r>
            <a:endParaRPr kumimoji="0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658494952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4.1 </a:t>
            </a:r>
            <a:r>
              <a:rPr lang="en-US" altLang="ko-KR" dirty="0" smtClean="0"/>
              <a:t>Protégé</a:t>
            </a:r>
            <a:r>
              <a:rPr lang="ko-KR" altLang="en-US" dirty="0" smtClean="0"/>
              <a:t>를 </a:t>
            </a:r>
            <a:r>
              <a:rPr lang="ko-KR" altLang="en-US" dirty="0" smtClean="0"/>
              <a:t>이용한 모델링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smtClean="0"/>
              <a:t>Protégé</a:t>
            </a:r>
            <a:r>
              <a:rPr lang="ko-KR" altLang="en-US" sz="1800" dirty="0" smtClean="0"/>
              <a:t>는 오픈 소스 </a:t>
            </a:r>
            <a:r>
              <a:rPr lang="en-US" altLang="ko-KR" sz="1800" dirty="0" smtClean="0"/>
              <a:t>OWL(WEB Ontology Language) Ontology </a:t>
            </a:r>
            <a:r>
              <a:rPr lang="ko-KR" altLang="en-US" sz="1800" dirty="0" smtClean="0"/>
              <a:t>에디터이다</a:t>
            </a:r>
            <a:r>
              <a:rPr lang="en-US" altLang="ko-KR" sz="1800" dirty="0" smtClean="0"/>
              <a:t>.</a:t>
            </a:r>
          </a:p>
          <a:p>
            <a:pPr>
              <a:buFontTx/>
              <a:buChar char="•"/>
            </a:pPr>
            <a:r>
              <a:rPr lang="en-US" altLang="ko-KR" sz="1800" dirty="0" smtClean="0"/>
              <a:t>Windows, </a:t>
            </a:r>
            <a:r>
              <a:rPr lang="en-US" altLang="ko-KR" sz="1800" dirty="0" err="1" smtClean="0"/>
              <a:t>macOS</a:t>
            </a:r>
            <a:r>
              <a:rPr lang="en-US" altLang="ko-KR" sz="1800" dirty="0" smtClean="0"/>
              <a:t>, Linux </a:t>
            </a:r>
            <a:r>
              <a:rPr lang="ko-KR" altLang="en-US" sz="1800" dirty="0" smtClean="0"/>
              <a:t>에서 사용 가능하며 자바 기반 어플리케이션이다</a:t>
            </a:r>
            <a:r>
              <a:rPr lang="en-US" altLang="ko-KR" sz="1800" dirty="0" smtClean="0"/>
              <a:t>.</a:t>
            </a:r>
          </a:p>
          <a:p>
            <a:pPr>
              <a:buFontTx/>
              <a:buChar char="•"/>
            </a:pPr>
            <a:endParaRPr lang="en-US" altLang="ko-KR" sz="1800" dirty="0"/>
          </a:p>
          <a:p>
            <a:pPr marL="0" indent="0">
              <a:buNone/>
            </a:pPr>
            <a:r>
              <a:rPr lang="en-US" altLang="ko-KR" sz="1000" dirty="0" smtClean="0"/>
              <a:t># Ubuntu</a:t>
            </a:r>
            <a:r>
              <a:rPr lang="ko-KR" altLang="en-US" sz="1000" dirty="0" smtClean="0"/>
              <a:t>에 </a:t>
            </a:r>
            <a:r>
              <a:rPr lang="en-US" altLang="ko-KR" sz="1000" dirty="0" err="1" smtClean="0"/>
              <a:t>protege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설치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cd </a:t>
            </a:r>
            <a:r>
              <a:rPr lang="en-US" altLang="ko-KR" sz="1000" dirty="0"/>
              <a:t>/opt</a:t>
            </a:r>
          </a:p>
          <a:p>
            <a:pPr marL="0" indent="0">
              <a:buNone/>
            </a:pPr>
            <a:r>
              <a:rPr lang="en-US" altLang="ko-KR" sz="1000" dirty="0" err="1" smtClean="0"/>
              <a:t>sudo</a:t>
            </a:r>
            <a:r>
              <a:rPr lang="en-US" altLang="ko-KR" sz="1000" dirty="0" smtClean="0"/>
              <a:t> </a:t>
            </a:r>
            <a:r>
              <a:rPr lang="en-US" altLang="ko-KR" sz="1000" dirty="0" err="1"/>
              <a:t>wget</a:t>
            </a:r>
            <a:r>
              <a:rPr lang="en-US" altLang="ko-KR" sz="1000" dirty="0"/>
              <a:t> https://</a:t>
            </a:r>
            <a:r>
              <a:rPr lang="en-US" altLang="ko-KR" sz="1000" dirty="0" err="1"/>
              <a:t>github.com</a:t>
            </a:r>
            <a:r>
              <a:rPr lang="en-US" altLang="ko-KR" sz="1000" dirty="0"/>
              <a:t>/</a:t>
            </a:r>
            <a:r>
              <a:rPr lang="en-US" altLang="ko-KR" sz="1000" dirty="0" err="1"/>
              <a:t>protegeproject</a:t>
            </a:r>
            <a:r>
              <a:rPr lang="en-US" altLang="ko-KR" sz="1000" dirty="0"/>
              <a:t>/</a:t>
            </a:r>
            <a:r>
              <a:rPr lang="en-US" altLang="ko-KR" sz="1000" dirty="0" err="1"/>
              <a:t>protege</a:t>
            </a:r>
            <a:r>
              <a:rPr lang="en-US" altLang="ko-KR" sz="1000" dirty="0"/>
              <a:t>-distribution/releases/download/</a:t>
            </a:r>
            <a:r>
              <a:rPr lang="en-US" altLang="ko-KR" sz="1000" dirty="0" err="1"/>
              <a:t>protege</a:t>
            </a:r>
            <a:r>
              <a:rPr lang="en-US" altLang="ko-KR" sz="1000" dirty="0"/>
              <a:t>-5.6.9/</a:t>
            </a:r>
            <a:r>
              <a:rPr lang="en-US" altLang="ko-KR" sz="1000" dirty="0" err="1"/>
              <a:t>Protege</a:t>
            </a:r>
            <a:r>
              <a:rPr lang="en-US" altLang="ko-KR" sz="1000" dirty="0"/>
              <a:t>-5.6.9-</a:t>
            </a:r>
            <a:r>
              <a:rPr lang="en-US" altLang="ko-KR" sz="1000" dirty="0" err="1"/>
              <a:t>linux.tar.gz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 smtClean="0"/>
              <a:t>sudo</a:t>
            </a:r>
            <a:r>
              <a:rPr lang="en-US" altLang="ko-KR" sz="1000" dirty="0" smtClean="0"/>
              <a:t> </a:t>
            </a:r>
            <a:r>
              <a:rPr lang="en-US" altLang="ko-KR" sz="1000" dirty="0"/>
              <a:t>tar </a:t>
            </a:r>
            <a:r>
              <a:rPr lang="en-US" altLang="ko-KR" sz="1000" dirty="0" err="1"/>
              <a:t>xvzf</a:t>
            </a:r>
            <a:r>
              <a:rPr lang="en-US" altLang="ko-KR" sz="1000" dirty="0"/>
              <a:t> </a:t>
            </a:r>
            <a:r>
              <a:rPr lang="en-US" altLang="ko-KR" sz="1000" dirty="0" err="1"/>
              <a:t>Protege</a:t>
            </a:r>
            <a:r>
              <a:rPr lang="en-US" altLang="ko-KR" sz="1000" dirty="0"/>
              <a:t>-5.6.9-</a:t>
            </a:r>
            <a:r>
              <a:rPr lang="en-US" altLang="ko-KR" sz="1000" dirty="0" err="1"/>
              <a:t>linux.tar.gz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 smtClean="0"/>
              <a:t>sudo</a:t>
            </a:r>
            <a:r>
              <a:rPr lang="en-US" altLang="ko-KR" sz="1000" dirty="0" smtClean="0"/>
              <a:t> </a:t>
            </a:r>
            <a:r>
              <a:rPr lang="en-US" altLang="ko-KR" sz="1000" dirty="0" err="1"/>
              <a:t>rm</a:t>
            </a:r>
            <a:r>
              <a:rPr lang="en-US" altLang="ko-KR" sz="1000" dirty="0"/>
              <a:t> </a:t>
            </a:r>
            <a:r>
              <a:rPr lang="en-US" altLang="ko-KR" sz="1000" dirty="0" err="1"/>
              <a:t>Protege</a:t>
            </a:r>
            <a:r>
              <a:rPr lang="en-US" altLang="ko-KR" sz="1000" dirty="0"/>
              <a:t>-5.6.9-</a:t>
            </a:r>
            <a:r>
              <a:rPr lang="en-US" altLang="ko-KR" sz="1000" dirty="0" err="1"/>
              <a:t>linux.tar.gz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 smtClean="0"/>
              <a:t>sudo</a:t>
            </a:r>
            <a:r>
              <a:rPr lang="en-US" altLang="ko-KR" sz="1000" dirty="0" smtClean="0"/>
              <a:t> </a:t>
            </a:r>
            <a:r>
              <a:rPr lang="en-US" altLang="ko-KR" sz="1000" dirty="0" err="1"/>
              <a:t>chown</a:t>
            </a:r>
            <a:r>
              <a:rPr lang="en-US" altLang="ko-KR" sz="1000" dirty="0"/>
              <a:t> -R </a:t>
            </a:r>
            <a:r>
              <a:rPr lang="en-US" altLang="ko-KR" sz="1000" dirty="0" err="1"/>
              <a:t>user:users</a:t>
            </a:r>
            <a:r>
              <a:rPr lang="en-US" altLang="ko-KR" sz="1000" dirty="0"/>
              <a:t> </a:t>
            </a:r>
            <a:r>
              <a:rPr lang="en-US" altLang="ko-KR" sz="1000" dirty="0" err="1" smtClean="0"/>
              <a:t>Protege</a:t>
            </a:r>
            <a:r>
              <a:rPr lang="en-US" altLang="ko-KR" sz="1000" dirty="0" smtClean="0"/>
              <a:t>-5.6.9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# Ubuntu</a:t>
            </a:r>
            <a:r>
              <a:rPr lang="ko-KR" altLang="en-US" sz="1000" dirty="0"/>
              <a:t>에 </a:t>
            </a:r>
            <a:r>
              <a:rPr lang="en-US" altLang="ko-KR" sz="1000" dirty="0" err="1"/>
              <a:t>protege</a:t>
            </a:r>
            <a:r>
              <a:rPr lang="en-US" altLang="ko-KR" sz="1000" dirty="0"/>
              <a:t> </a:t>
            </a:r>
            <a:r>
              <a:rPr lang="ko-KR" altLang="en-US" sz="1000" dirty="0" smtClean="0"/>
              <a:t>실행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# GUI (gnome desktop) </a:t>
            </a:r>
            <a:r>
              <a:rPr lang="ko-KR" altLang="en-US" sz="1000" dirty="0" smtClean="0"/>
              <a:t>환경에서 실행해야 한다</a:t>
            </a:r>
            <a:r>
              <a:rPr lang="en-US" altLang="ko-KR" sz="1000" dirty="0" smtClean="0"/>
              <a:t>.</a:t>
            </a:r>
          </a:p>
          <a:p>
            <a:pPr marL="0" indent="0">
              <a:buNone/>
            </a:pPr>
            <a:r>
              <a:rPr lang="en-US" altLang="ko-KR" sz="1000" dirty="0" smtClean="0"/>
              <a:t>cd </a:t>
            </a:r>
            <a:r>
              <a:rPr lang="en-US" altLang="ko-KR" sz="1000" dirty="0"/>
              <a:t>/opt/</a:t>
            </a:r>
            <a:r>
              <a:rPr lang="en-US" altLang="ko-KR" sz="1000" dirty="0" err="1"/>
              <a:t>Protege</a:t>
            </a:r>
            <a:r>
              <a:rPr lang="en-US" altLang="ko-KR" sz="1000" dirty="0"/>
              <a:t>-5.6.9</a:t>
            </a:r>
          </a:p>
          <a:p>
            <a:pPr marL="0" indent="0">
              <a:buNone/>
            </a:pPr>
            <a:r>
              <a:rPr lang="en-US" altLang="ko-KR" sz="1000" dirty="0" smtClean="0"/>
              <a:t>./</a:t>
            </a:r>
            <a:r>
              <a:rPr lang="en-US" altLang="ko-KR" sz="1000" dirty="0" err="1"/>
              <a:t>run.sh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>
              <a:buFontTx/>
              <a:buChar char="•"/>
            </a:pPr>
            <a:endParaRPr lang="en-US" altLang="ko-KR" sz="1800" dirty="0" smtClean="0"/>
          </a:p>
          <a:p>
            <a:pPr>
              <a:buFontTx/>
              <a:buChar char="•"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557809817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4.2 </a:t>
            </a:r>
            <a:r>
              <a:rPr lang="ko-KR" altLang="en-US" dirty="0" smtClean="0"/>
              <a:t>모델링 </a:t>
            </a:r>
            <a:r>
              <a:rPr lang="en-US" altLang="ko-KR" dirty="0" err="1" smtClean="0"/>
              <a:t>TTL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Fuseki</a:t>
            </a:r>
            <a:r>
              <a:rPr lang="en-US" altLang="ko-KR" dirty="0" smtClean="0"/>
              <a:t> </a:t>
            </a:r>
            <a:r>
              <a:rPr lang="ko-KR" altLang="en-US" dirty="0" smtClean="0"/>
              <a:t>반영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 smtClean="0"/>
              <a:t>Protege</a:t>
            </a:r>
            <a:r>
              <a:rPr lang="ko-KR" altLang="en-US" sz="1800" dirty="0" smtClean="0"/>
              <a:t>를 이용해서 </a:t>
            </a:r>
            <a:r>
              <a:rPr lang="ko-KR" altLang="en-US" sz="1800" dirty="0" err="1" smtClean="0"/>
              <a:t>모델링한</a:t>
            </a:r>
            <a:r>
              <a:rPr lang="ko-KR" altLang="en-US" sz="1800" dirty="0" smtClean="0"/>
              <a:t> </a:t>
            </a:r>
            <a:r>
              <a:rPr lang="en-US" altLang="ko-KR" sz="1800" dirty="0" err="1" smtClean="0"/>
              <a:t>TTL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파일을 </a:t>
            </a:r>
            <a:r>
              <a:rPr lang="en-US" altLang="ko-KR" sz="1800" dirty="0" err="1" smtClean="0"/>
              <a:t>Fuseki</a:t>
            </a:r>
            <a:r>
              <a:rPr lang="ko-KR" altLang="en-US" sz="1800" dirty="0" smtClean="0"/>
              <a:t>에 반영한다</a:t>
            </a:r>
            <a:r>
              <a:rPr lang="en-US" altLang="ko-KR" sz="1800" dirty="0" smtClean="0"/>
              <a:t>.</a:t>
            </a:r>
          </a:p>
          <a:p>
            <a:pPr>
              <a:buFontTx/>
              <a:buChar char="•"/>
            </a:pPr>
            <a:r>
              <a:rPr lang="en-US" altLang="ko-KR" sz="1800" dirty="0" err="1" smtClean="0"/>
              <a:t>Fuseki</a:t>
            </a:r>
            <a:r>
              <a:rPr lang="ko-KR" altLang="en-US" sz="1800" dirty="0" smtClean="0"/>
              <a:t>를 통해 </a:t>
            </a:r>
            <a:r>
              <a:rPr lang="en-US" altLang="ko-KR" sz="1800" dirty="0" smtClean="0"/>
              <a:t>Ontology </a:t>
            </a:r>
            <a:r>
              <a:rPr lang="ko-KR" altLang="en-US" sz="1800" dirty="0" smtClean="0"/>
              <a:t>서비스를 한다</a:t>
            </a:r>
            <a:endParaRPr lang="en-US" altLang="ko-KR" sz="1800" dirty="0" smtClean="0"/>
          </a:p>
          <a:p>
            <a:pPr>
              <a:buFontTx/>
              <a:buChar char="•"/>
            </a:pPr>
            <a:endParaRPr lang="en-US" altLang="ko-KR" sz="1800" dirty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기존 로딩한 </a:t>
            </a:r>
            <a:r>
              <a:rPr lang="en-US" altLang="ko-KR" sz="1000" dirty="0" smtClean="0"/>
              <a:t>data</a:t>
            </a:r>
            <a:r>
              <a:rPr lang="ko-KR" altLang="en-US" sz="1000" dirty="0" smtClean="0"/>
              <a:t>와 충돌 방지를 위해 </a:t>
            </a:r>
            <a:r>
              <a:rPr lang="en-US" altLang="ko-KR" sz="1000" dirty="0" err="1" smtClean="0"/>
              <a:t>Fuseki</a:t>
            </a:r>
            <a:r>
              <a:rPr lang="en-US" altLang="ko-KR" sz="1000" dirty="0" smtClean="0"/>
              <a:t> </a:t>
            </a:r>
            <a:r>
              <a:rPr lang="ko-KR" altLang="en-US" sz="1000" dirty="0" err="1" smtClean="0"/>
              <a:t>재기동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- </a:t>
            </a:r>
            <a:r>
              <a:rPr lang="en-US" altLang="ko-KR" sz="1000" dirty="0" err="1" smtClean="0"/>
              <a:t>Fuseki</a:t>
            </a:r>
            <a:r>
              <a:rPr lang="ko-KR" altLang="en-US" sz="1000" dirty="0" smtClean="0"/>
              <a:t>가 메모리로 설정되어 있어서 </a:t>
            </a:r>
            <a:r>
              <a:rPr lang="ko-KR" altLang="en-US" sz="1000" dirty="0" err="1" smtClean="0"/>
              <a:t>재기동하면</a:t>
            </a:r>
            <a:r>
              <a:rPr lang="ko-KR" altLang="en-US" sz="1000" dirty="0" smtClean="0"/>
              <a:t> 모든 데이터 초기화됨</a:t>
            </a: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로딩할 파일은 아래 </a:t>
            </a:r>
            <a:r>
              <a:rPr lang="en-US" altLang="ko-KR" sz="1000" dirty="0" smtClean="0"/>
              <a:t>5</a:t>
            </a:r>
            <a:r>
              <a:rPr lang="ko-KR" altLang="en-US" sz="1000" dirty="0" smtClean="0"/>
              <a:t>개 파일임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/</a:t>
            </a:r>
            <a:r>
              <a:rPr lang="en-US" altLang="ko-KR" sz="1000" dirty="0"/>
              <a:t>home/user/Desktop/materials/</a:t>
            </a:r>
            <a:r>
              <a:rPr lang="en-US" altLang="ko-KR" sz="1000" dirty="0" err="1"/>
              <a:t>part3</a:t>
            </a:r>
            <a:r>
              <a:rPr lang="en-US" altLang="ko-KR" sz="1000" dirty="0"/>
              <a:t>/03-01-03-</a:t>
            </a:r>
            <a:r>
              <a:rPr lang="en-US" altLang="ko-KR" sz="1000" dirty="0" err="1"/>
              <a:t>protege</a:t>
            </a:r>
            <a:r>
              <a:rPr lang="en-US" altLang="ko-KR" sz="1000" dirty="0"/>
              <a:t>/01-</a:t>
            </a:r>
            <a:r>
              <a:rPr lang="en-US" altLang="ko-KR" sz="1000" dirty="0" err="1"/>
              <a:t>classes.ttl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/</a:t>
            </a:r>
            <a:r>
              <a:rPr lang="en-US" altLang="ko-KR" sz="1000" dirty="0"/>
              <a:t>home/user/Desktop/materials/</a:t>
            </a:r>
            <a:r>
              <a:rPr lang="en-US" altLang="ko-KR" sz="1000" dirty="0" err="1"/>
              <a:t>part3</a:t>
            </a:r>
            <a:r>
              <a:rPr lang="en-US" altLang="ko-KR" sz="1000" dirty="0"/>
              <a:t>/03-01-03-</a:t>
            </a:r>
            <a:r>
              <a:rPr lang="en-US" altLang="ko-KR" sz="1000" dirty="0" err="1"/>
              <a:t>protege</a:t>
            </a:r>
            <a:r>
              <a:rPr lang="en-US" altLang="ko-KR" sz="1000" dirty="0"/>
              <a:t>/02-</a:t>
            </a:r>
            <a:r>
              <a:rPr lang="en-US" altLang="ko-KR" sz="1000" dirty="0" err="1"/>
              <a:t>properties_hierarchy.ttl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/</a:t>
            </a:r>
            <a:r>
              <a:rPr lang="en-US" altLang="ko-KR" sz="1000" dirty="0"/>
              <a:t>home/user/Desktop/materials/</a:t>
            </a:r>
            <a:r>
              <a:rPr lang="en-US" altLang="ko-KR" sz="1000" dirty="0" err="1"/>
              <a:t>part3</a:t>
            </a:r>
            <a:r>
              <a:rPr lang="en-US" altLang="ko-KR" sz="1000" dirty="0"/>
              <a:t>/03-01-03-</a:t>
            </a:r>
            <a:r>
              <a:rPr lang="en-US" altLang="ko-KR" sz="1000" dirty="0" err="1"/>
              <a:t>protege</a:t>
            </a:r>
            <a:r>
              <a:rPr lang="en-US" altLang="ko-KR" sz="1000" dirty="0"/>
              <a:t>/03-</a:t>
            </a:r>
            <a:r>
              <a:rPr lang="en-US" altLang="ko-KR" sz="1000" dirty="0" err="1"/>
              <a:t>constraints.ttl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/</a:t>
            </a:r>
            <a:r>
              <a:rPr lang="en-US" altLang="ko-KR" sz="1000" dirty="0"/>
              <a:t>home/user/Desktop/materials/</a:t>
            </a:r>
            <a:r>
              <a:rPr lang="en-US" altLang="ko-KR" sz="1000" dirty="0" err="1"/>
              <a:t>part3</a:t>
            </a:r>
            <a:r>
              <a:rPr lang="en-US" altLang="ko-KR" sz="1000" dirty="0"/>
              <a:t>/03-01-03-</a:t>
            </a:r>
            <a:r>
              <a:rPr lang="en-US" altLang="ko-KR" sz="1000" dirty="0" err="1"/>
              <a:t>protege</a:t>
            </a:r>
            <a:r>
              <a:rPr lang="en-US" altLang="ko-KR" sz="1000" dirty="0"/>
              <a:t>/04-</a:t>
            </a:r>
            <a:r>
              <a:rPr lang="en-US" altLang="ko-KR" sz="1000" dirty="0" err="1"/>
              <a:t>abox.ttl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/home/user/Desktop/materials/</a:t>
            </a:r>
            <a:r>
              <a:rPr lang="en-US" altLang="ko-KR" sz="1000" dirty="0" err="1" smtClean="0"/>
              <a:t>part3</a:t>
            </a:r>
            <a:r>
              <a:rPr lang="en-US" altLang="ko-KR" sz="1000" dirty="0" smtClean="0"/>
              <a:t>/03-01-03-</a:t>
            </a:r>
            <a:r>
              <a:rPr lang="en-US" altLang="ko-KR" sz="1000" dirty="0" err="1" smtClean="0"/>
              <a:t>protege</a:t>
            </a:r>
            <a:r>
              <a:rPr lang="en-US" altLang="ko-KR" sz="1000" dirty="0" smtClean="0"/>
              <a:t>/fixed/01-fix-</a:t>
            </a:r>
            <a:r>
              <a:rPr lang="en-US" altLang="ko-KR" sz="1000" dirty="0" err="1" smtClean="0"/>
              <a:t>locatedin.ttl</a:t>
            </a: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 smtClean="0"/>
              <a:t>Fuseki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관리 화면에서 </a:t>
            </a:r>
            <a:r>
              <a:rPr lang="en-US" altLang="ko-KR" sz="1000" dirty="0" smtClean="0"/>
              <a:t>add data </a:t>
            </a:r>
            <a:r>
              <a:rPr lang="ko-KR" altLang="en-US" sz="1000" dirty="0" smtClean="0"/>
              <a:t>클릭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위의 </a:t>
            </a:r>
            <a:r>
              <a:rPr lang="en-US" altLang="ko-KR" sz="1000" dirty="0" smtClean="0"/>
              <a:t>5</a:t>
            </a:r>
            <a:r>
              <a:rPr lang="ko-KR" altLang="en-US" sz="1000" dirty="0" smtClean="0"/>
              <a:t>개 파일 선택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# Dataset </a:t>
            </a:r>
            <a:r>
              <a:rPr lang="en-US" altLang="ko-KR" sz="1000" dirty="0" err="1" smtClean="0"/>
              <a:t>graphe</a:t>
            </a:r>
            <a:r>
              <a:rPr lang="en-US" altLang="ko-KR" sz="1000" dirty="0" smtClean="0"/>
              <a:t> name</a:t>
            </a:r>
            <a:r>
              <a:rPr lang="ko-KR" altLang="en-US" sz="1000" dirty="0" smtClean="0"/>
              <a:t>에 </a:t>
            </a:r>
            <a:r>
              <a:rPr lang="en-US" altLang="ko-KR" sz="1000" dirty="0" smtClean="0"/>
              <a:t>http://</a:t>
            </a:r>
            <a:r>
              <a:rPr lang="en-US" altLang="ko-KR" sz="1000" dirty="0" err="1" smtClean="0"/>
              <a:t>k.doverenc</a:t>
            </a:r>
            <a:r>
              <a:rPr lang="en-US" altLang="ko-KR" sz="1000" dirty="0" smtClean="0"/>
              <a:t>/onto/</a:t>
            </a:r>
            <a:r>
              <a:rPr lang="en-US" altLang="ko-KR" sz="1000" dirty="0" err="1" smtClean="0"/>
              <a:t>citydata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입력</a:t>
            </a: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6448" y="1556792"/>
            <a:ext cx="4320000" cy="469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087794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4.2 </a:t>
            </a:r>
            <a:r>
              <a:rPr lang="ko-KR" altLang="en-US" dirty="0" smtClean="0"/>
              <a:t>모델링 </a:t>
            </a:r>
            <a:r>
              <a:rPr lang="en-US" altLang="ko-KR" dirty="0" err="1" smtClean="0"/>
              <a:t>TTL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Fuseki</a:t>
            </a:r>
            <a:r>
              <a:rPr lang="en-US" altLang="ko-KR" dirty="0" smtClean="0"/>
              <a:t> </a:t>
            </a:r>
            <a:r>
              <a:rPr lang="ko-KR" altLang="en-US" dirty="0" smtClean="0"/>
              <a:t>반영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err="1" smtClean="0"/>
              <a:t>Protege</a:t>
            </a:r>
            <a:r>
              <a:rPr lang="ko-KR" altLang="en-US" sz="1800" dirty="0" smtClean="0"/>
              <a:t>를 이용해서 </a:t>
            </a:r>
            <a:r>
              <a:rPr lang="ko-KR" altLang="en-US" sz="1800" dirty="0" err="1" smtClean="0"/>
              <a:t>모델링한</a:t>
            </a:r>
            <a:r>
              <a:rPr lang="ko-KR" altLang="en-US" sz="1800" dirty="0" smtClean="0"/>
              <a:t> </a:t>
            </a:r>
            <a:r>
              <a:rPr lang="en-US" altLang="ko-KR" sz="1800" dirty="0" err="1" smtClean="0"/>
              <a:t>TTL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파일을 </a:t>
            </a:r>
            <a:r>
              <a:rPr lang="en-US" altLang="ko-KR" sz="1800" dirty="0" err="1" smtClean="0"/>
              <a:t>Fuseki</a:t>
            </a:r>
            <a:r>
              <a:rPr lang="ko-KR" altLang="en-US" sz="1800" dirty="0" smtClean="0"/>
              <a:t>에 반영한다</a:t>
            </a:r>
            <a:r>
              <a:rPr lang="en-US" altLang="ko-KR" sz="1800" dirty="0" smtClean="0"/>
              <a:t>.</a:t>
            </a:r>
          </a:p>
          <a:p>
            <a:pPr>
              <a:buFontTx/>
              <a:buChar char="•"/>
            </a:pPr>
            <a:r>
              <a:rPr lang="en-US" altLang="ko-KR" sz="1800" dirty="0" err="1" smtClean="0"/>
              <a:t>Fuseki</a:t>
            </a:r>
            <a:r>
              <a:rPr lang="ko-KR" altLang="en-US" sz="1800" dirty="0" smtClean="0"/>
              <a:t>를 통해 </a:t>
            </a:r>
            <a:r>
              <a:rPr lang="en-US" altLang="ko-KR" sz="1800" dirty="0" smtClean="0"/>
              <a:t>Ontology </a:t>
            </a:r>
            <a:r>
              <a:rPr lang="ko-KR" altLang="en-US" sz="1800" dirty="0" smtClean="0"/>
              <a:t>서비스를 한다</a:t>
            </a:r>
            <a:endParaRPr lang="en-US" altLang="ko-KR" sz="1800" dirty="0" smtClean="0"/>
          </a:p>
          <a:p>
            <a:pPr>
              <a:buFontTx/>
              <a:buChar char="•"/>
            </a:pPr>
            <a:endParaRPr lang="en-US" altLang="ko-KR" sz="1800" dirty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아래 </a:t>
            </a:r>
            <a:r>
              <a:rPr lang="en-US" altLang="ko-KR" sz="1000" dirty="0" err="1" smtClean="0"/>
              <a:t>SPARQL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실행해서 결과 테스트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PREFIX </a:t>
            </a:r>
            <a:r>
              <a:rPr lang="en-US" altLang="ko-KR" sz="1000" dirty="0" err="1"/>
              <a:t>rdf</a:t>
            </a:r>
            <a:r>
              <a:rPr lang="en-US" altLang="ko-KR" sz="1000" dirty="0"/>
              <a:t>: &lt;http://</a:t>
            </a:r>
            <a:r>
              <a:rPr lang="en-US" altLang="ko-KR" sz="1000" dirty="0" err="1"/>
              <a:t>www.w3.org</a:t>
            </a:r>
            <a:r>
              <a:rPr lang="en-US" altLang="ko-KR" sz="1000" dirty="0"/>
              <a:t>/1999/02/22-</a:t>
            </a:r>
            <a:r>
              <a:rPr lang="en-US" altLang="ko-KR" sz="1000" dirty="0" err="1"/>
              <a:t>rdf</a:t>
            </a:r>
            <a:r>
              <a:rPr lang="en-US" altLang="ko-KR" sz="1000" dirty="0"/>
              <a:t>-syntax-ns#&gt;</a:t>
            </a:r>
          </a:p>
          <a:p>
            <a:pPr marL="0" indent="0">
              <a:buNone/>
            </a:pPr>
            <a:r>
              <a:rPr lang="en-US" altLang="ko-KR" sz="1000" dirty="0" smtClean="0"/>
              <a:t>PREFIX </a:t>
            </a:r>
            <a:r>
              <a:rPr lang="en-US" altLang="ko-KR" sz="1000" dirty="0" err="1"/>
              <a:t>rdfs</a:t>
            </a:r>
            <a:r>
              <a:rPr lang="en-US" altLang="ko-KR" sz="1000" dirty="0"/>
              <a:t>: &lt;http://</a:t>
            </a:r>
            <a:r>
              <a:rPr lang="en-US" altLang="ko-KR" sz="1000" dirty="0" err="1"/>
              <a:t>www.w3.org</a:t>
            </a:r>
            <a:r>
              <a:rPr lang="en-US" altLang="ko-KR" sz="1000" dirty="0"/>
              <a:t>/2000/01/</a:t>
            </a:r>
            <a:r>
              <a:rPr lang="en-US" altLang="ko-KR" sz="1000" dirty="0" err="1"/>
              <a:t>rdf</a:t>
            </a:r>
            <a:r>
              <a:rPr lang="en-US" altLang="ko-KR" sz="1000" dirty="0"/>
              <a:t>-schema#&gt;</a:t>
            </a:r>
          </a:p>
          <a:p>
            <a:pPr marL="0" indent="0">
              <a:buNone/>
            </a:pPr>
            <a:r>
              <a:rPr lang="en-US" altLang="ko-KR" sz="1000" dirty="0" smtClean="0"/>
              <a:t>SELECT </a:t>
            </a:r>
            <a:r>
              <a:rPr lang="en-US" altLang="ko-KR" sz="1000" dirty="0"/>
              <a:t>* WHERE {</a:t>
            </a:r>
          </a:p>
          <a:p>
            <a:pPr marL="0" indent="0">
              <a:buNone/>
            </a:pPr>
            <a:r>
              <a:rPr lang="en-US" altLang="ko-KR" sz="1000" dirty="0"/>
              <a:t>    </a:t>
            </a:r>
            <a:r>
              <a:rPr lang="en-US" altLang="ko-KR" sz="1000" dirty="0" smtClean="0"/>
              <a:t>?</a:t>
            </a:r>
            <a:r>
              <a:rPr lang="en-US" altLang="ko-KR" sz="1000" dirty="0"/>
              <a:t>sub ?</a:t>
            </a:r>
            <a:r>
              <a:rPr lang="en-US" altLang="ko-KR" sz="1000" dirty="0" err="1"/>
              <a:t>pred</a:t>
            </a:r>
            <a:r>
              <a:rPr lang="en-US" altLang="ko-KR" sz="1000" dirty="0"/>
              <a:t> ?</a:t>
            </a:r>
            <a:r>
              <a:rPr lang="en-US" altLang="ko-KR" sz="1000" dirty="0" err="1"/>
              <a:t>obj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} </a:t>
            </a:r>
            <a:r>
              <a:rPr lang="en-US" altLang="ko-KR" sz="1000" dirty="0"/>
              <a:t>LIMIT 10</a:t>
            </a:r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아래에 있는 </a:t>
            </a:r>
            <a:r>
              <a:rPr lang="en-US" altLang="ko-KR" sz="1000" dirty="0" smtClean="0"/>
              <a:t>5</a:t>
            </a:r>
            <a:r>
              <a:rPr lang="ko-KR" altLang="en-US" sz="1000" dirty="0" smtClean="0"/>
              <a:t>종류의 </a:t>
            </a:r>
            <a:r>
              <a:rPr lang="en-US" altLang="ko-KR" sz="1000" dirty="0" err="1" smtClean="0"/>
              <a:t>SPARQL</a:t>
            </a:r>
            <a:r>
              <a:rPr lang="ko-KR" altLang="en-US" sz="1000" dirty="0" smtClean="0"/>
              <a:t>로 데이터 검색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cd /home/user/Desktop/materials/</a:t>
            </a:r>
            <a:r>
              <a:rPr lang="en-US" altLang="ko-KR" sz="1000" dirty="0" err="1" smtClean="0"/>
              <a:t>part3</a:t>
            </a:r>
            <a:r>
              <a:rPr lang="en-US" altLang="ko-KR" sz="1000" dirty="0" smtClean="0"/>
              <a:t>/03-01-04-</a:t>
            </a:r>
            <a:r>
              <a:rPr lang="en-US" altLang="ko-KR" sz="1000" dirty="0" err="1" smtClean="0"/>
              <a:t>fuseki</a:t>
            </a: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- </a:t>
            </a:r>
            <a:r>
              <a:rPr lang="ko-KR" altLang="en-US" sz="1000" dirty="0" err="1"/>
              <a:t>강남역</a:t>
            </a:r>
            <a:r>
              <a:rPr lang="ko-KR" altLang="en-US" sz="1000" dirty="0"/>
              <a:t> </a:t>
            </a:r>
            <a:r>
              <a:rPr lang="en-US" altLang="ko-KR" sz="1000" dirty="0"/>
              <a:t>instance </a:t>
            </a:r>
            <a:r>
              <a:rPr lang="ko-KR" altLang="en-US" sz="1000" dirty="0"/>
              <a:t>출력</a:t>
            </a:r>
          </a:p>
          <a:p>
            <a:pPr marL="0" indent="0">
              <a:buNone/>
            </a:pPr>
            <a:r>
              <a:rPr lang="en-US" altLang="ko-KR" sz="1000" dirty="0" smtClean="0"/>
              <a:t>01-query-</a:t>
            </a:r>
            <a:r>
              <a:rPr lang="en-US" altLang="ko-KR" sz="1000" dirty="0" err="1" smtClean="0"/>
              <a:t>gangnam.txt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- </a:t>
            </a:r>
            <a:r>
              <a:rPr lang="ko-KR" altLang="en-US" sz="1000" dirty="0" err="1"/>
              <a:t>강남역의</a:t>
            </a:r>
            <a:r>
              <a:rPr lang="ko-KR" altLang="en-US" sz="1000" dirty="0"/>
              <a:t> </a:t>
            </a:r>
            <a:r>
              <a:rPr lang="ko-KR" altLang="en-US" sz="1000" dirty="0" err="1"/>
              <a:t>교통상황과</a:t>
            </a:r>
            <a:r>
              <a:rPr lang="ko-KR" altLang="en-US" sz="1000" dirty="0"/>
              <a:t> 인구 상황을 출력</a:t>
            </a:r>
          </a:p>
          <a:p>
            <a:pPr marL="0" indent="0">
              <a:buNone/>
            </a:pPr>
            <a:r>
              <a:rPr lang="en-US" altLang="ko-KR" sz="1000" dirty="0" smtClean="0"/>
              <a:t>02-query-</a:t>
            </a:r>
            <a:r>
              <a:rPr lang="en-US" altLang="ko-KR" sz="1000" dirty="0" err="1" smtClean="0"/>
              <a:t>gangnam</a:t>
            </a:r>
            <a:r>
              <a:rPr lang="en-US" altLang="ko-KR" sz="1000" dirty="0" smtClean="0"/>
              <a:t>-</a:t>
            </a:r>
            <a:r>
              <a:rPr lang="en-US" altLang="ko-KR" sz="1000" dirty="0" err="1" smtClean="0"/>
              <a:t>status.txt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- </a:t>
            </a:r>
            <a:r>
              <a:rPr lang="ko-KR" altLang="en-US" sz="1000" dirty="0" err="1"/>
              <a:t>강남역의</a:t>
            </a:r>
            <a:r>
              <a:rPr lang="ko-KR" altLang="en-US" sz="1000" dirty="0"/>
              <a:t> 상태 값을 </a:t>
            </a:r>
            <a:r>
              <a:rPr lang="ko-KR" altLang="en-US" sz="1000" dirty="0" err="1"/>
              <a:t>교통상태</a:t>
            </a:r>
            <a:r>
              <a:rPr lang="en-US" altLang="ko-KR" sz="1000" dirty="0"/>
              <a:t>, </a:t>
            </a:r>
            <a:r>
              <a:rPr lang="ko-KR" altLang="en-US" sz="1000" dirty="0" err="1"/>
              <a:t>인구상태로</a:t>
            </a:r>
            <a:r>
              <a:rPr lang="ko-KR" altLang="en-US" sz="1000" dirty="0"/>
              <a:t> 나눠서 각각 출력</a:t>
            </a:r>
          </a:p>
          <a:p>
            <a:pPr marL="0" indent="0">
              <a:buNone/>
            </a:pPr>
            <a:r>
              <a:rPr lang="en-US" altLang="ko-KR" sz="1000" dirty="0" smtClean="0"/>
              <a:t>03-query-</a:t>
            </a:r>
            <a:r>
              <a:rPr lang="en-US" altLang="ko-KR" sz="1000" dirty="0" err="1" smtClean="0"/>
              <a:t>gangnam</a:t>
            </a:r>
            <a:r>
              <a:rPr lang="en-US" altLang="ko-KR" sz="1000" dirty="0" smtClean="0"/>
              <a:t>-complex-</a:t>
            </a:r>
            <a:r>
              <a:rPr lang="en-US" altLang="ko-KR" sz="1000" dirty="0" err="1" smtClean="0"/>
              <a:t>status.txt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- </a:t>
            </a:r>
            <a:r>
              <a:rPr lang="ko-KR" altLang="en-US" sz="1000" dirty="0" err="1"/>
              <a:t>강남역에</a:t>
            </a:r>
            <a:r>
              <a:rPr lang="ko-KR" altLang="en-US" sz="1000" dirty="0"/>
              <a:t> 연결되어 있는 주차장 정보 출력</a:t>
            </a:r>
          </a:p>
          <a:p>
            <a:pPr marL="0" indent="0">
              <a:buNone/>
            </a:pPr>
            <a:r>
              <a:rPr lang="en-US" altLang="ko-KR" sz="1000" dirty="0" smtClean="0"/>
              <a:t>04-query-</a:t>
            </a:r>
            <a:r>
              <a:rPr lang="en-US" altLang="ko-KR" sz="1000" dirty="0" err="1" smtClean="0"/>
              <a:t>parkinglot.txt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- </a:t>
            </a:r>
            <a:r>
              <a:rPr lang="ko-KR" altLang="en-US" sz="1000" dirty="0" err="1"/>
              <a:t>강남역에</a:t>
            </a:r>
            <a:r>
              <a:rPr lang="ko-KR" altLang="en-US" sz="1000" dirty="0"/>
              <a:t> 연결되어 있는 주차장 및 주차장 내의 충전기 정보 출력</a:t>
            </a:r>
          </a:p>
          <a:p>
            <a:pPr marL="0" indent="0">
              <a:buNone/>
            </a:pPr>
            <a:r>
              <a:rPr lang="en-US" altLang="ko-KR" sz="1000" dirty="0" smtClean="0"/>
              <a:t>05-query-</a:t>
            </a:r>
            <a:r>
              <a:rPr lang="en-US" altLang="ko-KR" sz="1000" dirty="0" err="1" smtClean="0"/>
              <a:t>parkinglot</a:t>
            </a:r>
            <a:r>
              <a:rPr lang="en-US" altLang="ko-KR" sz="1000" dirty="0" smtClean="0"/>
              <a:t>-</a:t>
            </a:r>
            <a:r>
              <a:rPr lang="en-US" altLang="ko-KR" sz="1000" dirty="0" err="1" smtClean="0"/>
              <a:t>evcharger.txt</a:t>
            </a:r>
            <a:endParaRPr lang="en-US" altLang="ko-KR" sz="1000" dirty="0" smtClean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821" y="1539312"/>
            <a:ext cx="4320000" cy="469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09948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4.3 </a:t>
            </a:r>
            <a:r>
              <a:rPr lang="ko-KR" altLang="en-US" dirty="0" smtClean="0"/>
              <a:t>추천 시스템 개발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smtClean="0"/>
              <a:t>Python (</a:t>
            </a:r>
            <a:r>
              <a:rPr lang="en-US" altLang="ko-KR" sz="1800" dirty="0" err="1" smtClean="0"/>
              <a:t>LangChain</a:t>
            </a:r>
            <a:r>
              <a:rPr lang="en-US" altLang="ko-KR" sz="1800" dirty="0" smtClean="0"/>
              <a:t>)</a:t>
            </a:r>
            <a:r>
              <a:rPr lang="ko-KR" altLang="en-US" sz="1800" dirty="0" smtClean="0"/>
              <a:t> 어플리케이션을 이용해 </a:t>
            </a:r>
            <a:r>
              <a:rPr lang="en-US" altLang="ko-KR" sz="1800" dirty="0" err="1" smtClean="0"/>
              <a:t>Fuseki</a:t>
            </a:r>
            <a:r>
              <a:rPr lang="ko-KR" altLang="en-US" sz="1800" dirty="0" smtClean="0"/>
              <a:t>와 </a:t>
            </a:r>
            <a:r>
              <a:rPr lang="en-US" altLang="ko-KR" sz="1800" dirty="0" err="1" smtClean="0"/>
              <a:t>Ollama</a:t>
            </a:r>
            <a:r>
              <a:rPr lang="ko-KR" altLang="en-US" sz="1800" dirty="0" smtClean="0"/>
              <a:t>를 연동하여 추천 시스템을 개발한다</a:t>
            </a:r>
            <a:r>
              <a:rPr lang="en-US" altLang="ko-KR" sz="1800" dirty="0" smtClean="0"/>
              <a:t>.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smtClean="0"/>
              <a:t>Python </a:t>
            </a:r>
            <a:r>
              <a:rPr lang="ko-KR" altLang="en-US" sz="1000" dirty="0" smtClean="0"/>
              <a:t>환경 설정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cd </a:t>
            </a:r>
            <a:r>
              <a:rPr lang="en-US" altLang="ko-KR" sz="1000" dirty="0"/>
              <a:t>/home/user/Desktop/materials/</a:t>
            </a:r>
            <a:r>
              <a:rPr lang="en-US" altLang="ko-KR" sz="1000" dirty="0" err="1"/>
              <a:t>part3</a:t>
            </a:r>
            <a:r>
              <a:rPr lang="en-US" altLang="ko-KR" sz="1000" dirty="0"/>
              <a:t>/03-02</a:t>
            </a:r>
          </a:p>
          <a:p>
            <a:pPr marL="0" indent="0">
              <a:buNone/>
            </a:pPr>
            <a:r>
              <a:rPr lang="en-US" altLang="ko-KR" sz="1000" dirty="0" err="1" smtClean="0"/>
              <a:t>python3</a:t>
            </a:r>
            <a:r>
              <a:rPr lang="en-US" altLang="ko-KR" sz="1000" dirty="0" smtClean="0"/>
              <a:t> </a:t>
            </a:r>
            <a:r>
              <a:rPr lang="en-US" altLang="ko-KR" sz="1000" dirty="0"/>
              <a:t>-m </a:t>
            </a:r>
            <a:r>
              <a:rPr lang="en-US" altLang="ko-KR" sz="1000" dirty="0" err="1"/>
              <a:t>venv</a:t>
            </a:r>
            <a:r>
              <a:rPr lang="en-US" altLang="ko-KR" sz="1000" dirty="0"/>
              <a:t> ~/</a:t>
            </a:r>
            <a:r>
              <a:rPr lang="en-US" altLang="ko-KR" sz="1000" dirty="0" err="1"/>
              <a:t>venv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source </a:t>
            </a:r>
            <a:r>
              <a:rPr lang="en-US" altLang="ko-KR" sz="1000" dirty="0"/>
              <a:t>~/</a:t>
            </a:r>
            <a:r>
              <a:rPr lang="en-US" altLang="ko-KR" sz="1000" dirty="0" err="1"/>
              <a:t>venv</a:t>
            </a:r>
            <a:r>
              <a:rPr lang="en-US" altLang="ko-KR" sz="1000" dirty="0"/>
              <a:t>/bin/activate </a:t>
            </a:r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 smtClean="0"/>
              <a:t>pip3</a:t>
            </a:r>
            <a:r>
              <a:rPr lang="en-US" altLang="ko-KR" sz="1000" dirty="0" smtClean="0"/>
              <a:t> </a:t>
            </a:r>
            <a:r>
              <a:rPr lang="en-US" altLang="ko-KR" sz="1000" dirty="0"/>
              <a:t>install -r </a:t>
            </a:r>
            <a:r>
              <a:rPr lang="en-US" altLang="ko-KR" sz="1000" dirty="0" err="1"/>
              <a:t>requirements.txt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추천 어플리케이션 실행</a:t>
            </a:r>
            <a:r>
              <a:rPr lang="en-US" altLang="ko-KR" sz="1000" dirty="0" smtClean="0"/>
              <a:t>    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 smtClean="0"/>
              <a:t>python3</a:t>
            </a:r>
            <a:r>
              <a:rPr lang="en-US" altLang="ko-KR" sz="1000" dirty="0" smtClean="0"/>
              <a:t> rag/</a:t>
            </a:r>
            <a:r>
              <a:rPr lang="en-US" altLang="ko-KR" sz="1000" dirty="0" err="1" smtClean="0"/>
              <a:t>rag_traffic.py</a:t>
            </a: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- </a:t>
            </a:r>
            <a:r>
              <a:rPr lang="ko-KR" altLang="en-US" sz="1000" dirty="0" smtClean="0"/>
              <a:t>질문 입력란에</a:t>
            </a:r>
            <a:r>
              <a:rPr lang="en-US" altLang="ko-KR" sz="1000" dirty="0"/>
              <a:t> </a:t>
            </a:r>
            <a:r>
              <a:rPr lang="ko-KR" altLang="en-US" sz="1000" dirty="0" smtClean="0"/>
              <a:t>아래 문구 입력 후 </a:t>
            </a:r>
            <a:r>
              <a:rPr lang="en-US" altLang="ko-KR" sz="1000" dirty="0" smtClean="0"/>
              <a:t>Enter</a:t>
            </a:r>
          </a:p>
          <a:p>
            <a:pPr marL="0" indent="0">
              <a:buNone/>
            </a:pPr>
            <a:r>
              <a:rPr lang="ko-KR" altLang="en-US" sz="1000" dirty="0" err="1" smtClean="0"/>
              <a:t>강남역의</a:t>
            </a:r>
            <a:r>
              <a:rPr lang="ko-KR" altLang="en-US" sz="1000" dirty="0" smtClean="0"/>
              <a:t> </a:t>
            </a:r>
            <a:r>
              <a:rPr lang="ko-KR" altLang="en-US" sz="1000" dirty="0" err="1" smtClean="0"/>
              <a:t>교통정보를</a:t>
            </a:r>
            <a:r>
              <a:rPr lang="ko-KR" altLang="en-US" sz="1000" dirty="0" smtClean="0"/>
              <a:t> </a:t>
            </a:r>
            <a:r>
              <a:rPr lang="ko-KR" altLang="en-US" sz="1000" dirty="0" err="1" smtClean="0"/>
              <a:t>알려줘</a:t>
            </a:r>
            <a:endParaRPr lang="en-US" altLang="ko-KR" sz="1000" dirty="0" smtClean="0"/>
          </a:p>
          <a:p>
            <a:pPr marL="0" indent="0">
              <a:buNone/>
            </a:pP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/>
              <a:t>실행 결과 해석 </a:t>
            </a:r>
            <a:r>
              <a:rPr lang="en-US" altLang="ko-KR" sz="1000" dirty="0"/>
              <a:t>: </a:t>
            </a:r>
            <a:r>
              <a:rPr lang="ko-KR" altLang="en-US" sz="1000" dirty="0"/>
              <a:t>데이터 처리 흐름</a:t>
            </a:r>
          </a:p>
          <a:p>
            <a:pPr marL="0" indent="0">
              <a:buNone/>
            </a:pPr>
            <a:r>
              <a:rPr lang="en-US" altLang="ko-KR" sz="1000" dirty="0" smtClean="0"/>
              <a:t>. </a:t>
            </a:r>
            <a:r>
              <a:rPr lang="en-US" altLang="ko-KR" sz="1000" dirty="0"/>
              <a:t>"</a:t>
            </a:r>
            <a:r>
              <a:rPr lang="ko-KR" altLang="en-US" sz="1000" dirty="0" err="1"/>
              <a:t>강남역의</a:t>
            </a:r>
            <a:r>
              <a:rPr lang="ko-KR" altLang="en-US" sz="1000" dirty="0"/>
              <a:t> </a:t>
            </a:r>
            <a:r>
              <a:rPr lang="ko-KR" altLang="en-US" sz="1000" dirty="0" err="1"/>
              <a:t>교통정보를</a:t>
            </a:r>
            <a:r>
              <a:rPr lang="ko-KR" altLang="en-US" sz="1000" dirty="0"/>
              <a:t> </a:t>
            </a:r>
            <a:r>
              <a:rPr lang="ko-KR" altLang="en-US" sz="1000" dirty="0" err="1"/>
              <a:t>알려줘</a:t>
            </a:r>
            <a:r>
              <a:rPr lang="en-US" altLang="ko-KR" sz="1000" dirty="0"/>
              <a:t>" </a:t>
            </a:r>
            <a:r>
              <a:rPr lang="ko-KR" altLang="en-US" sz="1000" dirty="0"/>
              <a:t>라는 질문에 대해 </a:t>
            </a:r>
            <a:r>
              <a:rPr lang="en-US" altLang="ko-KR" sz="1000" dirty="0" err="1"/>
              <a:t>LLM</a:t>
            </a:r>
            <a:r>
              <a:rPr lang="en-US" altLang="ko-KR" sz="1000" dirty="0"/>
              <a:t> </a:t>
            </a:r>
            <a:r>
              <a:rPr lang="ko-KR" altLang="en-US" sz="1000" dirty="0"/>
              <a:t>이 분석</a:t>
            </a:r>
          </a:p>
          <a:p>
            <a:pPr marL="0" indent="0">
              <a:buNone/>
            </a:pPr>
            <a:r>
              <a:rPr lang="en-US" altLang="ko-KR" sz="1000" dirty="0" smtClean="0"/>
              <a:t>. </a:t>
            </a:r>
            <a:r>
              <a:rPr lang="en-US" altLang="ko-KR" sz="1000" dirty="0" err="1"/>
              <a:t>LLM</a:t>
            </a:r>
            <a:r>
              <a:rPr lang="ko-KR" altLang="en-US" sz="1000" dirty="0"/>
              <a:t>이 해당 질문을 </a:t>
            </a:r>
            <a:r>
              <a:rPr lang="en-US" altLang="ko-KR" sz="1000" dirty="0" err="1"/>
              <a:t>SPARQL</a:t>
            </a:r>
            <a:r>
              <a:rPr lang="ko-KR" altLang="en-US" sz="1000" dirty="0"/>
              <a:t>로 변경</a:t>
            </a:r>
          </a:p>
          <a:p>
            <a:pPr marL="0" indent="0">
              <a:buNone/>
            </a:pPr>
            <a:r>
              <a:rPr lang="en-US" altLang="ko-KR" sz="1000" dirty="0" smtClean="0"/>
              <a:t>. </a:t>
            </a:r>
            <a:r>
              <a:rPr lang="ko-KR" altLang="en-US" sz="1000" dirty="0"/>
              <a:t>생성된 </a:t>
            </a:r>
            <a:r>
              <a:rPr lang="en-US" altLang="ko-KR" sz="1000" dirty="0" err="1"/>
              <a:t>SPARQL</a:t>
            </a:r>
            <a:r>
              <a:rPr lang="ko-KR" altLang="en-US" sz="1000" dirty="0"/>
              <a:t>을 </a:t>
            </a:r>
            <a:r>
              <a:rPr lang="en-US" altLang="ko-KR" sz="1000" dirty="0"/>
              <a:t>Apache </a:t>
            </a:r>
            <a:r>
              <a:rPr lang="en-US" altLang="ko-KR" sz="1000" dirty="0" err="1"/>
              <a:t>Fuseki</a:t>
            </a:r>
            <a:r>
              <a:rPr lang="en-US" altLang="ko-KR" sz="1000" dirty="0"/>
              <a:t> </a:t>
            </a:r>
            <a:r>
              <a:rPr lang="ko-KR" altLang="en-US" sz="1000" dirty="0"/>
              <a:t>서버에 질의</a:t>
            </a:r>
          </a:p>
          <a:p>
            <a:pPr marL="0" indent="0">
              <a:buNone/>
            </a:pPr>
            <a:r>
              <a:rPr lang="en-US" altLang="ko-KR" sz="1000" dirty="0" smtClean="0"/>
              <a:t>. </a:t>
            </a:r>
            <a:r>
              <a:rPr lang="en-US" altLang="ko-KR" sz="1000" dirty="0" err="1"/>
              <a:t>Fuseki</a:t>
            </a:r>
            <a:r>
              <a:rPr lang="en-US" altLang="ko-KR" sz="1000" dirty="0"/>
              <a:t> </a:t>
            </a:r>
            <a:r>
              <a:rPr lang="ko-KR" altLang="en-US" sz="1000" dirty="0"/>
              <a:t>서버 질의 결과를 </a:t>
            </a:r>
            <a:r>
              <a:rPr lang="en-US" altLang="ko-KR" sz="1000" dirty="0" err="1"/>
              <a:t>LLM</a:t>
            </a:r>
            <a:r>
              <a:rPr lang="ko-KR" altLang="en-US" sz="1000" dirty="0"/>
              <a:t>을 이용해서 자연어로 정리</a:t>
            </a:r>
          </a:p>
          <a:p>
            <a:pPr marL="0" indent="0">
              <a:buNone/>
            </a:pPr>
            <a:r>
              <a:rPr lang="en-US" altLang="ko-KR" sz="1000" dirty="0" smtClean="0"/>
              <a:t>. </a:t>
            </a:r>
            <a:r>
              <a:rPr lang="ko-KR" altLang="en-US" sz="1000" dirty="0"/>
              <a:t>결과 리턴</a:t>
            </a:r>
            <a:endParaRPr lang="en-US" altLang="ko-KR" sz="100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/>
          <a:srcRect r="31182"/>
          <a:stretch/>
        </p:blipFill>
        <p:spPr>
          <a:xfrm>
            <a:off x="4601417" y="1412875"/>
            <a:ext cx="5040560" cy="495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436222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4"/>
          <p:cNvGrpSpPr>
            <a:grpSpLocks/>
          </p:cNvGrpSpPr>
          <p:nvPr/>
        </p:nvGrpSpPr>
        <p:grpSpPr bwMode="auto">
          <a:xfrm>
            <a:off x="-15875" y="1905000"/>
            <a:ext cx="9399588" cy="533400"/>
            <a:chOff x="0" y="768"/>
            <a:chExt cx="3870" cy="48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126" name="Rectangle 5"/>
            <p:cNvSpPr>
              <a:spLocks noChangeArrowheads="1"/>
            </p:cNvSpPr>
            <p:nvPr/>
          </p:nvSpPr>
          <p:spPr bwMode="auto">
            <a:xfrm>
              <a:off x="0" y="768"/>
              <a:ext cx="3630" cy="48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  <p:sp>
          <p:nvSpPr>
            <p:cNvPr id="5127" name="AutoShape 6"/>
            <p:cNvSpPr>
              <a:spLocks noChangeArrowheads="1"/>
            </p:cNvSpPr>
            <p:nvPr/>
          </p:nvSpPr>
          <p:spPr bwMode="auto">
            <a:xfrm>
              <a:off x="2640" y="768"/>
              <a:ext cx="1230" cy="48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defRPr kumimoji="1" sz="2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4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endParaRPr lang="ko-KR" altLang="en-US" sz="1600">
                <a:solidFill>
                  <a:schemeClr val="bg1"/>
                </a:solidFill>
                <a:latin typeface="HY울릉도M" pitchFamily="18" charset="-127"/>
                <a:ea typeface="HY울릉도M" pitchFamily="18" charset="-127"/>
              </a:endParaRPr>
            </a:p>
          </p:txBody>
        </p:sp>
      </p:grpSp>
      <p:sp>
        <p:nvSpPr>
          <p:cNvPr id="5123" name="AutoShape 7"/>
          <p:cNvSpPr>
            <a:spLocks noChangeArrowheads="1"/>
          </p:cNvSpPr>
          <p:nvPr/>
        </p:nvSpPr>
        <p:spPr bwMode="auto">
          <a:xfrm>
            <a:off x="3490913" y="1943100"/>
            <a:ext cx="3749675" cy="457200"/>
          </a:xfrm>
          <a:prstGeom prst="bevel">
            <a:avLst>
              <a:gd name="adj" fmla="val 12500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latinLnBrk="0" hangingPunct="1">
              <a:spcBef>
                <a:spcPct val="0"/>
              </a:spcBef>
            </a:pPr>
            <a:r>
              <a:rPr kumimoji="0" lang="ko-KR" altLang="en-US" sz="3200" b="1" smtClean="0">
                <a:solidFill>
                  <a:schemeClr val="bg1"/>
                </a:solidFill>
              </a:rPr>
              <a:t>추천 시스템 개발</a:t>
            </a:r>
            <a:endParaRPr kumimoji="0" lang="en-US" altLang="ko-KR" sz="3200" b="1" dirty="0">
              <a:solidFill>
                <a:schemeClr val="bg1"/>
              </a:solidFill>
            </a:endParaRPr>
          </a:p>
        </p:txBody>
      </p:sp>
      <p:sp>
        <p:nvSpPr>
          <p:cNvPr id="5124" name="Rectangle 8"/>
          <p:cNvSpPr>
            <a:spLocks noChangeArrowheads="1"/>
          </p:cNvSpPr>
          <p:nvPr/>
        </p:nvSpPr>
        <p:spPr bwMode="auto">
          <a:xfrm>
            <a:off x="1577975" y="1219200"/>
            <a:ext cx="1377950" cy="2057400"/>
          </a:xfrm>
          <a:prstGeom prst="rect">
            <a:avLst/>
          </a:prstGeom>
          <a:noFill/>
          <a:ln>
            <a:noFill/>
          </a:ln>
          <a:effectLst>
            <a:outerShdw dist="71842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ko-KR" sz="14000" i="1" dirty="0" smtClean="0">
                <a:solidFill>
                  <a:srgbClr val="FF0000"/>
                </a:solidFill>
                <a:latin typeface="Arial Black" pitchFamily="34" charset="0"/>
                <a:ea typeface="HY견고딕" pitchFamily="18" charset="-127"/>
              </a:rPr>
              <a:t>5</a:t>
            </a:r>
            <a:endParaRPr lang="en-US" altLang="ko-KR" sz="14000" i="1" dirty="0">
              <a:solidFill>
                <a:srgbClr val="FF0000"/>
              </a:solidFill>
              <a:latin typeface="Arial Black" pitchFamily="34" charset="0"/>
              <a:ea typeface="HY견고딕" pitchFamily="18" charset="-127"/>
            </a:endParaRPr>
          </a:p>
        </p:txBody>
      </p:sp>
      <p:sp>
        <p:nvSpPr>
          <p:cNvPr id="5125" name="Text Box 9"/>
          <p:cNvSpPr txBox="1">
            <a:spLocks noChangeArrowheads="1"/>
          </p:cNvSpPr>
          <p:nvPr/>
        </p:nvSpPr>
        <p:spPr bwMode="auto">
          <a:xfrm>
            <a:off x="3414713" y="2667000"/>
            <a:ext cx="6237287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defRPr kumimoji="1" sz="2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2.1 </a:t>
            </a:r>
            <a:r>
              <a:rPr kumimoji="0" lang="en-US" altLang="ko-KR" b="1" dirty="0" smtClean="0"/>
              <a:t>..</a:t>
            </a:r>
            <a:endParaRPr kumimoji="0" lang="en-US" altLang="ko-KR" b="1" dirty="0"/>
          </a:p>
          <a:p>
            <a:pPr lvl="1" eaLnBrk="1" latinLnBrk="0" hangingPunct="1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kumimoji="0" lang="en-US" altLang="ko-KR" b="1" dirty="0"/>
              <a:t>2.2 </a:t>
            </a:r>
            <a:r>
              <a:rPr kumimoji="0" lang="en-US" altLang="ko-KR" b="1" dirty="0" smtClean="0"/>
              <a:t>..</a:t>
            </a:r>
            <a:endParaRPr kumimoji="0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86586747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5.1 </a:t>
            </a:r>
            <a:r>
              <a:rPr lang="ko-KR" altLang="en-US" dirty="0" smtClean="0"/>
              <a:t>추천 시스템 아키텍처 흐름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800" dirty="0" smtClean="0"/>
              <a:t>서울시 </a:t>
            </a:r>
            <a:r>
              <a:rPr lang="ko-KR" altLang="en-US" sz="1800" dirty="0" err="1" smtClean="0"/>
              <a:t>공공데이터를</a:t>
            </a:r>
            <a:r>
              <a:rPr lang="ko-KR" altLang="en-US" sz="1800" dirty="0" smtClean="0"/>
              <a:t> 이용한 추천 시스템을 개발한다</a:t>
            </a:r>
            <a:r>
              <a:rPr lang="en-US" altLang="ko-KR" sz="1800" dirty="0" smtClean="0"/>
              <a:t>.</a:t>
            </a:r>
          </a:p>
          <a:p>
            <a:pPr>
              <a:buFontTx/>
              <a:buChar char="•"/>
            </a:pPr>
            <a:r>
              <a:rPr lang="ko-KR" altLang="en-US" sz="1800" dirty="0" smtClean="0"/>
              <a:t>앞서 사용한 </a:t>
            </a:r>
            <a:r>
              <a:rPr lang="en-US" altLang="ko-KR" sz="1800" dirty="0" err="1" smtClean="0"/>
              <a:t>Protege</a:t>
            </a:r>
            <a:r>
              <a:rPr lang="en-US" altLang="ko-KR" sz="1800" dirty="0" smtClean="0"/>
              <a:t>, </a:t>
            </a:r>
            <a:r>
              <a:rPr lang="en-US" altLang="ko-KR" sz="1800" dirty="0" err="1" smtClean="0"/>
              <a:t>Fuseki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정보를 활용한다</a:t>
            </a:r>
            <a:r>
              <a:rPr lang="en-US" altLang="ko-KR" sz="1800" dirty="0" smtClean="0"/>
              <a:t>.</a:t>
            </a: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  <p:sp>
        <p:nvSpPr>
          <p:cNvPr id="2" name="직사각형 1"/>
          <p:cNvSpPr/>
          <p:nvPr/>
        </p:nvSpPr>
        <p:spPr>
          <a:xfrm>
            <a:off x="768226" y="3356992"/>
            <a:ext cx="9144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실시간 데이터 수집</a:t>
            </a:r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300798" y="3356992"/>
            <a:ext cx="9144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altLang="ko-KR" sz="1000" dirty="0" err="1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ETL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처리</a:t>
            </a:r>
            <a:endParaRPr lang="en-US" altLang="ko-KR" sz="1000" dirty="0" smtClean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/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(Triple Store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적재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833370" y="3356992"/>
            <a:ext cx="9144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실시간 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Knowledge Graph </a:t>
            </a:r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저장</a:t>
            </a:r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365942" y="3356992"/>
            <a:ext cx="9144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en-US" altLang="ko-KR" sz="1000" dirty="0" err="1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SPARQL</a:t>
            </a:r>
            <a:r>
              <a:rPr lang="en-US" altLang="ko-KR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 </a:t>
            </a:r>
          </a:p>
          <a:p>
            <a:pPr algn="ctr"/>
            <a:r>
              <a:rPr lang="ko-KR" altLang="en-US" sz="1000" dirty="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템플릿 선택</a:t>
            </a:r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6898514" y="3356992"/>
            <a:ext cx="9144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쿼리 실행</a:t>
            </a:r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8431088" y="3356992"/>
            <a:ext cx="9144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결과 반환</a:t>
            </a:r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4" name="직선 화살표 연결선 3"/>
          <p:cNvCxnSpPr>
            <a:stCxn id="2" idx="3"/>
            <a:endCxn id="5" idx="1"/>
          </p:cNvCxnSpPr>
          <p:nvPr/>
        </p:nvCxnSpPr>
        <p:spPr>
          <a:xfrm>
            <a:off x="1682626" y="3814192"/>
            <a:ext cx="6181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/>
          <p:cNvCxnSpPr>
            <a:stCxn id="5" idx="3"/>
            <a:endCxn id="6" idx="1"/>
          </p:cNvCxnSpPr>
          <p:nvPr/>
        </p:nvCxnSpPr>
        <p:spPr>
          <a:xfrm>
            <a:off x="3215198" y="3814192"/>
            <a:ext cx="6181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>
            <a:stCxn id="6" idx="3"/>
            <a:endCxn id="7" idx="1"/>
          </p:cNvCxnSpPr>
          <p:nvPr/>
        </p:nvCxnSpPr>
        <p:spPr>
          <a:xfrm>
            <a:off x="4747770" y="3814192"/>
            <a:ext cx="6181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/>
          <p:cNvCxnSpPr>
            <a:stCxn id="7" idx="3"/>
            <a:endCxn id="8" idx="1"/>
          </p:cNvCxnSpPr>
          <p:nvPr/>
        </p:nvCxnSpPr>
        <p:spPr>
          <a:xfrm>
            <a:off x="6280342" y="3814192"/>
            <a:ext cx="6181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>
            <a:stCxn id="8" idx="3"/>
            <a:endCxn id="9" idx="1"/>
          </p:cNvCxnSpPr>
          <p:nvPr/>
        </p:nvCxnSpPr>
        <p:spPr>
          <a:xfrm>
            <a:off x="7812914" y="3814192"/>
            <a:ext cx="61817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448681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5.2 </a:t>
            </a:r>
            <a:r>
              <a:rPr lang="ko-KR" altLang="en-US" dirty="0" smtClean="0"/>
              <a:t>실시간 데이터 수집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400" dirty="0" smtClean="0"/>
              <a:t>서울시 공공 데이터 이용 </a:t>
            </a:r>
            <a:r>
              <a:rPr lang="en-US" altLang="ko-KR" sz="1400" dirty="0" smtClean="0"/>
              <a:t>-&gt; OPEN API </a:t>
            </a:r>
            <a:r>
              <a:rPr lang="ko-KR" altLang="en-US" sz="1400" dirty="0" smtClean="0"/>
              <a:t>연동을 위한 </a:t>
            </a:r>
            <a:r>
              <a:rPr lang="en-US" altLang="ko-KR" sz="1400" dirty="0" smtClean="0"/>
              <a:t>KEY </a:t>
            </a:r>
            <a:r>
              <a:rPr lang="ko-KR" altLang="en-US" sz="1400" dirty="0" smtClean="0"/>
              <a:t>발급 필요</a:t>
            </a:r>
            <a:endParaRPr lang="en-US" altLang="ko-KR" sz="1400" dirty="0" smtClean="0"/>
          </a:p>
          <a:p>
            <a:pPr>
              <a:buFontTx/>
              <a:buChar char="•"/>
            </a:pPr>
            <a:r>
              <a:rPr lang="ko-KR" altLang="en-US" sz="1400" dirty="0"/>
              <a:t>서울시 실시간 도시 데이터 </a:t>
            </a:r>
            <a:r>
              <a:rPr lang="en-US" altLang="ko-KR" sz="1400" dirty="0"/>
              <a:t>: https://</a:t>
            </a:r>
            <a:r>
              <a:rPr lang="en-US" altLang="ko-KR" sz="1400" dirty="0" err="1"/>
              <a:t>data.seoul.go.kr</a:t>
            </a:r>
            <a:r>
              <a:rPr lang="en-US" altLang="ko-KR" sz="1400" dirty="0"/>
              <a:t>/</a:t>
            </a:r>
            <a:r>
              <a:rPr lang="en-US" altLang="ko-KR" sz="1400" dirty="0" err="1"/>
              <a:t>SeoulRtd</a:t>
            </a:r>
            <a:r>
              <a:rPr lang="en-US" altLang="ko-KR" sz="1400" dirty="0" smtClean="0"/>
              <a:t>/ </a:t>
            </a:r>
            <a:r>
              <a:rPr lang="ko-KR" altLang="en-US" sz="1400" dirty="0" smtClean="0"/>
              <a:t>에 로그인 해서 개별적으로 </a:t>
            </a:r>
            <a:r>
              <a:rPr lang="en-US" altLang="ko-KR" sz="1400" dirty="0" smtClean="0"/>
              <a:t>KEY </a:t>
            </a:r>
            <a:r>
              <a:rPr lang="ko-KR" altLang="en-US" sz="1400" dirty="0" smtClean="0"/>
              <a:t>발급</a:t>
            </a:r>
            <a:endParaRPr lang="en-US" altLang="ko-KR" sz="1400" dirty="0" smtClean="0"/>
          </a:p>
          <a:p>
            <a:pPr>
              <a:buFontTx/>
              <a:buChar char="•"/>
            </a:pPr>
            <a:endParaRPr lang="en-US" altLang="ko-KR" sz="1400" dirty="0"/>
          </a:p>
          <a:p>
            <a:pPr marL="0" indent="0">
              <a:buNone/>
            </a:pPr>
            <a:r>
              <a:rPr lang="en-US" altLang="ko-KR" sz="1050" dirty="0" smtClean="0"/>
              <a:t># </a:t>
            </a:r>
            <a:r>
              <a:rPr lang="ko-KR" altLang="en-US" sz="1050" dirty="0" smtClean="0"/>
              <a:t>서울시 공공 데이터 </a:t>
            </a:r>
            <a:r>
              <a:rPr lang="en-US" altLang="ko-KR" sz="1050" dirty="0" smtClean="0"/>
              <a:t>API KEY </a:t>
            </a:r>
            <a:r>
              <a:rPr lang="ko-KR" altLang="en-US" sz="1050" dirty="0" smtClean="0"/>
              <a:t>발급 신청</a:t>
            </a:r>
            <a:endParaRPr lang="en-US" altLang="ko-KR" sz="105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528" y="1844824"/>
            <a:ext cx="4248472" cy="391638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64" y="1844824"/>
            <a:ext cx="4760631" cy="576064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4668932" y="2247852"/>
            <a:ext cx="540000" cy="1800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788" y="3150841"/>
            <a:ext cx="4768383" cy="2952328"/>
          </a:xfrm>
          <a:prstGeom prst="rect">
            <a:avLst/>
          </a:prstGeom>
        </p:spPr>
      </p:pic>
      <p:cxnSp>
        <p:nvCxnSpPr>
          <p:cNvPr id="9" name="꺾인 연결선 8"/>
          <p:cNvCxnSpPr>
            <a:stCxn id="7" idx="2"/>
            <a:endCxn id="12" idx="0"/>
          </p:cNvCxnSpPr>
          <p:nvPr/>
        </p:nvCxnSpPr>
        <p:spPr>
          <a:xfrm rot="5400000">
            <a:off x="3422148" y="2229660"/>
            <a:ext cx="1318593" cy="1714976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3043956" y="3746445"/>
            <a:ext cx="360000" cy="1800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793648" y="4641412"/>
            <a:ext cx="1728192" cy="3600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6" name="꺾인 연결선 15"/>
          <p:cNvCxnSpPr>
            <a:stCxn id="12" idx="3"/>
            <a:endCxn id="15" idx="1"/>
          </p:cNvCxnSpPr>
          <p:nvPr/>
        </p:nvCxnSpPr>
        <p:spPr>
          <a:xfrm>
            <a:off x="3403956" y="3836445"/>
            <a:ext cx="2389692" cy="984987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064561" y="2442374"/>
            <a:ext cx="15568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ctr"/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서울시 </a:t>
            </a:r>
            <a:r>
              <a:rPr lang="ko-KR" altLang="en-US" sz="1000" dirty="0" err="1" smtClean="0">
                <a:latin typeface="맑은 고딕" pitchFamily="50" charset="-127"/>
                <a:ea typeface="맑은 고딕" pitchFamily="50" charset="-127"/>
              </a:rPr>
              <a:t>도시데이터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 접속</a:t>
            </a:r>
            <a:endParaRPr lang="en-US" altLang="ko-KR" sz="1000" dirty="0" smtClean="0">
              <a:latin typeface="맑은 고딕" pitchFamily="50" charset="-127"/>
              <a:ea typeface="맑은 고딕" pitchFamily="50" charset="-127"/>
            </a:endParaRPr>
          </a:p>
          <a:p>
            <a:pPr marL="342900" indent="-342900" algn="ctr"/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1000" dirty="0" err="1" smtClean="0">
                <a:latin typeface="맑은 고딕" pitchFamily="50" charset="-127"/>
                <a:ea typeface="맑은 고딕" pitchFamily="50" charset="-127"/>
              </a:rPr>
              <a:t>회원가입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 및 로그인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)</a:t>
            </a:r>
            <a:endParaRPr lang="ko-KR" altLang="en-US" sz="1000" dirty="0" smtClean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128681" y="6135107"/>
            <a:ext cx="1428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ctr"/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인증키 신청화면 이동</a:t>
            </a:r>
            <a:endParaRPr lang="ko-KR" altLang="en-US" sz="1000" dirty="0" smtClean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092389" y="5805264"/>
            <a:ext cx="8707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ctr"/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인증키 신청</a:t>
            </a:r>
            <a:endParaRPr lang="ko-KR" altLang="en-US" sz="1000" dirty="0" smtClean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397222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5.3 </a:t>
            </a:r>
            <a:r>
              <a:rPr lang="ko-KR" altLang="en-US" dirty="0" smtClean="0"/>
              <a:t>수집 및 </a:t>
            </a:r>
            <a:r>
              <a:rPr lang="en-US" altLang="ko-KR" dirty="0" smtClean="0"/>
              <a:t>Triple Store </a:t>
            </a:r>
            <a:r>
              <a:rPr lang="ko-KR" altLang="en-US" dirty="0" smtClean="0"/>
              <a:t>저장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ko-KR" altLang="en-US" sz="1400" dirty="0" smtClean="0"/>
              <a:t>서울시 실시간 도시 데이터 연동</a:t>
            </a:r>
            <a:endParaRPr lang="en-US" altLang="ko-KR" sz="1400" dirty="0" smtClean="0"/>
          </a:p>
          <a:p>
            <a:pPr>
              <a:buFontTx/>
              <a:buChar char="•"/>
            </a:pPr>
            <a:r>
              <a:rPr lang="en-US" altLang="ko-KR" sz="1400" dirty="0" smtClean="0"/>
              <a:t>Python</a:t>
            </a:r>
            <a:r>
              <a:rPr lang="ko-KR" altLang="en-US" sz="1400" dirty="0" smtClean="0"/>
              <a:t>으로 </a:t>
            </a:r>
            <a:r>
              <a:rPr lang="en-US" altLang="ko-KR" sz="1400" dirty="0" smtClean="0"/>
              <a:t>Open API </a:t>
            </a:r>
            <a:r>
              <a:rPr lang="ko-KR" altLang="en-US" sz="1400" dirty="0" smtClean="0"/>
              <a:t>연동되도록 개발</a:t>
            </a:r>
            <a:endParaRPr lang="en-US" altLang="ko-KR" sz="1400" dirty="0" smtClean="0"/>
          </a:p>
          <a:p>
            <a:pPr>
              <a:buFontTx/>
              <a:buChar char="•"/>
            </a:pPr>
            <a:endParaRPr lang="en-US" altLang="ko-KR" sz="1400" dirty="0"/>
          </a:p>
          <a:p>
            <a:pPr marL="0" indent="0">
              <a:buNone/>
            </a:pPr>
            <a:r>
              <a:rPr lang="en-US" altLang="ko-KR" sz="1400" b="1" dirty="0" smtClean="0"/>
              <a:t>1. </a:t>
            </a:r>
            <a:r>
              <a:rPr lang="ko-KR" altLang="en-US" sz="1400" b="1" dirty="0" smtClean="0"/>
              <a:t>서울시 공공 데이터 </a:t>
            </a:r>
            <a:r>
              <a:rPr lang="en-US" altLang="ko-KR" sz="1400" b="1" dirty="0" smtClean="0"/>
              <a:t>Ontology</a:t>
            </a:r>
            <a:r>
              <a:rPr lang="ko-KR" altLang="en-US" sz="1400" b="1" dirty="0" smtClean="0"/>
              <a:t>에 반영</a:t>
            </a:r>
            <a:endParaRPr lang="en-US" altLang="ko-KR" sz="1400" b="1" dirty="0" smtClean="0"/>
          </a:p>
          <a:p>
            <a:pPr marL="0" indent="0">
              <a:buNone/>
            </a:pPr>
            <a:r>
              <a:rPr lang="en-US" altLang="ko-KR" sz="1050" dirty="0" smtClean="0"/>
              <a:t># Python </a:t>
            </a:r>
            <a:r>
              <a:rPr lang="ko-KR" altLang="en-US" sz="1050" dirty="0" smtClean="0"/>
              <a:t>환경 설정</a:t>
            </a:r>
            <a:endParaRPr lang="en-US" altLang="ko-KR" sz="1050" dirty="0" smtClean="0"/>
          </a:p>
          <a:p>
            <a:pPr marL="0" indent="0">
              <a:buNone/>
            </a:pPr>
            <a:r>
              <a:rPr lang="en-US" altLang="ko-KR" sz="1050" dirty="0" smtClean="0"/>
              <a:t>cd </a:t>
            </a:r>
            <a:r>
              <a:rPr lang="en-US" altLang="ko-KR" sz="1050" dirty="0"/>
              <a:t>/home/user/Desktop/materials/</a:t>
            </a:r>
            <a:r>
              <a:rPr lang="en-US" altLang="ko-KR" sz="1050" dirty="0" err="1"/>
              <a:t>part3</a:t>
            </a:r>
            <a:r>
              <a:rPr lang="en-US" altLang="ko-KR" sz="1050" dirty="0"/>
              <a:t>/03-03-04-ontology</a:t>
            </a:r>
          </a:p>
          <a:p>
            <a:pPr marL="0" indent="0">
              <a:buNone/>
            </a:pPr>
            <a:r>
              <a:rPr lang="en-US" altLang="ko-KR" sz="1050" dirty="0" err="1" smtClean="0"/>
              <a:t>python3</a:t>
            </a:r>
            <a:r>
              <a:rPr lang="en-US" altLang="ko-KR" sz="1050" dirty="0" smtClean="0"/>
              <a:t> </a:t>
            </a:r>
            <a:r>
              <a:rPr lang="en-US" altLang="ko-KR" sz="1050" dirty="0"/>
              <a:t>-m </a:t>
            </a:r>
            <a:r>
              <a:rPr lang="en-US" altLang="ko-KR" sz="1050" dirty="0" err="1"/>
              <a:t>venv</a:t>
            </a:r>
            <a:r>
              <a:rPr lang="en-US" altLang="ko-KR" sz="1050" dirty="0"/>
              <a:t> ~/</a:t>
            </a:r>
            <a:r>
              <a:rPr lang="en-US" altLang="ko-KR" sz="1050" dirty="0" err="1"/>
              <a:t>venv</a:t>
            </a:r>
            <a:endParaRPr lang="en-US" altLang="ko-KR" sz="1050" dirty="0"/>
          </a:p>
          <a:p>
            <a:pPr marL="0" indent="0">
              <a:buNone/>
            </a:pPr>
            <a:r>
              <a:rPr lang="en-US" altLang="ko-KR" sz="1050" dirty="0" smtClean="0"/>
              <a:t>source </a:t>
            </a:r>
            <a:r>
              <a:rPr lang="en-US" altLang="ko-KR" sz="1050" dirty="0"/>
              <a:t>~/</a:t>
            </a:r>
            <a:r>
              <a:rPr lang="en-US" altLang="ko-KR" sz="1050" dirty="0" err="1"/>
              <a:t>venv</a:t>
            </a:r>
            <a:r>
              <a:rPr lang="en-US" altLang="ko-KR" sz="1050" dirty="0"/>
              <a:t>/bin/activate </a:t>
            </a:r>
          </a:p>
          <a:p>
            <a:pPr marL="0" indent="0">
              <a:buNone/>
            </a:pPr>
            <a:r>
              <a:rPr lang="en-US" altLang="ko-KR" sz="1050" dirty="0" smtClean="0"/>
              <a:t>pip </a:t>
            </a:r>
            <a:r>
              <a:rPr lang="en-US" altLang="ko-KR" sz="1050" dirty="0"/>
              <a:t>install -r </a:t>
            </a:r>
            <a:r>
              <a:rPr lang="en-US" altLang="ko-KR" sz="1050" dirty="0" err="1" smtClean="0"/>
              <a:t>requirements.txt</a:t>
            </a:r>
            <a:endParaRPr lang="en-US" altLang="ko-KR" sz="1050" dirty="0" smtClean="0"/>
          </a:p>
          <a:p>
            <a:pPr marL="0" indent="0">
              <a:buNone/>
            </a:pPr>
            <a:endParaRPr lang="en-US" altLang="ko-KR" sz="1050" dirty="0"/>
          </a:p>
          <a:p>
            <a:pPr marL="0" indent="0">
              <a:buNone/>
            </a:pPr>
            <a:r>
              <a:rPr lang="en-US" altLang="ko-KR" sz="1050" dirty="0" smtClean="0"/>
              <a:t># </a:t>
            </a:r>
            <a:r>
              <a:rPr lang="ko-KR" altLang="en-US" sz="1050" dirty="0" smtClean="0"/>
              <a:t>서울시 </a:t>
            </a:r>
            <a:r>
              <a:rPr lang="en-US" altLang="ko-KR" sz="1050" dirty="0" smtClean="0"/>
              <a:t>API KEY </a:t>
            </a:r>
            <a:r>
              <a:rPr lang="ko-KR" altLang="en-US" sz="1050" dirty="0" err="1" smtClean="0"/>
              <a:t>셋팅</a:t>
            </a:r>
            <a:r>
              <a:rPr lang="ko-KR" altLang="en-US" sz="1050" dirty="0" smtClean="0"/>
              <a:t> </a:t>
            </a:r>
            <a:r>
              <a:rPr lang="en-US" altLang="ko-KR" sz="1050" dirty="0" smtClean="0"/>
              <a:t>(0</a:t>
            </a:r>
            <a:r>
              <a:rPr lang="ko-KR" altLang="en-US" sz="1050" dirty="0" smtClean="0"/>
              <a:t>의 값을 발급한 </a:t>
            </a:r>
            <a:r>
              <a:rPr lang="en-US" altLang="ko-KR" sz="1050" dirty="0" smtClean="0"/>
              <a:t>key </a:t>
            </a:r>
            <a:r>
              <a:rPr lang="ko-KR" altLang="en-US" sz="1050" dirty="0" smtClean="0"/>
              <a:t>값으로 교체</a:t>
            </a:r>
            <a:r>
              <a:rPr lang="en-US" altLang="ko-KR" sz="1050" dirty="0" smtClean="0"/>
              <a:t>)</a:t>
            </a:r>
          </a:p>
          <a:p>
            <a:pPr marL="0" indent="0">
              <a:buNone/>
            </a:pPr>
            <a:r>
              <a:rPr lang="en-US" altLang="ko-KR" sz="1050" dirty="0" smtClean="0"/>
              <a:t># Python </a:t>
            </a:r>
            <a:r>
              <a:rPr lang="ko-KR" altLang="en-US" sz="1050" dirty="0" smtClean="0"/>
              <a:t>프로그램에서 </a:t>
            </a:r>
            <a:r>
              <a:rPr lang="en-US" altLang="ko-KR" sz="1050" dirty="0" err="1" smtClean="0"/>
              <a:t>SEOUL_API_KEY</a:t>
            </a:r>
            <a:r>
              <a:rPr lang="en-US" altLang="ko-KR" sz="1050" dirty="0" smtClean="0"/>
              <a:t> </a:t>
            </a:r>
            <a:r>
              <a:rPr lang="ko-KR" altLang="en-US" sz="1050" dirty="0" smtClean="0"/>
              <a:t>환경 변수를 읽어서 </a:t>
            </a:r>
            <a:r>
              <a:rPr lang="en-US" altLang="ko-KR" sz="1050" dirty="0" smtClean="0"/>
              <a:t>CURL </a:t>
            </a:r>
            <a:r>
              <a:rPr lang="ko-KR" altLang="en-US" sz="1050" dirty="0" smtClean="0"/>
              <a:t>호출하도록 개발되어 있다</a:t>
            </a:r>
            <a:r>
              <a:rPr lang="en-US" altLang="ko-KR" sz="1050" dirty="0" smtClean="0"/>
              <a:t>.</a:t>
            </a:r>
          </a:p>
          <a:p>
            <a:pPr marL="0" indent="0">
              <a:buNone/>
            </a:pPr>
            <a:r>
              <a:rPr lang="en-US" altLang="ko-KR" sz="1050" dirty="0"/>
              <a:t>export </a:t>
            </a:r>
            <a:r>
              <a:rPr lang="en-US" altLang="ko-KR" sz="1050" dirty="0" err="1" smtClean="0"/>
              <a:t>SEOUL_API_KEY</a:t>
            </a:r>
            <a:r>
              <a:rPr lang="en-US" altLang="ko-KR" sz="1050" dirty="0" smtClean="0"/>
              <a:t>=00000000000000000000000000000000000000000000</a:t>
            </a:r>
          </a:p>
          <a:p>
            <a:pPr marL="0" indent="0">
              <a:buNone/>
            </a:pPr>
            <a:endParaRPr lang="en-US" altLang="ko-KR" sz="1050" dirty="0" smtClean="0"/>
          </a:p>
          <a:p>
            <a:pPr marL="0" indent="0">
              <a:buNone/>
            </a:pPr>
            <a:r>
              <a:rPr lang="en-US" altLang="ko-KR" sz="1050" dirty="0" smtClean="0"/>
              <a:t># </a:t>
            </a:r>
            <a:r>
              <a:rPr lang="ko-KR" altLang="en-US" sz="1050" dirty="0" smtClean="0"/>
              <a:t>서울시 </a:t>
            </a:r>
            <a:r>
              <a:rPr lang="ko-KR" altLang="en-US" sz="1050" dirty="0" err="1" smtClean="0"/>
              <a:t>강남역</a:t>
            </a:r>
            <a:r>
              <a:rPr lang="ko-KR" altLang="en-US" sz="1050" dirty="0" smtClean="0"/>
              <a:t> 공공 데이터 조회</a:t>
            </a:r>
            <a:r>
              <a:rPr lang="en-US" altLang="ko-KR" sz="1050" dirty="0" smtClean="0"/>
              <a:t>. </a:t>
            </a:r>
            <a:r>
              <a:rPr lang="ko-KR" altLang="en-US" sz="1050" dirty="0" smtClean="0"/>
              <a:t>최종적으로 </a:t>
            </a:r>
            <a:r>
              <a:rPr lang="en-US" altLang="ko-KR" sz="1050" dirty="0" smtClean="0"/>
              <a:t>2</a:t>
            </a:r>
            <a:r>
              <a:rPr lang="ko-KR" altLang="en-US" sz="1050" dirty="0" smtClean="0"/>
              <a:t>번 형태로 </a:t>
            </a:r>
            <a:r>
              <a:rPr lang="en-US" altLang="ko-KR" sz="1050" dirty="0" smtClean="0"/>
              <a:t>Ontology</a:t>
            </a:r>
            <a:r>
              <a:rPr lang="ko-KR" altLang="en-US" sz="1050" dirty="0" smtClean="0"/>
              <a:t>에 저장해야 한다</a:t>
            </a:r>
            <a:r>
              <a:rPr lang="en-US" altLang="ko-KR" sz="1050" dirty="0" smtClean="0"/>
              <a:t>.</a:t>
            </a:r>
          </a:p>
          <a:p>
            <a:pPr marL="0" indent="0">
              <a:buNone/>
            </a:pPr>
            <a:r>
              <a:rPr lang="en-US" altLang="ko-KR" sz="1050" dirty="0" smtClean="0"/>
              <a:t># 1) </a:t>
            </a:r>
            <a:r>
              <a:rPr lang="ko-KR" altLang="en-US" sz="1050" dirty="0" smtClean="0"/>
              <a:t>로컬 파일 저장용 </a:t>
            </a:r>
            <a:r>
              <a:rPr lang="en-US" altLang="ko-KR" sz="1050" dirty="0" smtClean="0"/>
              <a:t>-&gt; </a:t>
            </a:r>
            <a:r>
              <a:rPr lang="ko-KR" altLang="en-US" sz="1050" dirty="0" smtClean="0"/>
              <a:t>서울시 공공 데이터 연동 결과 확인용</a:t>
            </a:r>
            <a:endParaRPr lang="en-US" altLang="ko-KR" sz="1050" dirty="0"/>
          </a:p>
          <a:p>
            <a:pPr marL="0" indent="0">
              <a:buNone/>
            </a:pPr>
            <a:r>
              <a:rPr lang="en-US" altLang="ko-KR" sz="1050" dirty="0" err="1"/>
              <a:t>python3</a:t>
            </a:r>
            <a:r>
              <a:rPr lang="en-US" altLang="ko-KR" sz="1050" dirty="0"/>
              <a:t> </a:t>
            </a:r>
            <a:r>
              <a:rPr lang="en-US" altLang="ko-KR" sz="1050" dirty="0" err="1"/>
              <a:t>mini_etl.py</a:t>
            </a:r>
            <a:r>
              <a:rPr lang="en-US" altLang="ko-KR" sz="1050" dirty="0"/>
              <a:t> --area </a:t>
            </a:r>
            <a:r>
              <a:rPr lang="ko-KR" altLang="en-US" sz="1050" dirty="0" err="1"/>
              <a:t>강남역</a:t>
            </a:r>
            <a:r>
              <a:rPr lang="ko-KR" altLang="en-US" sz="1050" dirty="0"/>
              <a:t> </a:t>
            </a:r>
            <a:r>
              <a:rPr lang="en-US" altLang="ko-KR" sz="1050" dirty="0"/>
              <a:t>--output-file </a:t>
            </a:r>
            <a:r>
              <a:rPr lang="en-US" altLang="ko-KR" sz="1050" dirty="0" err="1"/>
              <a:t>gangnam.ttl</a:t>
            </a:r>
            <a:r>
              <a:rPr lang="en-US" altLang="ko-KR" sz="1050" dirty="0"/>
              <a:t> </a:t>
            </a:r>
            <a:endParaRPr lang="en-US" altLang="ko-KR" sz="1050" dirty="0" smtClean="0"/>
          </a:p>
          <a:p>
            <a:pPr marL="0" indent="0">
              <a:buNone/>
            </a:pPr>
            <a:endParaRPr lang="en-US" altLang="ko-KR" sz="1050" dirty="0" smtClean="0"/>
          </a:p>
          <a:p>
            <a:pPr marL="0" indent="0">
              <a:buNone/>
            </a:pPr>
            <a:r>
              <a:rPr lang="en-US" altLang="ko-KR" sz="1050" dirty="0" smtClean="0"/>
              <a:t># 2) </a:t>
            </a:r>
            <a:r>
              <a:rPr lang="ko-KR" altLang="en-US" sz="1050" dirty="0" smtClean="0"/>
              <a:t>조회 후 </a:t>
            </a:r>
            <a:r>
              <a:rPr lang="en-US" altLang="ko-KR" sz="1050" dirty="0" err="1" smtClean="0"/>
              <a:t>Fuseki</a:t>
            </a:r>
            <a:r>
              <a:rPr lang="en-US" altLang="ko-KR" sz="1050" dirty="0" smtClean="0"/>
              <a:t> </a:t>
            </a:r>
            <a:r>
              <a:rPr lang="ko-KR" altLang="en-US" sz="1050" dirty="0" smtClean="0"/>
              <a:t>서버에 저장 </a:t>
            </a:r>
            <a:r>
              <a:rPr lang="en-US" altLang="ko-KR" sz="1050" dirty="0" smtClean="0"/>
              <a:t>-&gt; Ontology</a:t>
            </a:r>
            <a:r>
              <a:rPr lang="ko-KR" altLang="en-US" sz="1050" dirty="0" smtClean="0"/>
              <a:t>에 데이터 반영용</a:t>
            </a:r>
            <a:endParaRPr lang="en-US" altLang="ko-KR" sz="1050" dirty="0"/>
          </a:p>
          <a:p>
            <a:pPr marL="0" indent="0">
              <a:buNone/>
            </a:pPr>
            <a:r>
              <a:rPr lang="en-US" altLang="ko-KR" sz="1050" dirty="0" err="1"/>
              <a:t>python3</a:t>
            </a:r>
            <a:r>
              <a:rPr lang="en-US" altLang="ko-KR" sz="1050" dirty="0"/>
              <a:t> </a:t>
            </a:r>
            <a:r>
              <a:rPr lang="en-US" altLang="ko-KR" sz="1050" dirty="0" err="1"/>
              <a:t>mini_etl.py</a:t>
            </a:r>
            <a:r>
              <a:rPr lang="en-US" altLang="ko-KR" sz="1050" dirty="0"/>
              <a:t> --area </a:t>
            </a:r>
            <a:r>
              <a:rPr lang="ko-KR" altLang="en-US" sz="1050" dirty="0" err="1"/>
              <a:t>강남역</a:t>
            </a:r>
            <a:r>
              <a:rPr lang="ko-KR" altLang="en-US" sz="1050" dirty="0"/>
              <a:t> </a:t>
            </a:r>
            <a:r>
              <a:rPr lang="en-US" altLang="ko-KR" sz="1050" dirty="0"/>
              <a:t>--</a:t>
            </a:r>
            <a:r>
              <a:rPr lang="en-US" altLang="ko-KR" sz="1050" dirty="0" err="1"/>
              <a:t>fuseki</a:t>
            </a:r>
            <a:r>
              <a:rPr lang="en-US" altLang="ko-KR" sz="1050" dirty="0"/>
              <a:t>-endpoint http://</a:t>
            </a:r>
            <a:r>
              <a:rPr lang="en-US" altLang="ko-KR" sz="1050" dirty="0" err="1" smtClean="0"/>
              <a:t>localhost:3030</a:t>
            </a:r>
            <a:r>
              <a:rPr lang="en-US" altLang="ko-KR" sz="1050" dirty="0" smtClean="0"/>
              <a:t>/</a:t>
            </a:r>
            <a:r>
              <a:rPr lang="en-US" altLang="ko-KR" sz="1050" dirty="0" err="1" smtClean="0"/>
              <a:t>doverenc</a:t>
            </a:r>
            <a:r>
              <a:rPr lang="en-US" altLang="ko-KR" sz="1050" dirty="0" smtClean="0"/>
              <a:t>/data</a:t>
            </a:r>
          </a:p>
          <a:p>
            <a:pPr marL="0" indent="0">
              <a:buNone/>
            </a:pPr>
            <a:endParaRPr lang="en-US" altLang="ko-KR" sz="1050" dirty="0" smtClean="0"/>
          </a:p>
          <a:p>
            <a:pPr marL="0" indent="0">
              <a:buNone/>
            </a:pPr>
            <a:r>
              <a:rPr lang="en-US" altLang="ko-KR" sz="1400" b="1" dirty="0" smtClean="0"/>
              <a:t>2. </a:t>
            </a:r>
            <a:r>
              <a:rPr lang="ko-KR" altLang="en-US" sz="1400" b="1" dirty="0" smtClean="0"/>
              <a:t>주기적으로 </a:t>
            </a:r>
            <a:r>
              <a:rPr lang="en-US" altLang="ko-KR" sz="1400" b="1" dirty="0" smtClean="0"/>
              <a:t>Ontology</a:t>
            </a:r>
            <a:r>
              <a:rPr lang="ko-KR" altLang="en-US" sz="1400" b="1" dirty="0" smtClean="0"/>
              <a:t>에 저장</a:t>
            </a:r>
            <a:r>
              <a:rPr lang="en-US" altLang="ko-KR" sz="1600" b="1" dirty="0" smtClean="0"/>
              <a:t> </a:t>
            </a:r>
          </a:p>
          <a:p>
            <a:pPr marL="0" indent="0">
              <a:buNone/>
            </a:pPr>
            <a:r>
              <a:rPr lang="en-US" altLang="ko-KR" sz="1050" dirty="0" smtClean="0"/>
              <a:t># </a:t>
            </a:r>
            <a:r>
              <a:rPr lang="en-US" altLang="ko-KR" sz="1050" dirty="0" err="1" smtClean="0"/>
              <a:t>cron</a:t>
            </a:r>
            <a:r>
              <a:rPr lang="en-US" altLang="ko-KR" sz="1050" dirty="0" smtClean="0"/>
              <a:t>, batch </a:t>
            </a:r>
            <a:r>
              <a:rPr lang="ko-KR" altLang="en-US" sz="1050" dirty="0" smtClean="0"/>
              <a:t>등 다양한 형태로 응용 가능</a:t>
            </a:r>
            <a:r>
              <a:rPr lang="en-US" altLang="ko-KR" sz="1050" dirty="0" smtClean="0"/>
              <a:t>. </a:t>
            </a:r>
            <a:r>
              <a:rPr lang="ko-KR" altLang="en-US" sz="1050" dirty="0" smtClean="0"/>
              <a:t>여기서는 간단히 </a:t>
            </a:r>
            <a:r>
              <a:rPr lang="en-US" altLang="ko-KR" sz="1050" dirty="0" smtClean="0"/>
              <a:t>watch </a:t>
            </a:r>
            <a:r>
              <a:rPr lang="ko-KR" altLang="en-US" sz="1050" dirty="0" smtClean="0"/>
              <a:t>명령어 이용</a:t>
            </a:r>
            <a:endParaRPr lang="en-US" altLang="ko-KR" sz="1050" dirty="0"/>
          </a:p>
          <a:p>
            <a:pPr marL="0" indent="0">
              <a:buNone/>
            </a:pPr>
            <a:r>
              <a:rPr lang="en-US" altLang="ko-KR" sz="1050" dirty="0" smtClean="0"/>
              <a:t># </a:t>
            </a:r>
            <a:r>
              <a:rPr lang="en-US" altLang="ko-KR" sz="1050" dirty="0" err="1" smtClean="0"/>
              <a:t>Fuseki</a:t>
            </a:r>
            <a:r>
              <a:rPr lang="en-US" altLang="ko-KR" sz="1050" dirty="0" smtClean="0"/>
              <a:t> </a:t>
            </a:r>
            <a:r>
              <a:rPr lang="ko-KR" altLang="en-US" sz="1050" dirty="0" smtClean="0"/>
              <a:t>서버에 주기적으로 반영</a:t>
            </a:r>
            <a:r>
              <a:rPr lang="en-US" altLang="ko-KR" sz="1050" dirty="0"/>
              <a:t> </a:t>
            </a:r>
            <a:r>
              <a:rPr lang="en-US" altLang="ko-KR" sz="1050" dirty="0" smtClean="0"/>
              <a:t>(</a:t>
            </a:r>
            <a:r>
              <a:rPr lang="ko-KR" altLang="en-US" sz="1050" u="sng" dirty="0" smtClean="0"/>
              <a:t>주의</a:t>
            </a:r>
            <a:r>
              <a:rPr lang="en-US" altLang="ko-KR" sz="1050" u="sng" dirty="0" smtClean="0"/>
              <a:t>!! </a:t>
            </a:r>
            <a:r>
              <a:rPr lang="ko-KR" altLang="en-US" sz="1050" u="sng" dirty="0" smtClean="0"/>
              <a:t>데이터 용량이 커서 오랜 기간 켜 놓을 경우 문제 생김</a:t>
            </a:r>
            <a:r>
              <a:rPr lang="en-US" altLang="ko-KR" sz="1050" dirty="0" smtClean="0"/>
              <a:t>)</a:t>
            </a:r>
          </a:p>
          <a:p>
            <a:pPr marL="0" indent="0">
              <a:buNone/>
            </a:pPr>
            <a:r>
              <a:rPr lang="en-US" altLang="ko-KR" sz="1050" dirty="0"/>
              <a:t>watch -n 1200 </a:t>
            </a:r>
            <a:r>
              <a:rPr lang="en-US" altLang="ko-KR" sz="1050" dirty="0" err="1"/>
              <a:t>python3</a:t>
            </a:r>
            <a:r>
              <a:rPr lang="en-US" altLang="ko-KR" sz="1050" dirty="0"/>
              <a:t> </a:t>
            </a:r>
            <a:r>
              <a:rPr lang="en-US" altLang="ko-KR" sz="1050" dirty="0" err="1"/>
              <a:t>mini_etl.py</a:t>
            </a:r>
            <a:r>
              <a:rPr lang="en-US" altLang="ko-KR" sz="1050" dirty="0"/>
              <a:t> --area </a:t>
            </a:r>
            <a:r>
              <a:rPr lang="ko-KR" altLang="en-US" sz="1050" dirty="0" err="1"/>
              <a:t>강남역</a:t>
            </a:r>
            <a:r>
              <a:rPr lang="ko-KR" altLang="en-US" sz="1050" dirty="0"/>
              <a:t> </a:t>
            </a:r>
            <a:r>
              <a:rPr lang="en-US" altLang="ko-KR" sz="1050" dirty="0"/>
              <a:t>--</a:t>
            </a:r>
            <a:r>
              <a:rPr lang="en-US" altLang="ko-KR" sz="1050" dirty="0" err="1"/>
              <a:t>fuseki</a:t>
            </a:r>
            <a:r>
              <a:rPr lang="en-US" altLang="ko-KR" sz="1050" dirty="0"/>
              <a:t>-endpoint http://</a:t>
            </a:r>
            <a:r>
              <a:rPr lang="en-US" altLang="ko-KR" sz="1050" dirty="0" err="1"/>
              <a:t>localhost:3030</a:t>
            </a:r>
            <a:r>
              <a:rPr lang="en-US" altLang="ko-KR" sz="1050" dirty="0"/>
              <a:t>/</a:t>
            </a:r>
            <a:r>
              <a:rPr lang="en-US" altLang="ko-KR" sz="1050" dirty="0" err="1"/>
              <a:t>doverenc</a:t>
            </a:r>
            <a:r>
              <a:rPr lang="en-US" altLang="ko-KR" sz="1050" dirty="0"/>
              <a:t>/data</a:t>
            </a:r>
            <a:endParaRPr lang="en-US" altLang="ko-KR" sz="1050" dirty="0"/>
          </a:p>
          <a:p>
            <a:pPr marL="0" lvl="1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413732054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5.4 </a:t>
            </a:r>
            <a:r>
              <a:rPr lang="en-US" altLang="ko-KR" dirty="0" err="1" smtClean="0"/>
              <a:t>Fuseki</a:t>
            </a:r>
            <a:r>
              <a:rPr lang="ko-KR" altLang="en-US" dirty="0" smtClean="0"/>
              <a:t>에서 조회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smtClean="0"/>
              <a:t>Ontology</a:t>
            </a:r>
            <a:r>
              <a:rPr lang="ko-KR" altLang="en-US" sz="1800" dirty="0" smtClean="0"/>
              <a:t>에 저장된 데이터 조회하여 결과 검증</a:t>
            </a:r>
            <a:endParaRPr lang="en-US" altLang="ko-KR" sz="1800" dirty="0" smtClean="0"/>
          </a:p>
          <a:p>
            <a:pPr>
              <a:buFontTx/>
              <a:buChar char="•"/>
            </a:pPr>
            <a:endParaRPr lang="en-US" altLang="ko-KR" sz="1800" dirty="0"/>
          </a:p>
          <a:p>
            <a:pPr marL="0" indent="0">
              <a:buNone/>
            </a:pPr>
            <a:r>
              <a:rPr lang="en-US" altLang="ko-KR" sz="1800" dirty="0" smtClean="0"/>
              <a:t># </a:t>
            </a:r>
            <a:r>
              <a:rPr lang="ko-KR" altLang="en-US" sz="1800" dirty="0" smtClean="0"/>
              <a:t>아래 </a:t>
            </a:r>
            <a:r>
              <a:rPr lang="en-US" altLang="ko-KR" sz="1800" dirty="0" err="1" smtClean="0"/>
              <a:t>SPARQL</a:t>
            </a:r>
            <a:r>
              <a:rPr lang="ko-KR" altLang="en-US" sz="1800" dirty="0" smtClean="0"/>
              <a:t>로 데이터 검증</a:t>
            </a:r>
            <a:endParaRPr lang="en-US" altLang="ko-KR" sz="1800" dirty="0" smtClean="0"/>
          </a:p>
          <a:p>
            <a:pPr marL="0" indent="0">
              <a:buNone/>
            </a:pPr>
            <a:r>
              <a:rPr lang="en-US" altLang="ko-KR" sz="1000" dirty="0" smtClean="0"/>
              <a:t>PREFIX </a:t>
            </a:r>
            <a:r>
              <a:rPr lang="en-US" altLang="ko-KR" sz="1000" dirty="0" err="1"/>
              <a:t>rdf</a:t>
            </a:r>
            <a:r>
              <a:rPr lang="en-US" altLang="ko-KR" sz="1000" dirty="0"/>
              <a:t>: &lt;http://</a:t>
            </a:r>
            <a:r>
              <a:rPr lang="en-US" altLang="ko-KR" sz="1000" dirty="0" err="1"/>
              <a:t>www.w3.org</a:t>
            </a:r>
            <a:r>
              <a:rPr lang="en-US" altLang="ko-KR" sz="1000" dirty="0"/>
              <a:t>/1999/02/22-</a:t>
            </a:r>
            <a:r>
              <a:rPr lang="en-US" altLang="ko-KR" sz="1000" dirty="0" err="1"/>
              <a:t>rdf</a:t>
            </a:r>
            <a:r>
              <a:rPr lang="en-US" altLang="ko-KR" sz="1000" dirty="0"/>
              <a:t>-syntax-ns#&gt;</a:t>
            </a:r>
          </a:p>
          <a:p>
            <a:pPr marL="0" indent="0">
              <a:buNone/>
            </a:pPr>
            <a:r>
              <a:rPr lang="en-US" altLang="ko-KR" sz="1000" dirty="0" smtClean="0"/>
              <a:t>PREFIX </a:t>
            </a:r>
            <a:r>
              <a:rPr lang="en-US" altLang="ko-KR" sz="1000" dirty="0" err="1"/>
              <a:t>rdfs</a:t>
            </a:r>
            <a:r>
              <a:rPr lang="en-US" altLang="ko-KR" sz="1000" dirty="0"/>
              <a:t>: &lt;http://</a:t>
            </a:r>
            <a:r>
              <a:rPr lang="en-US" altLang="ko-KR" sz="1000" dirty="0" err="1"/>
              <a:t>www.w3.org</a:t>
            </a:r>
            <a:r>
              <a:rPr lang="en-US" altLang="ko-KR" sz="1000" dirty="0"/>
              <a:t>/2000/01/</a:t>
            </a:r>
            <a:r>
              <a:rPr lang="en-US" altLang="ko-KR" sz="1000" dirty="0" err="1"/>
              <a:t>rdf</a:t>
            </a:r>
            <a:r>
              <a:rPr lang="en-US" altLang="ko-KR" sz="1000" dirty="0"/>
              <a:t>-schema#&gt;</a:t>
            </a:r>
          </a:p>
          <a:p>
            <a:pPr marL="0" indent="0">
              <a:buNone/>
            </a:pPr>
            <a:r>
              <a:rPr lang="en-US" altLang="ko-KR" sz="1000" dirty="0" smtClean="0"/>
              <a:t>SELECT </a:t>
            </a:r>
            <a:r>
              <a:rPr lang="en-US" altLang="ko-KR" sz="1000" dirty="0"/>
              <a:t>* WHERE {</a:t>
            </a:r>
          </a:p>
          <a:p>
            <a:pPr marL="0" indent="0">
              <a:buNone/>
            </a:pPr>
            <a:r>
              <a:rPr lang="en-US" altLang="ko-KR" sz="1000" dirty="0"/>
              <a:t>    </a:t>
            </a:r>
            <a:r>
              <a:rPr lang="en-US" altLang="ko-KR" sz="1000" dirty="0" smtClean="0"/>
              <a:t>?</a:t>
            </a:r>
            <a:r>
              <a:rPr lang="en-US" altLang="ko-KR" sz="1000" dirty="0"/>
              <a:t>sub ?</a:t>
            </a:r>
            <a:r>
              <a:rPr lang="en-US" altLang="ko-KR" sz="1000" dirty="0" err="1"/>
              <a:t>pred</a:t>
            </a:r>
            <a:r>
              <a:rPr lang="en-US" altLang="ko-KR" sz="1000" dirty="0"/>
              <a:t> ?</a:t>
            </a:r>
            <a:r>
              <a:rPr lang="en-US" altLang="ko-KR" sz="1000" dirty="0" err="1"/>
              <a:t>obj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}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400" dirty="0"/>
          </a:p>
          <a:p>
            <a:pPr marL="0" lvl="1" indent="0">
              <a:buNone/>
            </a:pPr>
            <a:endParaRPr lang="en-US" altLang="ko-KR" sz="14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/>
          <a:srcRect b="19141"/>
          <a:stretch/>
        </p:blipFill>
        <p:spPr>
          <a:xfrm>
            <a:off x="560511" y="2852936"/>
            <a:ext cx="6703191" cy="3600252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1592072" y="5964912"/>
            <a:ext cx="1008112" cy="1800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5859940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5.5 Ontology, </a:t>
            </a:r>
            <a:r>
              <a:rPr lang="en-US" altLang="ko-KR" dirty="0" err="1" smtClean="0"/>
              <a:t>LLM</a:t>
            </a:r>
            <a:r>
              <a:rPr lang="en-US" altLang="ko-KR" dirty="0" smtClean="0"/>
              <a:t> </a:t>
            </a:r>
            <a:r>
              <a:rPr lang="ko-KR" altLang="en-US" dirty="0" smtClean="0"/>
              <a:t>기반 질의 응답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smtClean="0"/>
              <a:t>Python </a:t>
            </a:r>
            <a:r>
              <a:rPr lang="ko-KR" altLang="en-US" sz="1800" dirty="0" smtClean="0"/>
              <a:t>프로그램을 이용해서 자연어 질문 분석</a:t>
            </a:r>
            <a:endParaRPr lang="en-US" altLang="ko-KR" sz="1800" dirty="0" smtClean="0"/>
          </a:p>
          <a:p>
            <a:pPr>
              <a:buFontTx/>
              <a:buChar char="•"/>
            </a:pPr>
            <a:endParaRPr lang="en-US" altLang="ko-KR" sz="1800" dirty="0" smtClean="0"/>
          </a:p>
          <a:p>
            <a:pPr marL="0" indent="0">
              <a:buNone/>
            </a:pPr>
            <a:r>
              <a:rPr lang="en-US" altLang="ko-KR" sz="1000" dirty="0" smtClean="0"/>
              <a:t># Python </a:t>
            </a:r>
            <a:r>
              <a:rPr lang="ko-KR" altLang="en-US" sz="1000" dirty="0" smtClean="0"/>
              <a:t>환경 설정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cd </a:t>
            </a:r>
            <a:r>
              <a:rPr lang="en-US" altLang="ko-KR" sz="1000" dirty="0"/>
              <a:t>/home/user/Desktop/materials/</a:t>
            </a:r>
            <a:r>
              <a:rPr lang="en-US" altLang="ko-KR" sz="1000" dirty="0" err="1"/>
              <a:t>part3</a:t>
            </a:r>
            <a:r>
              <a:rPr lang="en-US" altLang="ko-KR" sz="1000" dirty="0"/>
              <a:t>/03-02</a:t>
            </a:r>
          </a:p>
          <a:p>
            <a:pPr marL="0" indent="0">
              <a:buNone/>
            </a:pPr>
            <a:r>
              <a:rPr lang="en-US" altLang="ko-KR" sz="1000" dirty="0" err="1" smtClean="0"/>
              <a:t>python3</a:t>
            </a:r>
            <a:r>
              <a:rPr lang="en-US" altLang="ko-KR" sz="1000" dirty="0" smtClean="0"/>
              <a:t> </a:t>
            </a:r>
            <a:r>
              <a:rPr lang="en-US" altLang="ko-KR" sz="1000" dirty="0"/>
              <a:t>-m </a:t>
            </a:r>
            <a:r>
              <a:rPr lang="en-US" altLang="ko-KR" sz="1000" dirty="0" err="1"/>
              <a:t>venv</a:t>
            </a:r>
            <a:r>
              <a:rPr lang="en-US" altLang="ko-KR" sz="1000" dirty="0"/>
              <a:t> ~/</a:t>
            </a:r>
            <a:r>
              <a:rPr lang="en-US" altLang="ko-KR" sz="1000" dirty="0" err="1"/>
              <a:t>venv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smtClean="0"/>
              <a:t>source </a:t>
            </a:r>
            <a:r>
              <a:rPr lang="en-US" altLang="ko-KR" sz="1000" dirty="0"/>
              <a:t>~/</a:t>
            </a:r>
            <a:r>
              <a:rPr lang="en-US" altLang="ko-KR" sz="1000" dirty="0" err="1"/>
              <a:t>venv</a:t>
            </a:r>
            <a:r>
              <a:rPr lang="en-US" altLang="ko-KR" sz="1000" dirty="0"/>
              <a:t>/bin/activate </a:t>
            </a:r>
          </a:p>
          <a:p>
            <a:pPr marL="0" indent="0">
              <a:buNone/>
            </a:pPr>
            <a:r>
              <a:rPr lang="en-US" altLang="ko-KR" sz="1000" dirty="0" smtClean="0"/>
              <a:t>pip </a:t>
            </a:r>
            <a:r>
              <a:rPr lang="en-US" altLang="ko-KR" sz="1000" dirty="0"/>
              <a:t>install -r </a:t>
            </a:r>
            <a:r>
              <a:rPr lang="en-US" altLang="ko-KR" sz="1000" dirty="0" err="1"/>
              <a:t>requirements.txt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#</a:t>
            </a:r>
            <a:r>
              <a:rPr lang="ko-KR" altLang="en-US" sz="1000" dirty="0" smtClean="0"/>
              <a:t>질의용 </a:t>
            </a:r>
            <a:r>
              <a:rPr lang="en-US" altLang="ko-KR" sz="1000" dirty="0" err="1" smtClean="0"/>
              <a:t>json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파일 생성 </a:t>
            </a:r>
            <a:r>
              <a:rPr lang="en-US" altLang="ko-KR" sz="1000" dirty="0" smtClean="0"/>
              <a:t>- </a:t>
            </a:r>
            <a:r>
              <a:rPr lang="en-US" altLang="ko-KR" sz="1000" dirty="0" err="1" smtClean="0"/>
              <a:t>LLM</a:t>
            </a:r>
            <a:r>
              <a:rPr lang="ko-KR" altLang="en-US" sz="1000" dirty="0" smtClean="0"/>
              <a:t>을 이용한 질문 분석 후 파일 생성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 err="1" smtClean="0"/>
              <a:t>python3</a:t>
            </a:r>
            <a:r>
              <a:rPr lang="en-US" altLang="ko-KR" sz="1000" dirty="0" smtClean="0"/>
              <a:t> </a:t>
            </a:r>
            <a:r>
              <a:rPr lang="en-US" altLang="ko-KR" sz="1000" dirty="0" err="1" smtClean="0"/>
              <a:t>dss</a:t>
            </a:r>
            <a:r>
              <a:rPr lang="en-US" altLang="ko-KR" sz="1000" dirty="0" smtClean="0"/>
              <a:t>/</a:t>
            </a:r>
            <a:r>
              <a:rPr lang="en-US" altLang="ko-KR" sz="1000" dirty="0" err="1" smtClean="0"/>
              <a:t>parsing_q.py</a:t>
            </a:r>
            <a:endParaRPr lang="en-US" altLang="ko-KR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46" y="3068960"/>
            <a:ext cx="8235676" cy="256194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560512" y="3320156"/>
            <a:ext cx="8064896" cy="1800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8504" y="5721532"/>
            <a:ext cx="44377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&lt;&lt;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결과 설명 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&gt;&gt;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맑은 고딕" pitchFamily="50" charset="-127"/>
                <a:ea typeface="맑은 고딕" pitchFamily="50" charset="-127"/>
              </a:rPr>
              <a:t>강남역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 err="1" smtClean="0">
                <a:latin typeface="맑은 고딕" pitchFamily="50" charset="-127"/>
                <a:ea typeface="맑은 고딕" pitchFamily="50" charset="-127"/>
              </a:rPr>
              <a:t>전기차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 충전 추천을 자연어로 요청</a:t>
            </a:r>
            <a:endParaRPr lang="en-US" altLang="ko-KR" sz="1000" dirty="0" smtClean="0">
              <a:latin typeface="맑은 고딕" pitchFamily="50" charset="-127"/>
              <a:ea typeface="맑은 고딕" pitchFamily="50" charset="-127"/>
            </a:endParaRP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altLang="ko-KR" sz="1000" dirty="0" err="1" smtClean="0">
                <a:latin typeface="맑은 고딕" pitchFamily="50" charset="-127"/>
                <a:ea typeface="맑은 고딕" pitchFamily="50" charset="-127"/>
              </a:rPr>
              <a:t>LLM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을 이용해서 질문 정보 분해</a:t>
            </a:r>
            <a:endParaRPr lang="en-US" altLang="ko-KR" sz="1000" dirty="0" smtClean="0">
              <a:latin typeface="맑은 고딕" pitchFamily="50" charset="-127"/>
              <a:ea typeface="맑은 고딕" pitchFamily="50" charset="-127"/>
            </a:endParaRP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분해된 데이터를 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Python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프로그램이 이해할 수 있는 </a:t>
            </a:r>
            <a:r>
              <a:rPr lang="en-US" altLang="ko-KR" sz="1000" dirty="0" err="1" smtClean="0">
                <a:latin typeface="맑은 고딕" pitchFamily="50" charset="-127"/>
                <a:ea typeface="맑은 고딕" pitchFamily="50" charset="-127"/>
              </a:rPr>
              <a:t>JSON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형태로 생성</a:t>
            </a:r>
            <a:endParaRPr lang="ko-KR" altLang="en-US" sz="1000" dirty="0" smtClean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4599788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5.5 Ontology, </a:t>
            </a:r>
            <a:r>
              <a:rPr lang="en-US" altLang="ko-KR" dirty="0" err="1" smtClean="0"/>
              <a:t>LLM</a:t>
            </a:r>
            <a:r>
              <a:rPr lang="en-US" altLang="ko-KR" dirty="0" smtClean="0"/>
              <a:t> </a:t>
            </a:r>
            <a:r>
              <a:rPr lang="ko-KR" altLang="en-US" dirty="0" smtClean="0"/>
              <a:t>기반 질의 응답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smtClean="0"/>
              <a:t>Python </a:t>
            </a:r>
            <a:r>
              <a:rPr lang="ko-KR" altLang="en-US" sz="1800" dirty="0" smtClean="0"/>
              <a:t>프로그램을 이용해서 질의 응답 수행</a:t>
            </a:r>
            <a:endParaRPr lang="en-US" altLang="ko-KR" sz="1800" dirty="0" smtClean="0"/>
          </a:p>
          <a:p>
            <a:pPr>
              <a:buFontTx/>
              <a:buChar char="•"/>
            </a:pPr>
            <a:endParaRPr lang="en-US" altLang="ko-KR" sz="1800" dirty="0" smtClean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ko-KR" altLang="en-US" sz="1000" dirty="0" smtClean="0"/>
              <a:t>앞서 생성한 질문 분석 결과 </a:t>
            </a:r>
            <a:r>
              <a:rPr lang="en-US" altLang="ko-KR" sz="1000" dirty="0" err="1" smtClean="0"/>
              <a:t>JSON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저장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 smtClean="0"/>
              <a:t>out.json</a:t>
            </a:r>
            <a:r>
              <a:rPr lang="ko-KR" altLang="en-US" sz="1000" dirty="0"/>
              <a:t>으로 저장 </a:t>
            </a:r>
            <a:r>
              <a:rPr lang="ko-KR" altLang="en-US" sz="1000" dirty="0" smtClean="0"/>
              <a:t>아래 명령 실행 </a:t>
            </a:r>
            <a:r>
              <a:rPr lang="en-US" altLang="ko-KR" sz="1000" dirty="0" smtClean="0"/>
              <a:t>(</a:t>
            </a:r>
            <a:r>
              <a:rPr lang="en-US" altLang="ko-KR" sz="1000" dirty="0" err="1" smtClean="0"/>
              <a:t>out.json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파일은 </a:t>
            </a:r>
            <a:r>
              <a:rPr lang="en-US" altLang="ko-KR" sz="1000" dirty="0" err="1" smtClean="0"/>
              <a:t>github</a:t>
            </a:r>
            <a:r>
              <a:rPr lang="ko-KR" altLang="en-US" sz="1000" dirty="0" smtClean="0"/>
              <a:t>에 사전 </a:t>
            </a:r>
            <a:r>
              <a:rPr lang="en-US" altLang="ko-KR" sz="1000" dirty="0" smtClean="0"/>
              <a:t>commit</a:t>
            </a:r>
            <a:r>
              <a:rPr lang="ko-KR" altLang="en-US" sz="1000" dirty="0" smtClean="0"/>
              <a:t>해 놓았음</a:t>
            </a:r>
            <a:r>
              <a:rPr lang="en-US" altLang="ko-KR" sz="1000" dirty="0" smtClean="0"/>
              <a:t>)</a:t>
            </a:r>
          </a:p>
          <a:p>
            <a:pPr marL="0" indent="0">
              <a:buNone/>
            </a:pP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smtClean="0"/>
              <a:t># </a:t>
            </a:r>
            <a:r>
              <a:rPr lang="en-US" altLang="ko-KR" sz="1000" dirty="0" err="1" smtClean="0"/>
              <a:t>SPARQL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생성 후 </a:t>
            </a:r>
            <a:r>
              <a:rPr lang="en-US" altLang="ko-KR" sz="1000" dirty="0" smtClean="0"/>
              <a:t>ONTOLOGY </a:t>
            </a:r>
            <a:r>
              <a:rPr lang="ko-KR" altLang="en-US" sz="1000" dirty="0" smtClean="0"/>
              <a:t>조회</a:t>
            </a:r>
            <a:endParaRPr lang="ko-KR" altLang="en-US" sz="1000" dirty="0"/>
          </a:p>
          <a:p>
            <a:pPr marL="0" indent="0">
              <a:buNone/>
            </a:pPr>
            <a:r>
              <a:rPr lang="en-US" altLang="ko-KR" sz="1000" dirty="0" err="1" smtClean="0"/>
              <a:t>python3</a:t>
            </a:r>
            <a:r>
              <a:rPr lang="en-US" altLang="ko-KR" sz="1000" dirty="0" smtClean="0"/>
              <a:t> </a:t>
            </a:r>
            <a:r>
              <a:rPr lang="en-US" altLang="ko-KR" sz="1000" dirty="0" err="1"/>
              <a:t>dss</a:t>
            </a:r>
            <a:r>
              <a:rPr lang="en-US" altLang="ko-KR" sz="1000" dirty="0"/>
              <a:t>/</a:t>
            </a:r>
            <a:r>
              <a:rPr lang="en-US" altLang="ko-KR" sz="1000" dirty="0" err="1"/>
              <a:t>run_recommendation.py</a:t>
            </a:r>
            <a:r>
              <a:rPr lang="en-US" altLang="ko-KR" sz="1000" dirty="0"/>
              <a:t> -</a:t>
            </a:r>
            <a:r>
              <a:rPr lang="en-US" altLang="ko-KR" sz="1000" dirty="0" err="1"/>
              <a:t>i</a:t>
            </a:r>
            <a:r>
              <a:rPr lang="en-US" altLang="ko-KR" sz="1000" dirty="0"/>
              <a:t> output/</a:t>
            </a:r>
            <a:r>
              <a:rPr lang="en-US" altLang="ko-KR" sz="1000" dirty="0" err="1"/>
              <a:t>out.json</a:t>
            </a:r>
            <a:r>
              <a:rPr lang="en-US" altLang="ko-KR" sz="1000" dirty="0"/>
              <a:t> --endpoint http://</a:t>
            </a:r>
            <a:r>
              <a:rPr lang="en-US" altLang="ko-KR" sz="1000" dirty="0" err="1" smtClean="0"/>
              <a:t>localhost:3030</a:t>
            </a:r>
            <a:r>
              <a:rPr lang="en-US" altLang="ko-KR" sz="1000" dirty="0" smtClean="0"/>
              <a:t>/</a:t>
            </a:r>
            <a:r>
              <a:rPr lang="en-US" altLang="ko-KR" sz="1000" dirty="0" err="1" smtClean="0"/>
              <a:t>doverenc</a:t>
            </a:r>
            <a:r>
              <a:rPr lang="en-US" altLang="ko-KR" sz="1000" dirty="0" smtClean="0"/>
              <a:t>/</a:t>
            </a:r>
            <a:r>
              <a:rPr lang="en-US" altLang="ko-KR" sz="1000" dirty="0" err="1" smtClean="0"/>
              <a:t>sparql</a:t>
            </a:r>
            <a:endParaRPr lang="en-US" altLang="ko-KR" sz="1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88" y="2497232"/>
            <a:ext cx="5142284" cy="370327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9104" y="2492895"/>
            <a:ext cx="2822550" cy="370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56656" y="6192660"/>
            <a:ext cx="17620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sz="1000" dirty="0" err="1" smtClean="0">
                <a:latin typeface="맑은 고딕" pitchFamily="50" charset="-127"/>
                <a:ea typeface="맑은 고딕" pitchFamily="50" charset="-127"/>
              </a:rPr>
              <a:t>out.json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기반 </a:t>
            </a:r>
            <a:r>
              <a:rPr lang="en-US" altLang="ko-KR" sz="1000" dirty="0" err="1" smtClean="0">
                <a:latin typeface="맑은 고딕" pitchFamily="50" charset="-127"/>
                <a:ea typeface="맑은 고딕" pitchFamily="50" charset="-127"/>
              </a:rPr>
              <a:t>SPARQL</a:t>
            </a:r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생성</a:t>
            </a:r>
            <a:endParaRPr lang="ko-KR" altLang="en-US" sz="1000" dirty="0" smtClean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02506" y="6192660"/>
            <a:ext cx="13308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/>
            <a:r>
              <a:rPr lang="en-US" altLang="ko-KR" sz="1000" dirty="0" smtClean="0">
                <a:latin typeface="맑은 고딕" pitchFamily="50" charset="-127"/>
                <a:ea typeface="맑은 고딕" pitchFamily="50" charset="-127"/>
              </a:rPr>
              <a:t>Ontology </a:t>
            </a:r>
            <a:r>
              <a:rPr lang="ko-KR" altLang="en-US" sz="1000" dirty="0" smtClean="0">
                <a:latin typeface="맑은 고딕" pitchFamily="50" charset="-127"/>
                <a:ea typeface="맑은 고딕" pitchFamily="50" charset="-127"/>
              </a:rPr>
              <a:t>조회 결과</a:t>
            </a:r>
            <a:endParaRPr lang="ko-KR" altLang="en-US" sz="1000" dirty="0" smtClean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3849263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제목 1"/>
          <p:cNvSpPr>
            <a:spLocks noGrp="1"/>
          </p:cNvSpPr>
          <p:nvPr>
            <p:ph type="title"/>
          </p:nvPr>
        </p:nvSpPr>
        <p:spPr>
          <a:xfrm>
            <a:off x="344488" y="152400"/>
            <a:ext cx="9307512" cy="360363"/>
          </a:xfrm>
          <a:ln/>
        </p:spPr>
        <p:txBody>
          <a:bodyPr/>
          <a:lstStyle/>
          <a:p>
            <a:r>
              <a:rPr lang="en-US" altLang="ko-KR" dirty="0" smtClean="0"/>
              <a:t>5.5 Ontology, </a:t>
            </a:r>
            <a:r>
              <a:rPr lang="en-US" altLang="ko-KR" dirty="0" err="1" smtClean="0"/>
              <a:t>LLM</a:t>
            </a:r>
            <a:r>
              <a:rPr lang="en-US" altLang="ko-KR" dirty="0" smtClean="0"/>
              <a:t> </a:t>
            </a:r>
            <a:r>
              <a:rPr lang="ko-KR" altLang="en-US" dirty="0" smtClean="0"/>
              <a:t>기반 질의 응답</a:t>
            </a:r>
            <a:endParaRPr lang="ko-KR" altLang="en-US" dirty="0"/>
          </a:p>
        </p:txBody>
      </p:sp>
      <p:sp>
        <p:nvSpPr>
          <p:cNvPr id="6149" name="내용 개체 틀 2"/>
          <p:cNvSpPr>
            <a:spLocks noGrp="1"/>
          </p:cNvSpPr>
          <p:nvPr>
            <p:ph idx="1"/>
          </p:nvPr>
        </p:nvSpPr>
        <p:spPr>
          <a:xfrm>
            <a:off x="458788" y="836613"/>
            <a:ext cx="9193212" cy="576262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ko-KR" sz="1800" dirty="0" smtClean="0"/>
              <a:t>Python </a:t>
            </a:r>
            <a:r>
              <a:rPr lang="ko-KR" altLang="en-US" sz="1800" dirty="0" smtClean="0"/>
              <a:t>프로그램을 이용해서 질의 응답 수행</a:t>
            </a:r>
            <a:endParaRPr lang="en-US" altLang="ko-KR" sz="1800" dirty="0" smtClean="0"/>
          </a:p>
          <a:p>
            <a:pPr>
              <a:buFontTx/>
              <a:buChar char="•"/>
            </a:pPr>
            <a:endParaRPr lang="en-US" altLang="ko-KR" sz="1800" dirty="0" smtClean="0"/>
          </a:p>
          <a:p>
            <a:pPr marL="0" indent="0">
              <a:buNone/>
            </a:pPr>
            <a:r>
              <a:rPr lang="en-US" altLang="ko-KR" sz="1000" dirty="0" smtClean="0"/>
              <a:t># Ontology </a:t>
            </a:r>
            <a:r>
              <a:rPr lang="ko-KR" altLang="en-US" sz="1000" dirty="0" smtClean="0"/>
              <a:t>조회 결과 </a:t>
            </a:r>
            <a:r>
              <a:rPr lang="en-US" altLang="ko-KR" sz="1000" dirty="0" err="1" smtClean="0"/>
              <a:t>JSON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값을 </a:t>
            </a:r>
            <a:r>
              <a:rPr lang="en-US" altLang="ko-KR" sz="1000" dirty="0" err="1" smtClean="0"/>
              <a:t>LLM</a:t>
            </a:r>
            <a:r>
              <a:rPr lang="ko-KR" altLang="en-US" sz="1000" dirty="0" smtClean="0"/>
              <a:t>을 통해 자연어 처리</a:t>
            </a:r>
            <a:endParaRPr lang="en-US" altLang="ko-KR" sz="1000" dirty="0" smtClean="0"/>
          </a:p>
          <a:p>
            <a:pPr marL="0" indent="0">
              <a:buNone/>
            </a:pPr>
            <a:r>
              <a:rPr lang="en-US" altLang="ko-KR" sz="1000" dirty="0" err="1" smtClean="0"/>
              <a:t>python3</a:t>
            </a:r>
            <a:r>
              <a:rPr lang="en-US" altLang="ko-KR" sz="1000" dirty="0" smtClean="0"/>
              <a:t> </a:t>
            </a:r>
            <a:r>
              <a:rPr lang="en-US" altLang="ko-KR" sz="1000" dirty="0" err="1"/>
              <a:t>dss</a:t>
            </a:r>
            <a:r>
              <a:rPr lang="en-US" altLang="ko-KR" sz="1000" dirty="0"/>
              <a:t>/</a:t>
            </a:r>
            <a:r>
              <a:rPr lang="en-US" altLang="ko-KR" sz="1000" dirty="0" err="1"/>
              <a:t>run_dss.py</a:t>
            </a:r>
            <a:r>
              <a:rPr lang="en-US" altLang="ko-KR" sz="1000" dirty="0"/>
              <a:t> -</a:t>
            </a:r>
            <a:r>
              <a:rPr lang="en-US" altLang="ko-KR" sz="1000" dirty="0" err="1"/>
              <a:t>i</a:t>
            </a:r>
            <a:r>
              <a:rPr lang="en-US" altLang="ko-KR" sz="1000" dirty="0"/>
              <a:t> output/</a:t>
            </a:r>
            <a:r>
              <a:rPr lang="en-US" altLang="ko-KR" sz="1000" dirty="0" err="1"/>
              <a:t>out.json</a:t>
            </a:r>
            <a:r>
              <a:rPr lang="en-US" altLang="ko-KR" sz="1000" dirty="0"/>
              <a:t> --endpoint http://</a:t>
            </a:r>
            <a:r>
              <a:rPr lang="en-US" altLang="ko-KR" sz="1000" dirty="0" err="1"/>
              <a:t>localhost:3030</a:t>
            </a:r>
            <a:r>
              <a:rPr lang="en-US" altLang="ko-KR" sz="1000" dirty="0"/>
              <a:t>/</a:t>
            </a:r>
            <a:r>
              <a:rPr lang="en-US" altLang="ko-KR" sz="1000" dirty="0" err="1"/>
              <a:t>doverenc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sparql</a:t>
            </a:r>
            <a:endParaRPr lang="en-US" altLang="ko-KR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04" y="1988840"/>
            <a:ext cx="9163496" cy="253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977373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d2r_3">
  <a:themeElements>
    <a:clrScheme name="d2r_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2r_3">
      <a:majorFont>
        <a:latin typeface="HY헤드라인M"/>
        <a:ea typeface="HY헤드라인M"/>
        <a:cs typeface=""/>
      </a:majorFont>
      <a:minorFont>
        <a:latin typeface="HY견명조"/>
        <a:ea typeface="HY견명조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  <a:effectLst/>
      </a:spPr>
      <a:bodyPr lIns="36000" tIns="0" rIns="36000" bIns="0" rtlCol="0" anchor="ctr"/>
      <a:lstStyle>
        <a:defPPr>
          <a:defRPr sz="1000" dirty="0">
            <a:solidFill>
              <a:schemeClr val="tx1"/>
            </a:solidFill>
            <a:latin typeface="맑은 고딕" pitchFamily="50" charset="-127"/>
            <a:ea typeface="맑은 고딕" pitchFamily="50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marL="342900" indent="-342900">
          <a:defRPr smtClean="0">
            <a:latin typeface="맑은 고딕" pitchFamily="50" charset="-127"/>
            <a:ea typeface="맑은 고딕" pitchFamily="50" charset="-127"/>
          </a:defRPr>
        </a:defPPr>
      </a:lstStyle>
    </a:txDef>
  </a:objectDefaults>
  <a:extraClrSchemeLst>
    <a:extraClrScheme>
      <a:clrScheme name="d2r_3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2r_3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2r_3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d2r_3</Template>
  <TotalTime>57263</TotalTime>
  <Words>2993</Words>
  <Application>Microsoft Office PowerPoint</Application>
  <PresentationFormat>A4 용지(210x297mm)</PresentationFormat>
  <Paragraphs>581</Paragraphs>
  <Slides>38</Slides>
  <Notes>32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8" baseType="lpstr">
      <vt:lpstr>HY견고딕</vt:lpstr>
      <vt:lpstr>HY울릉도M</vt:lpstr>
      <vt:lpstr>HY헤드라인M</vt:lpstr>
      <vt:lpstr>굴림</vt:lpstr>
      <vt:lpstr>돋움체</vt:lpstr>
      <vt:lpstr>맑은 고딕</vt:lpstr>
      <vt:lpstr>바탕</vt:lpstr>
      <vt:lpstr>Arial</vt:lpstr>
      <vt:lpstr>Arial Black</vt:lpstr>
      <vt:lpstr>d2r_3</vt:lpstr>
      <vt:lpstr>PowerPoint 프레젠테이션</vt:lpstr>
      <vt:lpstr>목차</vt:lpstr>
      <vt:lpstr>PowerPoint 프레젠테이션</vt:lpstr>
      <vt:lpstr>1.1 Hands On Lab 목적</vt:lpstr>
      <vt:lpstr>1.2 Hands On Lab 환경</vt:lpstr>
      <vt:lpstr>1.3 Oracle Virtual Box 설치 및 준비</vt:lpstr>
      <vt:lpstr>1.3 Oracle Virtual Box 설치 및 준비</vt:lpstr>
      <vt:lpstr>1.3 Oracle Virtual Box 설치 및 준비</vt:lpstr>
      <vt:lpstr>1.3 Oracle Virtual Box 설치 및 준비</vt:lpstr>
      <vt:lpstr>1.3 Oracle Virtual Box 설치 및 준비</vt:lpstr>
      <vt:lpstr>PowerPoint 프레젠테이션</vt:lpstr>
      <vt:lpstr>2.1 프로세스 흐름</vt:lpstr>
      <vt:lpstr>2.2 질의/응답 예</vt:lpstr>
      <vt:lpstr>2.3 연관 솔루션 정리</vt:lpstr>
      <vt:lpstr>PowerPoint 프레젠테이션</vt:lpstr>
      <vt:lpstr>3.1 Ollama 설치 및 활용</vt:lpstr>
      <vt:lpstr>3.1 Ollama 설치 및 활용</vt:lpstr>
      <vt:lpstr>3.1 Ollama 설치 및 활용</vt:lpstr>
      <vt:lpstr>3.2 Open Web UI 설치 및 사용</vt:lpstr>
      <vt:lpstr>3.2 Open Web UI 설치 및 사용</vt:lpstr>
      <vt:lpstr>3.2 Open Web UI 설치 및 사용</vt:lpstr>
      <vt:lpstr>3.3 Apache Jena Fuseki 설치 및 사용</vt:lpstr>
      <vt:lpstr>3.3 Apache Jena Fuseki 설치 및 사용</vt:lpstr>
      <vt:lpstr>3.3 Apache Jena Fuseki 설치 및 사용</vt:lpstr>
      <vt:lpstr>3.4 추천 시스템 - Python 이용</vt:lpstr>
      <vt:lpstr>PowerPoint 프레젠테이션</vt:lpstr>
      <vt:lpstr>4.1 Protégé를 이용한 모델링</vt:lpstr>
      <vt:lpstr>4.2 모델링 TTL Fuseki 반영</vt:lpstr>
      <vt:lpstr>4.2 모델링 TTL Fuseki 반영</vt:lpstr>
      <vt:lpstr>4.3 추천 시스템 개발</vt:lpstr>
      <vt:lpstr>PowerPoint 프레젠테이션</vt:lpstr>
      <vt:lpstr>5.1 추천 시스템 아키텍처 흐름</vt:lpstr>
      <vt:lpstr>5.2 실시간 데이터 수집</vt:lpstr>
      <vt:lpstr>5.3 수집 및 Triple Store 저장</vt:lpstr>
      <vt:lpstr>5.4 Fuseki에서 조회</vt:lpstr>
      <vt:lpstr>5.5 Ontology, LLM 기반 질의 응답</vt:lpstr>
      <vt:lpstr>5.5 Ontology, LLM 기반 질의 응답</vt:lpstr>
      <vt:lpstr>5.5 Ontology, LLM 기반 질의 응답</vt:lpstr>
    </vt:vector>
  </TitlesOfParts>
  <Company>(주)한글과컴퓨터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표준 소개 자료</dc:title>
  <dc:creator>장윤기</dc:creator>
  <dc:description>표준 제품 소개 자료 (2005.01.24일 버젼)</dc:description>
  <cp:lastModifiedBy>Microsoft 계정</cp:lastModifiedBy>
  <cp:revision>2764</cp:revision>
  <dcterms:created xsi:type="dcterms:W3CDTF">2004-03-31T04:49:24Z</dcterms:created>
  <dcterms:modified xsi:type="dcterms:W3CDTF">2026-05-21T14:50:04Z</dcterms:modified>
</cp:coreProperties>
</file>