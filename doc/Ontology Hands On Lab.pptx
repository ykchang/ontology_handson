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51"/>
  </p:notesMasterIdLst>
  <p:handoutMasterIdLst>
    <p:handoutMasterId r:id="rId52"/>
  </p:handoutMasterIdLst>
  <p:sldIdLst>
    <p:sldId id="367" r:id="rId2"/>
    <p:sldId id="651" r:id="rId3"/>
    <p:sldId id="663" r:id="rId4"/>
    <p:sldId id="694" r:id="rId5"/>
    <p:sldId id="695" r:id="rId6"/>
    <p:sldId id="696" r:id="rId7"/>
    <p:sldId id="700" r:id="rId8"/>
    <p:sldId id="701" r:id="rId9"/>
    <p:sldId id="704" r:id="rId10"/>
    <p:sldId id="702" r:id="rId11"/>
    <p:sldId id="690" r:id="rId12"/>
    <p:sldId id="705" r:id="rId13"/>
    <p:sldId id="750" r:id="rId14"/>
    <p:sldId id="751" r:id="rId15"/>
    <p:sldId id="706" r:id="rId16"/>
    <p:sldId id="707" r:id="rId17"/>
    <p:sldId id="710" r:id="rId18"/>
    <p:sldId id="711" r:id="rId19"/>
    <p:sldId id="712" r:id="rId20"/>
    <p:sldId id="692" r:id="rId21"/>
    <p:sldId id="731" r:id="rId22"/>
    <p:sldId id="732" r:id="rId23"/>
    <p:sldId id="719" r:id="rId24"/>
    <p:sldId id="720" r:id="rId25"/>
    <p:sldId id="725" r:id="rId26"/>
    <p:sldId id="726" r:id="rId27"/>
    <p:sldId id="727" r:id="rId28"/>
    <p:sldId id="728" r:id="rId29"/>
    <p:sldId id="721" r:id="rId30"/>
    <p:sldId id="722" r:id="rId31"/>
    <p:sldId id="729" r:id="rId32"/>
    <p:sldId id="730" r:id="rId33"/>
    <p:sldId id="733" r:id="rId34"/>
    <p:sldId id="734" r:id="rId35"/>
    <p:sldId id="735" r:id="rId36"/>
    <p:sldId id="737" r:id="rId37"/>
    <p:sldId id="738" r:id="rId38"/>
    <p:sldId id="739" r:id="rId39"/>
    <p:sldId id="744" r:id="rId40"/>
    <p:sldId id="740" r:id="rId41"/>
    <p:sldId id="745" r:id="rId42"/>
    <p:sldId id="747" r:id="rId43"/>
    <p:sldId id="746" r:id="rId44"/>
    <p:sldId id="748" r:id="rId45"/>
    <p:sldId id="693" r:id="rId46"/>
    <p:sldId id="742" r:id="rId47"/>
    <p:sldId id="743" r:id="rId48"/>
    <p:sldId id="717" r:id="rId49"/>
    <p:sldId id="749" r:id="rId50"/>
  </p:sldIdLst>
  <p:sldSz cx="9906000" cy="6858000" type="A4"/>
  <p:notesSz cx="7102475" cy="102314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울릉도M" pitchFamily="18" charset="-127"/>
        <a:ea typeface="HY울릉도M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울릉도M" pitchFamily="18" charset="-127"/>
        <a:ea typeface="HY울릉도M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울릉도M" pitchFamily="18" charset="-127"/>
        <a:ea typeface="HY울릉도M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울릉도M" pitchFamily="18" charset="-127"/>
        <a:ea typeface="HY울릉도M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울릉도M" pitchFamily="18" charset="-127"/>
        <a:ea typeface="HY울릉도M" pitchFamily="18" charset="-127"/>
        <a:cs typeface="+mn-cs"/>
      </a:defRPr>
    </a:lvl5pPr>
    <a:lvl6pPr marL="2286000" algn="l" defTabSz="914400" rtl="0" eaLnBrk="1" latinLnBrk="1" hangingPunct="1">
      <a:defRPr kumimoji="1" sz="1600" kern="1200">
        <a:solidFill>
          <a:schemeClr val="tx1"/>
        </a:solidFill>
        <a:latin typeface="HY울릉도M" pitchFamily="18" charset="-127"/>
        <a:ea typeface="HY울릉도M" pitchFamily="18" charset="-127"/>
        <a:cs typeface="+mn-cs"/>
      </a:defRPr>
    </a:lvl6pPr>
    <a:lvl7pPr marL="2743200" algn="l" defTabSz="914400" rtl="0" eaLnBrk="1" latinLnBrk="1" hangingPunct="1">
      <a:defRPr kumimoji="1" sz="1600" kern="1200">
        <a:solidFill>
          <a:schemeClr val="tx1"/>
        </a:solidFill>
        <a:latin typeface="HY울릉도M" pitchFamily="18" charset="-127"/>
        <a:ea typeface="HY울릉도M" pitchFamily="18" charset="-127"/>
        <a:cs typeface="+mn-cs"/>
      </a:defRPr>
    </a:lvl7pPr>
    <a:lvl8pPr marL="3200400" algn="l" defTabSz="914400" rtl="0" eaLnBrk="1" latinLnBrk="1" hangingPunct="1">
      <a:defRPr kumimoji="1" sz="1600" kern="1200">
        <a:solidFill>
          <a:schemeClr val="tx1"/>
        </a:solidFill>
        <a:latin typeface="HY울릉도M" pitchFamily="18" charset="-127"/>
        <a:ea typeface="HY울릉도M" pitchFamily="18" charset="-127"/>
        <a:cs typeface="+mn-cs"/>
      </a:defRPr>
    </a:lvl8pPr>
    <a:lvl9pPr marL="3657600" algn="l" defTabSz="914400" rtl="0" eaLnBrk="1" latinLnBrk="1" hangingPunct="1">
      <a:defRPr kumimoji="1" sz="1600" kern="1200">
        <a:solidFill>
          <a:schemeClr val="tx1"/>
        </a:solidFill>
        <a:latin typeface="HY울릉도M" pitchFamily="18" charset="-127"/>
        <a:ea typeface="HY울릉도M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>
          <p15:clr>
            <a:srgbClr val="A4A3A4"/>
          </p15:clr>
        </p15:guide>
        <p15:guide id="2" orient="horz" pos="2886">
          <p15:clr>
            <a:srgbClr val="A4A3A4"/>
          </p15:clr>
        </p15:guide>
        <p15:guide id="3" orient="horz" pos="1661">
          <p15:clr>
            <a:srgbClr val="A4A3A4"/>
          </p15:clr>
        </p15:guide>
        <p15:guide id="4" orient="horz" pos="1207">
          <p15:clr>
            <a:srgbClr val="A4A3A4"/>
          </p15:clr>
        </p15:guide>
        <p15:guide id="5" orient="horz" pos="4065">
          <p15:clr>
            <a:srgbClr val="A4A3A4"/>
          </p15:clr>
        </p15:guide>
        <p15:guide id="6" pos="3120">
          <p15:clr>
            <a:srgbClr val="A4A3A4"/>
          </p15:clr>
        </p15:guide>
        <p15:guide id="7" pos="289">
          <p15:clr>
            <a:srgbClr val="A4A3A4"/>
          </p15:clr>
        </p15:guide>
        <p15:guide id="8" pos="6080">
          <p15:clr>
            <a:srgbClr val="A4A3A4"/>
          </p15:clr>
        </p15:guide>
        <p15:guide id="9" pos="1070">
          <p15:clr>
            <a:srgbClr val="A4A3A4"/>
          </p15:clr>
        </p15:guide>
        <p15:guide id="10" pos="1389">
          <p15:clr>
            <a:srgbClr val="A4A3A4"/>
          </p15:clr>
        </p15:guide>
        <p15:guide id="11" pos="5116">
          <p15:clr>
            <a:srgbClr val="A4A3A4"/>
          </p15:clr>
        </p15:guide>
        <p15:guide id="12" pos="357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yoonchan" initials="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66"/>
    <a:srgbClr val="FFCCFF"/>
    <a:srgbClr val="FFCC66"/>
    <a:srgbClr val="FF99CC"/>
    <a:srgbClr val="D9D9D9"/>
    <a:srgbClr val="C0C0C0"/>
    <a:srgbClr val="B2B2B2"/>
    <a:srgbClr val="CC3300"/>
    <a:srgbClr val="CCFFFF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60" autoAdjust="0"/>
    <p:restoredTop sz="97505" autoAdjust="0"/>
  </p:normalViewPr>
  <p:slideViewPr>
    <p:cSldViewPr showGuides="1">
      <p:cViewPr varScale="1">
        <p:scale>
          <a:sx n="163" d="100"/>
          <a:sy n="163" d="100"/>
        </p:scale>
        <p:origin x="1480" y="-20"/>
      </p:cViewPr>
      <p:guideLst>
        <p:guide orient="horz" pos="528"/>
        <p:guide orient="horz" pos="2886"/>
        <p:guide orient="horz" pos="1661"/>
        <p:guide orient="horz" pos="1207"/>
        <p:guide orient="horz" pos="4065"/>
        <p:guide pos="3120"/>
        <p:guide pos="289"/>
        <p:guide pos="6080"/>
        <p:guide pos="1070"/>
        <p:guide pos="1389"/>
        <p:guide pos="5116"/>
        <p:guide pos="3576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commentAuthors" Target="commentAuthor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8" tIns="45724" rIns="91448" bIns="45724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8163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8" tIns="45724" rIns="91448" bIns="45724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18675"/>
            <a:ext cx="3078163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8" tIns="45724" rIns="91448" bIns="45724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18675"/>
            <a:ext cx="3078163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8" tIns="45724" rIns="91448" bIns="45724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B4DB063E-6351-45BD-83FC-C2A8C33CE5E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641764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70" tIns="47535" rIns="95070" bIns="47535" numCol="1" anchor="t" anchorCtr="0" compatLnSpc="1">
            <a:prstTxWarp prst="textNoShape">
              <a:avLst/>
            </a:prstTxWarp>
          </a:bodyPr>
          <a:lstStyle>
            <a:lvl1pPr defTabSz="950913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761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4313" y="0"/>
            <a:ext cx="3078162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70" tIns="47535" rIns="95070" bIns="47535" numCol="1" anchor="t" anchorCtr="0" compatLnSpc="1">
            <a:prstTxWarp prst="textNoShape">
              <a:avLst/>
            </a:prstTxWarp>
          </a:bodyPr>
          <a:lstStyle>
            <a:lvl1pPr algn="r" defTabSz="950913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49300" y="727075"/>
            <a:ext cx="5605463" cy="38814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61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7738" y="4852988"/>
            <a:ext cx="5207000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70" tIns="47535" rIns="95070" bIns="475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1761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02800"/>
            <a:ext cx="3078163" cy="56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70" tIns="47535" rIns="95070" bIns="47535" numCol="1" anchor="b" anchorCtr="0" compatLnSpc="1">
            <a:prstTxWarp prst="textNoShape">
              <a:avLst/>
            </a:prstTxWarp>
          </a:bodyPr>
          <a:lstStyle>
            <a:lvl1pPr defTabSz="950913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761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4313" y="9702800"/>
            <a:ext cx="3078162" cy="56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70" tIns="47535" rIns="95070" bIns="47535" numCol="1" anchor="b" anchorCtr="0" compatLnSpc="1">
            <a:prstTxWarp prst="textNoShape">
              <a:avLst/>
            </a:prstTxWarp>
          </a:bodyPr>
          <a:lstStyle>
            <a:lvl1pPr algn="r" defTabSz="950913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DFDA10C7-5E39-4D14-B71F-3F28145FA45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985208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662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362F8734-003F-4322-9DC4-8B05D2E9BC77}" type="slidenum">
              <a:rPr lang="en-US" altLang="ko-KR" smtClean="0"/>
              <a:pPr eaLnBrk="1" hangingPunct="1">
                <a:spcBef>
                  <a:spcPct val="0"/>
                </a:spcBef>
              </a:pPr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953161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765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211079E6-095F-4982-84AB-EAEF41E1133F}" type="slidenum">
              <a:rPr lang="en-US" altLang="ko-KR" smtClean="0"/>
              <a:pPr eaLnBrk="1" hangingPunct="1">
                <a:spcBef>
                  <a:spcPct val="0"/>
                </a:spcBef>
              </a:pPr>
              <a:t>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42289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765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211079E6-095F-4982-84AB-EAEF41E1133F}" type="slidenum">
              <a:rPr lang="en-US" altLang="ko-KR" smtClean="0"/>
              <a:pPr eaLnBrk="1" hangingPunct="1">
                <a:spcBef>
                  <a:spcPct val="0"/>
                </a:spcBef>
              </a:pPr>
              <a:t>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124404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765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211079E6-095F-4982-84AB-EAEF41E1133F}" type="slidenum">
              <a:rPr lang="en-US" altLang="ko-KR" smtClean="0"/>
              <a:pPr eaLnBrk="1" hangingPunct="1">
                <a:spcBef>
                  <a:spcPct val="0"/>
                </a:spcBef>
              </a:pPr>
              <a:t>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546997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765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211079E6-095F-4982-84AB-EAEF41E1133F}" type="slidenum">
              <a:rPr lang="en-US" altLang="ko-KR" smtClean="0"/>
              <a:pPr eaLnBrk="1" hangingPunct="1">
                <a:spcBef>
                  <a:spcPct val="0"/>
                </a:spcBef>
              </a:pPr>
              <a:t>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05487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765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211079E6-095F-4982-84AB-EAEF41E1133F}" type="slidenum">
              <a:rPr lang="en-US" altLang="ko-KR" smtClean="0"/>
              <a:pPr eaLnBrk="1" hangingPunct="1">
                <a:spcBef>
                  <a:spcPct val="0"/>
                </a:spcBef>
              </a:pPr>
              <a:t>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759793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765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211079E6-095F-4982-84AB-EAEF41E1133F}" type="slidenum">
              <a:rPr lang="en-US" altLang="ko-KR" smtClean="0"/>
              <a:pPr eaLnBrk="1" hangingPunct="1">
                <a:spcBef>
                  <a:spcPct val="0"/>
                </a:spcBef>
              </a:pPr>
              <a:t>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636984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765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211079E6-095F-4982-84AB-EAEF41E1133F}" type="slidenum">
              <a:rPr lang="en-US" altLang="ko-KR" smtClean="0"/>
              <a:pPr eaLnBrk="1" hangingPunct="1">
                <a:spcBef>
                  <a:spcPct val="0"/>
                </a:spcBef>
              </a:pPr>
              <a:t>10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077028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765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211079E6-095F-4982-84AB-EAEF41E1133F}" type="slidenum">
              <a:rPr lang="en-US" altLang="ko-KR" smtClean="0"/>
              <a:pPr eaLnBrk="1" hangingPunct="1">
                <a:spcBef>
                  <a:spcPct val="0"/>
                </a:spcBef>
              </a:pPr>
              <a:t>12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618554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765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211079E6-095F-4982-84AB-EAEF41E1133F}" type="slidenum">
              <a:rPr lang="en-US" altLang="ko-KR" smtClean="0"/>
              <a:pPr eaLnBrk="1" hangingPunct="1">
                <a:spcBef>
                  <a:spcPct val="0"/>
                </a:spcBef>
              </a:pPr>
              <a:t>13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190597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765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211079E6-095F-4982-84AB-EAEF41E1133F}" type="slidenum">
              <a:rPr lang="en-US" altLang="ko-KR" smtClean="0"/>
              <a:pPr eaLnBrk="1" hangingPunct="1">
                <a:spcBef>
                  <a:spcPct val="0"/>
                </a:spcBef>
              </a:pPr>
              <a:t>14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417346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765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211079E6-095F-4982-84AB-EAEF41E1133F}" type="slidenum">
              <a:rPr lang="en-US" altLang="ko-KR" smtClean="0"/>
              <a:pPr eaLnBrk="1" hangingPunct="1">
                <a:spcBef>
                  <a:spcPct val="0"/>
                </a:spcBef>
              </a:pPr>
              <a:t>15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859784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765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211079E6-095F-4982-84AB-EAEF41E1133F}" type="slidenum">
              <a:rPr lang="en-US" altLang="ko-KR" smtClean="0"/>
              <a:pPr eaLnBrk="1" hangingPunct="1">
                <a:spcBef>
                  <a:spcPct val="0"/>
                </a:spcBef>
              </a:pPr>
              <a:t>16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094917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765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211079E6-095F-4982-84AB-EAEF41E1133F}" type="slidenum">
              <a:rPr lang="en-US" altLang="ko-KR" smtClean="0"/>
              <a:pPr eaLnBrk="1" hangingPunct="1">
                <a:spcBef>
                  <a:spcPct val="0"/>
                </a:spcBef>
              </a:pPr>
              <a:t>17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642660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765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211079E6-095F-4982-84AB-EAEF41E1133F}" type="slidenum">
              <a:rPr lang="en-US" altLang="ko-KR" smtClean="0"/>
              <a:pPr eaLnBrk="1" hangingPunct="1">
                <a:spcBef>
                  <a:spcPct val="0"/>
                </a:spcBef>
              </a:pPr>
              <a:t>18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230427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765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211079E6-095F-4982-84AB-EAEF41E1133F}" type="slidenum">
              <a:rPr lang="en-US" altLang="ko-KR" smtClean="0"/>
              <a:pPr eaLnBrk="1" hangingPunct="1">
                <a:spcBef>
                  <a:spcPct val="0"/>
                </a:spcBef>
              </a:pPr>
              <a:t>19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31235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765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211079E6-095F-4982-84AB-EAEF41E1133F}" type="slidenum">
              <a:rPr lang="en-US" altLang="ko-KR" smtClean="0"/>
              <a:pPr eaLnBrk="1" hangingPunct="1">
                <a:spcBef>
                  <a:spcPct val="0"/>
                </a:spcBef>
              </a:pPr>
              <a:t>21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911529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765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211079E6-095F-4982-84AB-EAEF41E1133F}" type="slidenum">
              <a:rPr lang="en-US" altLang="ko-KR" smtClean="0"/>
              <a:pPr eaLnBrk="1" hangingPunct="1">
                <a:spcBef>
                  <a:spcPct val="0"/>
                </a:spcBef>
              </a:pPr>
              <a:t>22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014723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765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211079E6-095F-4982-84AB-EAEF41E1133F}" type="slidenum">
              <a:rPr lang="en-US" altLang="ko-KR" smtClean="0"/>
              <a:pPr eaLnBrk="1" hangingPunct="1">
                <a:spcBef>
                  <a:spcPct val="0"/>
                </a:spcBef>
              </a:pPr>
              <a:t>23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63155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765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211079E6-095F-4982-84AB-EAEF41E1133F}" type="slidenum">
              <a:rPr lang="en-US" altLang="ko-KR" smtClean="0"/>
              <a:pPr eaLnBrk="1" hangingPunct="1">
                <a:spcBef>
                  <a:spcPct val="0"/>
                </a:spcBef>
              </a:pPr>
              <a:t>24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449433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765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211079E6-095F-4982-84AB-EAEF41E1133F}" type="slidenum">
              <a:rPr lang="en-US" altLang="ko-KR" smtClean="0"/>
              <a:pPr eaLnBrk="1" hangingPunct="1">
                <a:spcBef>
                  <a:spcPct val="0"/>
                </a:spcBef>
              </a:pPr>
              <a:t>25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753244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765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211079E6-095F-4982-84AB-EAEF41E1133F}" type="slidenum">
              <a:rPr lang="en-US" altLang="ko-KR" smtClean="0"/>
              <a:pPr eaLnBrk="1" hangingPunct="1">
                <a:spcBef>
                  <a:spcPct val="0"/>
                </a:spcBef>
              </a:pPr>
              <a:t>26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674027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765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211079E6-095F-4982-84AB-EAEF41E1133F}" type="slidenum">
              <a:rPr lang="en-US" altLang="ko-KR" smtClean="0"/>
              <a:pPr eaLnBrk="1" hangingPunct="1">
                <a:spcBef>
                  <a:spcPct val="0"/>
                </a:spcBef>
              </a:pPr>
              <a:t>27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979672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765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211079E6-095F-4982-84AB-EAEF41E1133F}" type="slidenum">
              <a:rPr lang="en-US" altLang="ko-KR" smtClean="0"/>
              <a:pPr eaLnBrk="1" hangingPunct="1">
                <a:spcBef>
                  <a:spcPct val="0"/>
                </a:spcBef>
              </a:pPr>
              <a:t>28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711317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765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211079E6-095F-4982-84AB-EAEF41E1133F}" type="slidenum">
              <a:rPr lang="en-US" altLang="ko-KR" smtClean="0"/>
              <a:pPr eaLnBrk="1" hangingPunct="1">
                <a:spcBef>
                  <a:spcPct val="0"/>
                </a:spcBef>
              </a:pPr>
              <a:t>29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413926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765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211079E6-095F-4982-84AB-EAEF41E1133F}" type="slidenum">
              <a:rPr lang="en-US" altLang="ko-KR" smtClean="0"/>
              <a:pPr eaLnBrk="1" hangingPunct="1">
                <a:spcBef>
                  <a:spcPct val="0"/>
                </a:spcBef>
              </a:pPr>
              <a:t>30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663250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765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211079E6-095F-4982-84AB-EAEF41E1133F}" type="slidenum">
              <a:rPr lang="en-US" altLang="ko-KR" smtClean="0"/>
              <a:pPr eaLnBrk="1" hangingPunct="1">
                <a:spcBef>
                  <a:spcPct val="0"/>
                </a:spcBef>
              </a:pPr>
              <a:t>31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4171263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765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211079E6-095F-4982-84AB-EAEF41E1133F}" type="slidenum">
              <a:rPr lang="en-US" altLang="ko-KR" smtClean="0"/>
              <a:pPr eaLnBrk="1" hangingPunct="1">
                <a:spcBef>
                  <a:spcPct val="0"/>
                </a:spcBef>
              </a:pPr>
              <a:t>32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7419050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765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211079E6-095F-4982-84AB-EAEF41E1133F}" type="slidenum">
              <a:rPr lang="en-US" altLang="ko-KR" smtClean="0"/>
              <a:pPr eaLnBrk="1" hangingPunct="1">
                <a:spcBef>
                  <a:spcPct val="0"/>
                </a:spcBef>
              </a:pPr>
              <a:t>34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8004357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765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211079E6-095F-4982-84AB-EAEF41E1133F}" type="slidenum">
              <a:rPr lang="en-US" altLang="ko-KR" smtClean="0"/>
              <a:pPr eaLnBrk="1" hangingPunct="1">
                <a:spcBef>
                  <a:spcPct val="0"/>
                </a:spcBef>
              </a:pPr>
              <a:t>35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9541227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765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211079E6-095F-4982-84AB-EAEF41E1133F}" type="slidenum">
              <a:rPr lang="en-US" altLang="ko-KR" smtClean="0"/>
              <a:pPr eaLnBrk="1" hangingPunct="1">
                <a:spcBef>
                  <a:spcPct val="0"/>
                </a:spcBef>
              </a:pPr>
              <a:t>36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7940934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765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211079E6-095F-4982-84AB-EAEF41E1133F}" type="slidenum">
              <a:rPr lang="en-US" altLang="ko-KR" smtClean="0"/>
              <a:pPr eaLnBrk="1" hangingPunct="1">
                <a:spcBef>
                  <a:spcPct val="0"/>
                </a:spcBef>
              </a:pPr>
              <a:t>37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1928663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765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211079E6-095F-4982-84AB-EAEF41E1133F}" type="slidenum">
              <a:rPr lang="en-US" altLang="ko-KR" smtClean="0"/>
              <a:pPr eaLnBrk="1" hangingPunct="1">
                <a:spcBef>
                  <a:spcPct val="0"/>
                </a:spcBef>
              </a:pPr>
              <a:t>38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9726291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765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211079E6-095F-4982-84AB-EAEF41E1133F}" type="slidenum">
              <a:rPr lang="en-US" altLang="ko-KR" smtClean="0"/>
              <a:pPr eaLnBrk="1" hangingPunct="1">
                <a:spcBef>
                  <a:spcPct val="0"/>
                </a:spcBef>
              </a:pPr>
              <a:t>39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1183650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765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211079E6-095F-4982-84AB-EAEF41E1133F}" type="slidenum">
              <a:rPr lang="en-US" altLang="ko-KR" smtClean="0"/>
              <a:pPr eaLnBrk="1" hangingPunct="1">
                <a:spcBef>
                  <a:spcPct val="0"/>
                </a:spcBef>
              </a:pPr>
              <a:t>40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5923335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765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211079E6-095F-4982-84AB-EAEF41E1133F}" type="slidenum">
              <a:rPr lang="en-US" altLang="ko-KR" smtClean="0"/>
              <a:pPr eaLnBrk="1" hangingPunct="1">
                <a:spcBef>
                  <a:spcPct val="0"/>
                </a:spcBef>
              </a:pPr>
              <a:t>41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5942165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765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211079E6-095F-4982-84AB-EAEF41E1133F}" type="slidenum">
              <a:rPr lang="en-US" altLang="ko-KR" smtClean="0"/>
              <a:pPr eaLnBrk="1" hangingPunct="1">
                <a:spcBef>
                  <a:spcPct val="0"/>
                </a:spcBef>
              </a:pPr>
              <a:t>42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5486755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765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211079E6-095F-4982-84AB-EAEF41E1133F}" type="slidenum">
              <a:rPr lang="en-US" altLang="ko-KR" smtClean="0"/>
              <a:pPr eaLnBrk="1" hangingPunct="1">
                <a:spcBef>
                  <a:spcPct val="0"/>
                </a:spcBef>
              </a:pPr>
              <a:t>43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0658943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765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211079E6-095F-4982-84AB-EAEF41E1133F}" type="slidenum">
              <a:rPr lang="en-US" altLang="ko-KR" smtClean="0"/>
              <a:pPr eaLnBrk="1" hangingPunct="1">
                <a:spcBef>
                  <a:spcPct val="0"/>
                </a:spcBef>
              </a:pPr>
              <a:t>44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2146724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765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211079E6-095F-4982-84AB-EAEF41E1133F}" type="slidenum">
              <a:rPr lang="en-US" altLang="ko-KR" smtClean="0"/>
              <a:pPr eaLnBrk="1" hangingPunct="1">
                <a:spcBef>
                  <a:spcPct val="0"/>
                </a:spcBef>
              </a:pPr>
              <a:t>46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5509587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765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211079E6-095F-4982-84AB-EAEF41E1133F}" type="slidenum">
              <a:rPr lang="en-US" altLang="ko-KR" smtClean="0"/>
              <a:pPr eaLnBrk="1" hangingPunct="1">
                <a:spcBef>
                  <a:spcPct val="0"/>
                </a:spcBef>
              </a:pPr>
              <a:t>47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802861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765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211079E6-095F-4982-84AB-EAEF41E1133F}" type="slidenum">
              <a:rPr lang="en-US" altLang="ko-KR" smtClean="0"/>
              <a:pPr eaLnBrk="1" hangingPunct="1">
                <a:spcBef>
                  <a:spcPct val="0"/>
                </a:spcBef>
              </a:pPr>
              <a:t>48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9471335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765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09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211079E6-095F-4982-84AB-EAEF41E1133F}" type="slidenum">
              <a:rPr lang="en-US" altLang="ko-KR" smtClean="0"/>
              <a:pPr eaLnBrk="1" hangingPunct="1">
                <a:spcBef>
                  <a:spcPct val="0"/>
                </a:spcBef>
              </a:pPr>
              <a:t>49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13092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21"/>
          <p:cNvSpPr>
            <a:spLocks noChangeShapeType="1"/>
          </p:cNvSpPr>
          <p:nvPr userDrawn="1"/>
        </p:nvSpPr>
        <p:spPr bwMode="auto">
          <a:xfrm>
            <a:off x="1460500" y="1143000"/>
            <a:ext cx="71866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" name="Line 23"/>
          <p:cNvSpPr>
            <a:spLocks noChangeShapeType="1"/>
          </p:cNvSpPr>
          <p:nvPr userDrawn="1"/>
        </p:nvSpPr>
        <p:spPr bwMode="auto">
          <a:xfrm>
            <a:off x="1460500" y="3733800"/>
            <a:ext cx="71866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976713" y="1844824"/>
            <a:ext cx="5928615" cy="1082675"/>
          </a:xfrm>
        </p:spPr>
        <p:txBody>
          <a:bodyPr/>
          <a:lstStyle>
            <a:lvl1pPr>
              <a:defRPr sz="4400"/>
            </a:lvl1pPr>
          </a:lstStyle>
          <a:p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220858230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8788" y="836613"/>
            <a:ext cx="9193212" cy="5545137"/>
          </a:xfrm>
        </p:spPr>
        <p:txBody>
          <a:bodyPr/>
          <a:lstStyle>
            <a:lvl1pPr>
              <a:buFont typeface="Arial" pitchFamily="34" charset="0"/>
              <a:buChar char="•"/>
              <a:defRPr sz="2400">
                <a:latin typeface="맑은 고딕" pitchFamily="50" charset="-127"/>
                <a:ea typeface="맑은 고딕" pitchFamily="50" charset="-127"/>
              </a:defRPr>
            </a:lvl1pPr>
            <a:lvl2pPr>
              <a:defRPr sz="2000">
                <a:latin typeface="맑은 고딕" pitchFamily="50" charset="-127"/>
                <a:ea typeface="맑은 고딕" pitchFamily="50" charset="-127"/>
              </a:defRPr>
            </a:lvl2pPr>
            <a:lvl3pPr>
              <a:defRPr sz="1600">
                <a:latin typeface="맑은 고딕" pitchFamily="50" charset="-127"/>
                <a:ea typeface="맑은 고딕" pitchFamily="50" charset="-127"/>
              </a:defRPr>
            </a:lvl3pPr>
            <a:lvl4pPr>
              <a:defRPr sz="160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Rectangle 2062"/>
          <p:cNvSpPr>
            <a:spLocks noGrp="1" noChangeArrowheads="1"/>
          </p:cNvSpPr>
          <p:nvPr>
            <p:ph type="title"/>
          </p:nvPr>
        </p:nvSpPr>
        <p:spPr bwMode="auto">
          <a:xfrm>
            <a:off x="344488" y="152400"/>
            <a:ext cx="9307512" cy="4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44298673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062"/>
          <p:cNvSpPr>
            <a:spLocks noGrp="1" noChangeArrowheads="1"/>
          </p:cNvSpPr>
          <p:nvPr>
            <p:ph type="title"/>
          </p:nvPr>
        </p:nvSpPr>
        <p:spPr bwMode="auto">
          <a:xfrm>
            <a:off x="344488" y="152400"/>
            <a:ext cx="9307512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206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836613"/>
            <a:ext cx="9193212" cy="554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</p:txBody>
      </p:sp>
      <p:sp>
        <p:nvSpPr>
          <p:cNvPr id="1028" name="Rectangle 2072"/>
          <p:cNvSpPr>
            <a:spLocks noChangeArrowheads="1"/>
          </p:cNvSpPr>
          <p:nvPr userDrawn="1"/>
        </p:nvSpPr>
        <p:spPr bwMode="auto">
          <a:xfrm>
            <a:off x="458788" y="681038"/>
            <a:ext cx="9447212" cy="84137"/>
          </a:xfrm>
          <a:prstGeom prst="rect">
            <a:avLst/>
          </a:prstGeom>
          <a:gradFill rotWithShape="0">
            <a:gsLst>
              <a:gs pos="0">
                <a:srgbClr val="4D4D4D"/>
              </a:gs>
              <a:gs pos="100000">
                <a:srgbClr val="CFCFC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60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defRPr>
            </a:lvl9pPr>
          </a:lstStyle>
          <a:p>
            <a:pPr eaLnBrk="1" hangingPunct="1">
              <a:defRPr/>
            </a:pPr>
            <a:endParaRPr lang="ko-KR" altLang="en-US"/>
          </a:p>
        </p:txBody>
      </p:sp>
      <p:sp>
        <p:nvSpPr>
          <p:cNvPr id="1029" name="Rectangle 2073"/>
          <p:cNvSpPr>
            <a:spLocks noChangeArrowheads="1"/>
          </p:cNvSpPr>
          <p:nvPr userDrawn="1"/>
        </p:nvSpPr>
        <p:spPr bwMode="auto">
          <a:xfrm>
            <a:off x="458788" y="6453188"/>
            <a:ext cx="9447212" cy="74612"/>
          </a:xfrm>
          <a:prstGeom prst="rect">
            <a:avLst/>
          </a:prstGeom>
          <a:gradFill rotWithShape="0">
            <a:gsLst>
              <a:gs pos="0">
                <a:srgbClr val="4D4D4D"/>
              </a:gs>
              <a:gs pos="100000">
                <a:srgbClr val="CFCFC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60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defRPr>
            </a:lvl9pPr>
          </a:lstStyle>
          <a:p>
            <a:pPr eaLnBrk="1" hangingPunct="1">
              <a:defRPr/>
            </a:pPr>
            <a:endParaRPr lang="ko-KR" altLang="en-US"/>
          </a:p>
        </p:txBody>
      </p:sp>
      <p:sp>
        <p:nvSpPr>
          <p:cNvPr id="1030" name="TextBox 6"/>
          <p:cNvSpPr txBox="1">
            <a:spLocks noChangeArrowheads="1"/>
          </p:cNvSpPr>
          <p:nvPr userDrawn="1"/>
        </p:nvSpPr>
        <p:spPr bwMode="auto">
          <a:xfrm>
            <a:off x="366713" y="6597650"/>
            <a:ext cx="109517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defRPr>
            </a:lvl9pPr>
          </a:lstStyle>
          <a:p>
            <a:pPr eaLnBrk="1" hangingPunct="1">
              <a:defRPr/>
            </a:pPr>
            <a:fld id="{C0C99F72-7D32-4922-93BC-55CF6E0EC15E}" type="slidenum">
              <a:rPr lang="en-US" altLang="ko-KR" sz="800" b="1" smtClean="0">
                <a:latin typeface="Arial" pitchFamily="34" charset="0"/>
                <a:ea typeface="맑은 고딕" pitchFamily="50" charset="-127"/>
                <a:cs typeface="Arial" pitchFamily="34" charset="0"/>
              </a:rPr>
              <a:pPr eaLnBrk="1" hangingPunct="1">
                <a:defRPr/>
              </a:pPr>
              <a:t>‹#›</a:t>
            </a:fld>
            <a:r>
              <a:rPr lang="en-US" altLang="ko-KR" sz="800">
                <a:latin typeface="Arial" pitchFamily="34" charset="0"/>
                <a:ea typeface="맑은 고딕" pitchFamily="50" charset="-127"/>
                <a:cs typeface="Arial" pitchFamily="34" charset="0"/>
              </a:rPr>
              <a:t> | Copyright 2026</a:t>
            </a:r>
            <a:endParaRPr lang="ko-KR" altLang="en-US" sz="800"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6" r:id="rId1"/>
    <p:sldLayoutId id="2147483945" r:id="rId2"/>
  </p:sldLayoutIdLst>
  <p:transition/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defRPr kumimoji="1" sz="2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11"/>
          <p:cNvSpPr txBox="1">
            <a:spLocks noChangeArrowheads="1"/>
          </p:cNvSpPr>
          <p:nvPr/>
        </p:nvSpPr>
        <p:spPr bwMode="auto">
          <a:xfrm>
            <a:off x="1066350" y="1643063"/>
            <a:ext cx="7776489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en-US" altLang="ko-KR" sz="3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바탕" pitchFamily="18" charset="-127"/>
                <a:ea typeface="바탕" pitchFamily="18" charset="-127"/>
              </a:rPr>
              <a:t>Hands On Lab</a:t>
            </a:r>
          </a:p>
          <a:p>
            <a:pPr algn="ctr">
              <a:lnSpc>
                <a:spcPct val="120000"/>
              </a:lnSpc>
              <a:defRPr/>
            </a:pPr>
            <a:r>
              <a:rPr lang="en-US" altLang="ko-KR" sz="4800" dirty="0" smtClean="0">
                <a:latin typeface="HY헤드라인M" pitchFamily="18" charset="-127"/>
                <a:ea typeface="HY헤드라인M" pitchFamily="18" charset="-127"/>
              </a:rPr>
              <a:t>“Ontology &amp; Graph RAG”</a:t>
            </a:r>
            <a:endParaRPr lang="en-US" altLang="ko-KR" sz="4800" dirty="0"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3075" name="Line 21"/>
          <p:cNvSpPr>
            <a:spLocks noChangeShapeType="1"/>
          </p:cNvSpPr>
          <p:nvPr/>
        </p:nvSpPr>
        <p:spPr bwMode="auto">
          <a:xfrm>
            <a:off x="1460500" y="1143000"/>
            <a:ext cx="71866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076" name="Line 23"/>
          <p:cNvSpPr>
            <a:spLocks noChangeShapeType="1"/>
          </p:cNvSpPr>
          <p:nvPr/>
        </p:nvSpPr>
        <p:spPr bwMode="auto">
          <a:xfrm>
            <a:off x="1460500" y="3733800"/>
            <a:ext cx="71866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077" name="TextBox 6"/>
          <p:cNvSpPr txBox="1">
            <a:spLocks noChangeArrowheads="1"/>
          </p:cNvSpPr>
          <p:nvPr/>
        </p:nvSpPr>
        <p:spPr bwMode="auto">
          <a:xfrm>
            <a:off x="3976966" y="4841875"/>
            <a:ext cx="1880644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en-US" altLang="ko-KR" sz="2000" dirty="0" smtClean="0"/>
              <a:t>2026.05</a:t>
            </a:r>
            <a:endParaRPr lang="en-US" altLang="ko-KR" sz="2000" dirty="0"/>
          </a:p>
          <a:p>
            <a:pPr algn="ctr" eaLnBrk="1" hangingPunct="1">
              <a:spcBef>
                <a:spcPct val="0"/>
              </a:spcBef>
            </a:pPr>
            <a:endParaRPr lang="en-US" altLang="ko-KR" sz="2000" dirty="0"/>
          </a:p>
          <a:p>
            <a:pPr algn="ctr" eaLnBrk="1" hangingPunct="1">
              <a:spcBef>
                <a:spcPct val="0"/>
              </a:spcBef>
            </a:pPr>
            <a:r>
              <a:rPr lang="ko-KR" altLang="en-US" sz="2000" dirty="0" err="1"/>
              <a:t>도버이앤씨</a:t>
            </a:r>
            <a:r>
              <a:rPr lang="en-US" altLang="ko-KR" sz="2000" dirty="0"/>
              <a:t>(</a:t>
            </a:r>
            <a:r>
              <a:rPr lang="ko-KR" altLang="en-US" sz="2000" dirty="0"/>
              <a:t>주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44488" y="152400"/>
            <a:ext cx="9307512" cy="360363"/>
          </a:xfrm>
          <a:ln/>
        </p:spPr>
        <p:txBody>
          <a:bodyPr/>
          <a:lstStyle/>
          <a:p>
            <a:pPr eaLnBrk="1" hangingPunct="1"/>
            <a:r>
              <a:rPr lang="ko-KR" altLang="en-US"/>
              <a:t>목차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458788" y="1484313"/>
            <a:ext cx="9193212" cy="42481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1970088" indent="-352425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altLang="ko-KR" sz="28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Hands On Lab </a:t>
            </a:r>
            <a:r>
              <a:rPr lang="ko-KR" altLang="en-US" sz="28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소개</a:t>
            </a:r>
            <a:endParaRPr lang="en-US" altLang="ko-KR" sz="2800" b="1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970088" indent="-352425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altLang="ko-KR" sz="28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Apache Kafka 4.x </a:t>
            </a:r>
            <a:r>
              <a:rPr lang="ko-KR" altLang="en-US" sz="28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이해하기</a:t>
            </a:r>
            <a:endParaRPr lang="en-US" altLang="ko-KR" sz="2800" b="1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970088" indent="-352425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altLang="ko-KR" sz="28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Event </a:t>
            </a:r>
            <a:r>
              <a:rPr lang="ko-KR" altLang="en-US" sz="28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처리</a:t>
            </a:r>
            <a:endParaRPr lang="en-US" altLang="ko-KR" sz="2800" b="1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970088" indent="-352425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altLang="ko-KR" sz="28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Stream </a:t>
            </a:r>
            <a:r>
              <a:rPr lang="ko-KR" altLang="en-US" sz="28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처리</a:t>
            </a:r>
            <a:endParaRPr lang="en-US" altLang="ko-KR" sz="2800" b="1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970088" indent="-352425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altLang="ko-KR" sz="28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ELK</a:t>
            </a:r>
            <a:r>
              <a:rPr lang="ko-KR" altLang="en-US" sz="28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를 이용한 모니터링</a:t>
            </a:r>
            <a:endParaRPr lang="en-US" altLang="ko-KR" sz="2800" b="1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970088" indent="-352425">
              <a:lnSpc>
                <a:spcPct val="150000"/>
              </a:lnSpc>
              <a:buFont typeface="+mj-lt"/>
              <a:buAutoNum type="arabicPeriod"/>
              <a:defRPr/>
            </a:pPr>
            <a:r>
              <a:rPr lang="ko-KR" altLang="en-US" sz="28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요약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4"/>
          <p:cNvGrpSpPr>
            <a:grpSpLocks/>
          </p:cNvGrpSpPr>
          <p:nvPr/>
        </p:nvGrpSpPr>
        <p:grpSpPr bwMode="auto">
          <a:xfrm>
            <a:off x="-15875" y="1905000"/>
            <a:ext cx="9399588" cy="533400"/>
            <a:chOff x="0" y="768"/>
            <a:chExt cx="3870" cy="480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5126" name="Rectangle 5"/>
            <p:cNvSpPr>
              <a:spLocks noChangeArrowheads="1"/>
            </p:cNvSpPr>
            <p:nvPr/>
          </p:nvSpPr>
          <p:spPr bwMode="auto">
            <a:xfrm>
              <a:off x="0" y="768"/>
              <a:ext cx="3630" cy="48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defRPr kumimoji="1" sz="2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ko-KR" altLang="en-US" sz="1600">
                <a:solidFill>
                  <a:schemeClr val="bg1"/>
                </a:solidFill>
                <a:latin typeface="HY울릉도M" pitchFamily="18" charset="-127"/>
                <a:ea typeface="HY울릉도M" pitchFamily="18" charset="-127"/>
              </a:endParaRPr>
            </a:p>
          </p:txBody>
        </p:sp>
        <p:sp>
          <p:nvSpPr>
            <p:cNvPr id="5127" name="AutoShape 6"/>
            <p:cNvSpPr>
              <a:spLocks noChangeArrowheads="1"/>
            </p:cNvSpPr>
            <p:nvPr/>
          </p:nvSpPr>
          <p:spPr bwMode="auto">
            <a:xfrm>
              <a:off x="2640" y="768"/>
              <a:ext cx="1230" cy="48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defRPr kumimoji="1" sz="2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ko-KR" altLang="en-US" sz="1600">
                <a:solidFill>
                  <a:schemeClr val="bg1"/>
                </a:solidFill>
                <a:latin typeface="HY울릉도M" pitchFamily="18" charset="-127"/>
                <a:ea typeface="HY울릉도M" pitchFamily="18" charset="-127"/>
              </a:endParaRPr>
            </a:p>
          </p:txBody>
        </p:sp>
      </p:grpSp>
      <p:sp>
        <p:nvSpPr>
          <p:cNvPr id="5123" name="AutoShape 7"/>
          <p:cNvSpPr>
            <a:spLocks noChangeArrowheads="1"/>
          </p:cNvSpPr>
          <p:nvPr/>
        </p:nvSpPr>
        <p:spPr bwMode="auto">
          <a:xfrm>
            <a:off x="3490913" y="1943100"/>
            <a:ext cx="3749675" cy="457200"/>
          </a:xfrm>
          <a:prstGeom prst="bevel">
            <a:avLst>
              <a:gd name="adj" fmla="val 125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</a:pPr>
            <a:r>
              <a:rPr kumimoji="0" lang="en-US" altLang="ko-KR" sz="3200" b="1">
                <a:solidFill>
                  <a:schemeClr val="bg1"/>
                </a:solidFill>
              </a:rPr>
              <a:t>Hands On Lab </a:t>
            </a:r>
            <a:r>
              <a:rPr kumimoji="0" lang="ko-KR" altLang="en-US" sz="3200" b="1">
                <a:solidFill>
                  <a:schemeClr val="bg1"/>
                </a:solidFill>
              </a:rPr>
              <a:t>소개</a:t>
            </a:r>
            <a:endParaRPr kumimoji="0" lang="en-US" altLang="ko-KR" sz="3200" b="1">
              <a:solidFill>
                <a:schemeClr val="bg1"/>
              </a:solidFill>
            </a:endParaRPr>
          </a:p>
        </p:txBody>
      </p:sp>
      <p:sp>
        <p:nvSpPr>
          <p:cNvPr id="5124" name="Rectangle 8"/>
          <p:cNvSpPr>
            <a:spLocks noChangeArrowheads="1"/>
          </p:cNvSpPr>
          <p:nvPr/>
        </p:nvSpPr>
        <p:spPr bwMode="auto">
          <a:xfrm>
            <a:off x="1577975" y="1219200"/>
            <a:ext cx="1377950" cy="2057400"/>
          </a:xfrm>
          <a:prstGeom prst="rect">
            <a:avLst/>
          </a:prstGeom>
          <a:noFill/>
          <a:ln>
            <a:noFill/>
          </a:ln>
          <a:effectLst>
            <a:outerShdw dist="71842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en-US" altLang="ko-KR" sz="14000" i="1">
                <a:solidFill>
                  <a:srgbClr val="FF0000"/>
                </a:solidFill>
                <a:latin typeface="Arial Black" pitchFamily="34" charset="0"/>
                <a:ea typeface="HY견고딕" pitchFamily="18" charset="-127"/>
              </a:rPr>
              <a:t>1</a:t>
            </a:r>
          </a:p>
        </p:txBody>
      </p:sp>
      <p:sp>
        <p:nvSpPr>
          <p:cNvPr id="5125" name="Text Box 9"/>
          <p:cNvSpPr txBox="1">
            <a:spLocks noChangeArrowheads="1"/>
          </p:cNvSpPr>
          <p:nvPr/>
        </p:nvSpPr>
        <p:spPr bwMode="auto">
          <a:xfrm>
            <a:off x="3414713" y="2667000"/>
            <a:ext cx="6237287" cy="169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lvl="1" eaLnBrk="1" latinLnBrk="0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kumimoji="0" lang="en-US" altLang="ko-KR" b="1" dirty="0"/>
              <a:t>1.1 Hands On Lab </a:t>
            </a:r>
            <a:r>
              <a:rPr kumimoji="0" lang="ko-KR" altLang="en-US" b="1" dirty="0"/>
              <a:t>목적</a:t>
            </a:r>
            <a:endParaRPr kumimoji="0" lang="en-US" altLang="ko-KR" b="1" dirty="0"/>
          </a:p>
          <a:p>
            <a:pPr lvl="1" eaLnBrk="1" latinLnBrk="0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kumimoji="0" lang="en-US" altLang="ko-KR" b="1" dirty="0"/>
              <a:t>1.2 Hands On Lab </a:t>
            </a:r>
            <a:r>
              <a:rPr kumimoji="0" lang="ko-KR" altLang="en-US" b="1" dirty="0"/>
              <a:t>환경</a:t>
            </a:r>
            <a:endParaRPr kumimoji="0" lang="en-US" altLang="ko-KR" b="1" dirty="0"/>
          </a:p>
          <a:p>
            <a:pPr lvl="1" eaLnBrk="1" latinLnBrk="0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kumimoji="0" lang="en-US" altLang="ko-KR" b="1" dirty="0"/>
              <a:t>1.3 Oracle Virtual Box </a:t>
            </a:r>
            <a:r>
              <a:rPr kumimoji="0" lang="ko-KR" altLang="en-US" b="1" dirty="0"/>
              <a:t>설치 및 준비</a:t>
            </a:r>
            <a:endParaRPr kumimoji="0" lang="en-US" altLang="ko-KR" b="1" dirty="0"/>
          </a:p>
          <a:p>
            <a:pPr lvl="1" eaLnBrk="1" latinLnBrk="0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endParaRPr kumimoji="0" lang="ko-KR" altLang="en-US" b="1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제목 1"/>
          <p:cNvSpPr>
            <a:spLocks noGrp="1"/>
          </p:cNvSpPr>
          <p:nvPr>
            <p:ph type="title"/>
          </p:nvPr>
        </p:nvSpPr>
        <p:spPr>
          <a:xfrm>
            <a:off x="344488" y="152400"/>
            <a:ext cx="9307512" cy="360363"/>
          </a:xfrm>
          <a:ln/>
        </p:spPr>
        <p:txBody>
          <a:bodyPr/>
          <a:lstStyle/>
          <a:p>
            <a:r>
              <a:rPr lang="en-US" altLang="ko-KR"/>
              <a:t>1.1 Hands On Lab </a:t>
            </a:r>
            <a:r>
              <a:rPr lang="ko-KR" altLang="en-US"/>
              <a:t>목적</a:t>
            </a:r>
          </a:p>
        </p:txBody>
      </p:sp>
      <p:sp>
        <p:nvSpPr>
          <p:cNvPr id="6149" name="내용 개체 틀 2"/>
          <p:cNvSpPr>
            <a:spLocks noGrp="1"/>
          </p:cNvSpPr>
          <p:nvPr>
            <p:ph idx="1"/>
          </p:nvPr>
        </p:nvSpPr>
        <p:spPr>
          <a:xfrm>
            <a:off x="458788" y="836613"/>
            <a:ext cx="9193212" cy="576262"/>
          </a:xfrm>
        </p:spPr>
        <p:txBody>
          <a:bodyPr/>
          <a:lstStyle/>
          <a:p>
            <a:pPr>
              <a:buFontTx/>
              <a:buChar char="•"/>
            </a:pPr>
            <a:r>
              <a:rPr lang="ko-KR" altLang="en-US" sz="2000" dirty="0"/>
              <a:t>본 </a:t>
            </a:r>
            <a:r>
              <a:rPr lang="en-US" altLang="ko-KR" sz="2000" dirty="0"/>
              <a:t>Hands On Lab</a:t>
            </a:r>
            <a:r>
              <a:rPr lang="ko-KR" altLang="en-US" sz="2000" dirty="0"/>
              <a:t>은 </a:t>
            </a:r>
            <a:r>
              <a:rPr lang="en-US" altLang="ko-KR" sz="2000" dirty="0" smtClean="0"/>
              <a:t>Ontology</a:t>
            </a:r>
            <a:r>
              <a:rPr lang="ko-KR" altLang="en-US" sz="2000" dirty="0" smtClean="0"/>
              <a:t>를 이해하고 </a:t>
            </a:r>
            <a:r>
              <a:rPr lang="en-US" altLang="ko-KR" sz="2000" dirty="0" err="1" smtClean="0"/>
              <a:t>ollama</a:t>
            </a:r>
            <a:r>
              <a:rPr lang="ko-KR" altLang="en-US" sz="2000" dirty="0"/>
              <a:t> </a:t>
            </a:r>
            <a:r>
              <a:rPr lang="ko-KR" altLang="en-US" sz="2000" dirty="0" smtClean="0"/>
              <a:t>및 </a:t>
            </a:r>
            <a:r>
              <a:rPr lang="en-US" altLang="ko-KR" sz="2000" dirty="0" smtClean="0"/>
              <a:t>Apache </a:t>
            </a:r>
            <a:r>
              <a:rPr lang="en-US" altLang="ko-KR" sz="2000" dirty="0" err="1" smtClean="0"/>
              <a:t>Fuseki</a:t>
            </a:r>
            <a:r>
              <a:rPr lang="ko-KR" altLang="en-US" sz="2000" dirty="0" smtClean="0"/>
              <a:t>와 </a:t>
            </a:r>
            <a:r>
              <a:rPr lang="en-US" altLang="ko-KR" sz="2000" dirty="0" err="1" smtClean="0"/>
              <a:t>Protege</a:t>
            </a:r>
            <a:r>
              <a:rPr lang="ko-KR" altLang="en-US" sz="2000" dirty="0" smtClean="0"/>
              <a:t>를 이용해서 실습한다</a:t>
            </a:r>
            <a:r>
              <a:rPr lang="en-US" altLang="ko-KR" sz="2000" dirty="0" smtClean="0"/>
              <a:t>.</a:t>
            </a:r>
          </a:p>
          <a:p>
            <a:pPr>
              <a:buFontTx/>
              <a:buChar char="•"/>
            </a:pPr>
            <a:endParaRPr lang="en-US" altLang="ko-KR" sz="2000" dirty="0"/>
          </a:p>
          <a:p>
            <a:pPr>
              <a:buFontTx/>
              <a:buChar char="•"/>
            </a:pPr>
            <a:r>
              <a:rPr lang="ko-KR" altLang="en-US" sz="2000" dirty="0"/>
              <a:t>본 </a:t>
            </a:r>
            <a:r>
              <a:rPr lang="en-US" altLang="ko-KR" sz="2000" dirty="0"/>
              <a:t>Hands On Lab</a:t>
            </a:r>
            <a:r>
              <a:rPr lang="ko-KR" altLang="en-US" sz="2000" dirty="0"/>
              <a:t>의 진행 순서는 다음과 같다</a:t>
            </a:r>
            <a:endParaRPr lang="en-US" altLang="ko-KR" sz="2000" dirty="0"/>
          </a:p>
          <a:p>
            <a:pPr lvl="1">
              <a:buFontTx/>
              <a:buChar char="•"/>
            </a:pPr>
            <a:r>
              <a:rPr lang="en-US" altLang="ko-KR" sz="1800" dirty="0"/>
              <a:t>Oracle </a:t>
            </a:r>
            <a:r>
              <a:rPr lang="en-US" altLang="ko-KR" sz="1800" dirty="0" err="1"/>
              <a:t>VirtualBox</a:t>
            </a:r>
            <a:r>
              <a:rPr lang="en-US" altLang="ko-KR" sz="1800" dirty="0"/>
              <a:t> </a:t>
            </a:r>
            <a:r>
              <a:rPr lang="ko-KR" altLang="en-US" sz="1800" dirty="0"/>
              <a:t>기반으로 </a:t>
            </a:r>
            <a:r>
              <a:rPr lang="en-US" altLang="ko-KR" sz="1800" dirty="0"/>
              <a:t>Hands On Lab </a:t>
            </a:r>
            <a:r>
              <a:rPr lang="ko-KR" altLang="en-US" sz="1800" dirty="0"/>
              <a:t>환경 구성</a:t>
            </a:r>
            <a:endParaRPr lang="en-US" altLang="ko-KR" sz="1800" dirty="0"/>
          </a:p>
          <a:p>
            <a:pPr lvl="1">
              <a:buFontTx/>
              <a:buChar char="•"/>
            </a:pPr>
            <a:r>
              <a:rPr lang="en-US" altLang="ko-KR" sz="1800" dirty="0" err="1" smtClean="0"/>
              <a:t>Ollama</a:t>
            </a:r>
            <a:r>
              <a:rPr lang="en-US" altLang="ko-KR" sz="1800" dirty="0" smtClean="0"/>
              <a:t> </a:t>
            </a:r>
            <a:r>
              <a:rPr lang="ko-KR" altLang="en-US" sz="1800" dirty="0" smtClean="0"/>
              <a:t>설치 및 사용</a:t>
            </a:r>
            <a:endParaRPr lang="en-US" altLang="ko-KR" sz="1800" dirty="0" smtClean="0"/>
          </a:p>
          <a:p>
            <a:pPr lvl="1">
              <a:buFontTx/>
              <a:buChar char="•"/>
            </a:pPr>
            <a:r>
              <a:rPr lang="en-US" altLang="ko-KR" sz="1800" dirty="0" smtClean="0"/>
              <a:t>Open WEB UI </a:t>
            </a:r>
            <a:r>
              <a:rPr lang="ko-KR" altLang="en-US" sz="1800" dirty="0" smtClean="0"/>
              <a:t>설치 및 사용</a:t>
            </a:r>
            <a:endParaRPr lang="en-US" altLang="ko-KR" sz="1800" dirty="0" smtClean="0"/>
          </a:p>
          <a:p>
            <a:pPr lvl="1">
              <a:buFontTx/>
              <a:buChar char="•"/>
            </a:pPr>
            <a:r>
              <a:rPr lang="en-US" altLang="ko-KR" sz="1800" dirty="0" err="1" smtClean="0"/>
              <a:t>Fuseki</a:t>
            </a:r>
            <a:r>
              <a:rPr lang="ko-KR" altLang="en-US" sz="1800" dirty="0" smtClean="0"/>
              <a:t>를 이용한 </a:t>
            </a:r>
            <a:r>
              <a:rPr lang="en-US" altLang="ko-KR" sz="1800" dirty="0" smtClean="0"/>
              <a:t>Ontology </a:t>
            </a:r>
            <a:r>
              <a:rPr lang="ko-KR" altLang="en-US" sz="1800" dirty="0" smtClean="0"/>
              <a:t>구축</a:t>
            </a:r>
            <a:endParaRPr lang="en-US" altLang="ko-KR" sz="1800" dirty="0" smtClean="0"/>
          </a:p>
          <a:p>
            <a:pPr lvl="1">
              <a:buFontTx/>
              <a:buChar char="•"/>
            </a:pPr>
            <a:r>
              <a:rPr lang="en-US" altLang="ko-KR" sz="1800" dirty="0" smtClean="0"/>
              <a:t>Python</a:t>
            </a:r>
            <a:r>
              <a:rPr lang="ko-KR" altLang="en-US" sz="1800" dirty="0" smtClean="0"/>
              <a:t>을 이용한 연동</a:t>
            </a:r>
            <a:endParaRPr lang="en-US" altLang="ko-KR" sz="1800" dirty="0"/>
          </a:p>
          <a:p>
            <a:pPr lvl="1">
              <a:buFontTx/>
              <a:buChar char="•"/>
            </a:pPr>
            <a:endParaRPr lang="en-US" altLang="ko-KR" sz="1800" dirty="0"/>
          </a:p>
          <a:p>
            <a:pPr>
              <a:buFontTx/>
              <a:buChar char="•"/>
            </a:pPr>
            <a:r>
              <a:rPr lang="ko-KR" altLang="en-US" sz="2000" dirty="0"/>
              <a:t>제외 되는 것</a:t>
            </a:r>
            <a:endParaRPr lang="en-US" altLang="ko-KR" sz="2000" dirty="0"/>
          </a:p>
          <a:p>
            <a:pPr lvl="1">
              <a:buFontTx/>
              <a:buChar char="•"/>
            </a:pPr>
            <a:r>
              <a:rPr lang="en-US" altLang="ko-KR" sz="1800" dirty="0" err="1" smtClean="0"/>
              <a:t>LLM</a:t>
            </a:r>
            <a:r>
              <a:rPr lang="ko-KR" altLang="en-US" sz="1800" dirty="0" smtClean="0"/>
              <a:t>에 대한 이해</a:t>
            </a:r>
            <a:endParaRPr lang="en-US" altLang="ko-KR" sz="1800" dirty="0" smtClean="0"/>
          </a:p>
          <a:p>
            <a:pPr lvl="1">
              <a:buFontTx/>
              <a:buChar char="•"/>
            </a:pPr>
            <a:r>
              <a:rPr lang="en-US" altLang="ko-KR" sz="1800" dirty="0" smtClean="0"/>
              <a:t>Python </a:t>
            </a:r>
            <a:r>
              <a:rPr lang="ko-KR" altLang="en-US" sz="1800" dirty="0" smtClean="0"/>
              <a:t>등 프로그래밍 언어에 대한 설명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6015061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제목 1"/>
          <p:cNvSpPr>
            <a:spLocks noGrp="1"/>
          </p:cNvSpPr>
          <p:nvPr>
            <p:ph type="title"/>
          </p:nvPr>
        </p:nvSpPr>
        <p:spPr>
          <a:xfrm>
            <a:off x="344488" y="152400"/>
            <a:ext cx="9307512" cy="360363"/>
          </a:xfrm>
          <a:ln/>
        </p:spPr>
        <p:txBody>
          <a:bodyPr/>
          <a:lstStyle/>
          <a:p>
            <a:r>
              <a:rPr lang="en-US" altLang="ko-KR"/>
              <a:t>1.2 Hands On Lab </a:t>
            </a:r>
            <a:r>
              <a:rPr lang="ko-KR" altLang="en-US"/>
              <a:t>환경</a:t>
            </a:r>
          </a:p>
        </p:txBody>
      </p:sp>
      <p:sp>
        <p:nvSpPr>
          <p:cNvPr id="6149" name="내용 개체 틀 2"/>
          <p:cNvSpPr>
            <a:spLocks noGrp="1"/>
          </p:cNvSpPr>
          <p:nvPr>
            <p:ph idx="1"/>
          </p:nvPr>
        </p:nvSpPr>
        <p:spPr>
          <a:xfrm>
            <a:off x="458788" y="836613"/>
            <a:ext cx="9193212" cy="576262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ko-KR" sz="2000" dirty="0" err="1"/>
              <a:t>Oralce</a:t>
            </a:r>
            <a:r>
              <a:rPr lang="en-US" altLang="ko-KR" sz="2000" dirty="0"/>
              <a:t> Virtual Box </a:t>
            </a:r>
            <a:r>
              <a:rPr lang="ko-KR" altLang="en-US" sz="2000" dirty="0"/>
              <a:t>기반의 가상머신을 이용</a:t>
            </a:r>
            <a:endParaRPr lang="en-US" altLang="ko-KR" sz="2000" dirty="0"/>
          </a:p>
          <a:p>
            <a:pPr lvl="1">
              <a:buFontTx/>
              <a:buChar char="•"/>
            </a:pPr>
            <a:r>
              <a:rPr lang="en-US" altLang="ko-KR" sz="1800" dirty="0"/>
              <a:t>Windows, Linux, </a:t>
            </a:r>
            <a:r>
              <a:rPr lang="en-US" altLang="ko-KR" sz="1800" dirty="0" err="1"/>
              <a:t>macOS</a:t>
            </a:r>
            <a:r>
              <a:rPr lang="en-US" altLang="ko-KR" sz="1800" dirty="0"/>
              <a:t> </a:t>
            </a:r>
            <a:r>
              <a:rPr lang="ko-KR" altLang="en-US" sz="1800" dirty="0"/>
              <a:t>등 상관 없이 </a:t>
            </a:r>
            <a:r>
              <a:rPr lang="en-US" altLang="ko-KR" sz="1800" dirty="0" err="1"/>
              <a:t>VirtualBox</a:t>
            </a:r>
            <a:r>
              <a:rPr lang="en-US" altLang="ko-KR" sz="1800" dirty="0"/>
              <a:t> </a:t>
            </a:r>
            <a:r>
              <a:rPr lang="ko-KR" altLang="en-US" sz="1800" dirty="0"/>
              <a:t>설치 후 이미지 로딩 후 사용 가능 </a:t>
            </a:r>
            <a:r>
              <a:rPr lang="en-US" altLang="ko-KR" sz="1800" dirty="0"/>
              <a:t>(</a:t>
            </a:r>
            <a:r>
              <a:rPr lang="ko-KR" altLang="en-US" sz="1800" dirty="0"/>
              <a:t>참고</a:t>
            </a:r>
            <a:r>
              <a:rPr lang="en-US" altLang="ko-KR" sz="1800" dirty="0"/>
              <a:t>, Windows </a:t>
            </a:r>
            <a:r>
              <a:rPr lang="ko-KR" altLang="en-US" sz="1800" dirty="0"/>
              <a:t>환경에서는 불안정함 </a:t>
            </a:r>
            <a:r>
              <a:rPr lang="en-US" altLang="ko-KR" sz="1800" dirty="0"/>
              <a:t>– Pending, </a:t>
            </a:r>
            <a:r>
              <a:rPr lang="ko-KR" altLang="en-US" sz="1800" dirty="0"/>
              <a:t>비정상 종료 등 발생</a:t>
            </a:r>
            <a:r>
              <a:rPr lang="en-US" altLang="ko-KR" sz="1800" dirty="0"/>
              <a:t>)</a:t>
            </a:r>
          </a:p>
          <a:p>
            <a:pPr lvl="1">
              <a:buFontTx/>
              <a:buChar char="•"/>
            </a:pPr>
            <a:r>
              <a:rPr lang="en-US" altLang="ko-KR" sz="1800" dirty="0"/>
              <a:t>Snapshot </a:t>
            </a:r>
            <a:r>
              <a:rPr lang="ko-KR" altLang="en-US" sz="1800" dirty="0"/>
              <a:t>기능을 이용해서 원하는 시점을 되돌릴 수 있음</a:t>
            </a:r>
            <a:endParaRPr lang="en-US" altLang="ko-KR" sz="1800" dirty="0"/>
          </a:p>
          <a:p>
            <a:pPr lvl="1">
              <a:buFontTx/>
              <a:buChar char="•"/>
            </a:pPr>
            <a:r>
              <a:rPr lang="ko-KR" altLang="en-US" sz="1800" dirty="0"/>
              <a:t>상업적 목적 아니면 무료로 사용할 수 있음</a:t>
            </a:r>
            <a:endParaRPr lang="en-US" altLang="ko-KR" sz="1800" dirty="0"/>
          </a:p>
          <a:p>
            <a:pPr>
              <a:buFontTx/>
              <a:buChar char="•"/>
            </a:pPr>
            <a:endParaRPr lang="en-US" altLang="ko-KR" sz="2000" dirty="0"/>
          </a:p>
          <a:p>
            <a:pPr>
              <a:buFontTx/>
              <a:buChar char="•"/>
            </a:pPr>
            <a:r>
              <a:rPr lang="en-US" altLang="ko-KR" sz="2000" dirty="0"/>
              <a:t>Hands On Lab </a:t>
            </a:r>
            <a:r>
              <a:rPr lang="ko-KR" altLang="en-US" sz="2000" dirty="0" err="1"/>
              <a:t>가상머신</a:t>
            </a:r>
            <a:r>
              <a:rPr lang="ko-KR" altLang="en-US" sz="2000" dirty="0"/>
              <a:t> 구성</a:t>
            </a:r>
            <a:endParaRPr lang="en-US" altLang="ko-KR" sz="2000" dirty="0"/>
          </a:p>
          <a:p>
            <a:pPr lvl="1">
              <a:buFontTx/>
              <a:buChar char="•"/>
            </a:pPr>
            <a:r>
              <a:rPr lang="en-US" altLang="ko-KR" sz="1800" dirty="0"/>
              <a:t>Ubuntu 24.04 Desktop </a:t>
            </a:r>
            <a:r>
              <a:rPr lang="ko-KR" altLang="en-US" sz="1800" dirty="0" smtClean="0"/>
              <a:t>사용</a:t>
            </a:r>
            <a:endParaRPr lang="en-US" altLang="ko-KR" sz="1800" dirty="0" smtClean="0"/>
          </a:p>
          <a:p>
            <a:pPr lvl="1">
              <a:buFontTx/>
              <a:buChar char="•"/>
            </a:pPr>
            <a:r>
              <a:rPr lang="en-US" altLang="ko-KR" sz="1800" dirty="0" smtClean="0"/>
              <a:t>Open Web UI</a:t>
            </a:r>
            <a:r>
              <a:rPr lang="ko-KR" altLang="en-US" sz="1800" dirty="0" smtClean="0"/>
              <a:t>는 </a:t>
            </a:r>
            <a:r>
              <a:rPr lang="en-US" altLang="ko-KR" sz="1800" dirty="0" smtClean="0"/>
              <a:t>DOCKER </a:t>
            </a:r>
            <a:r>
              <a:rPr lang="ko-KR" altLang="en-US" sz="1800" dirty="0" smtClean="0"/>
              <a:t>사용</a:t>
            </a:r>
            <a:endParaRPr lang="en-US" altLang="ko-KR" sz="1800" dirty="0" smtClean="0"/>
          </a:p>
          <a:p>
            <a:pPr lvl="1">
              <a:buFontTx/>
              <a:buChar char="•"/>
            </a:pPr>
            <a:r>
              <a:rPr lang="ko-KR" altLang="en-US" sz="1800" dirty="0" err="1" smtClean="0"/>
              <a:t>나버지</a:t>
            </a:r>
            <a:r>
              <a:rPr lang="ko-KR" altLang="en-US" sz="1800" dirty="0" smtClean="0"/>
              <a:t> 소프트웨어는 </a:t>
            </a:r>
            <a:r>
              <a:rPr lang="ko-KR" altLang="en-US" sz="1800" dirty="0" err="1" smtClean="0"/>
              <a:t>가상머신에서</a:t>
            </a:r>
            <a:r>
              <a:rPr lang="ko-KR" altLang="en-US" sz="1800" dirty="0" smtClean="0"/>
              <a:t> 직접 사용</a:t>
            </a:r>
            <a:endParaRPr lang="en-US" altLang="ko-KR" sz="1800" dirty="0" smtClean="0"/>
          </a:p>
          <a:p>
            <a:pPr lvl="1">
              <a:buFontTx/>
              <a:buChar char="•"/>
            </a:pPr>
            <a:endParaRPr lang="en-US" altLang="ko-KR" sz="1800" dirty="0"/>
          </a:p>
          <a:p>
            <a:pPr>
              <a:buFontTx/>
              <a:buChar char="•"/>
            </a:pPr>
            <a:r>
              <a:rPr lang="ko-KR" altLang="en-US" sz="2000" dirty="0"/>
              <a:t>노트북 혹은 </a:t>
            </a:r>
            <a:r>
              <a:rPr lang="en-US" altLang="ko-KR" sz="2000" dirty="0"/>
              <a:t>PC</a:t>
            </a:r>
            <a:r>
              <a:rPr lang="ko-KR" altLang="en-US" sz="2000" dirty="0"/>
              <a:t>에 </a:t>
            </a:r>
            <a:r>
              <a:rPr lang="en-US" altLang="ko-KR" sz="2000" dirty="0"/>
              <a:t>Oracle Virtual Box </a:t>
            </a:r>
            <a:r>
              <a:rPr lang="ko-KR" altLang="en-US" sz="2000" dirty="0"/>
              <a:t>사전 설치 필요</a:t>
            </a:r>
            <a:endParaRPr lang="en-US" altLang="ko-KR" sz="2000" dirty="0"/>
          </a:p>
          <a:p>
            <a:pPr lvl="1">
              <a:buFontTx/>
              <a:buChar char="•"/>
            </a:pPr>
            <a:r>
              <a:rPr lang="en-US" altLang="ko-KR" sz="1800" dirty="0"/>
              <a:t>DISK </a:t>
            </a:r>
            <a:r>
              <a:rPr lang="en-US" altLang="ko-KR" sz="1800" dirty="0" err="1"/>
              <a:t>50GB</a:t>
            </a:r>
            <a:r>
              <a:rPr lang="en-US" altLang="ko-KR" sz="1800" dirty="0"/>
              <a:t> </a:t>
            </a:r>
            <a:r>
              <a:rPr lang="ko-KR" altLang="en-US" sz="1800" dirty="0"/>
              <a:t>이상 필요 </a:t>
            </a:r>
            <a:r>
              <a:rPr lang="en-US" altLang="ko-KR" sz="1800" dirty="0"/>
              <a:t>-&gt; Hands On </a:t>
            </a:r>
            <a:r>
              <a:rPr lang="en-US" altLang="ko-KR" sz="1800" dirty="0" err="1"/>
              <a:t>VM</a:t>
            </a:r>
            <a:r>
              <a:rPr lang="en-US" altLang="ko-KR" sz="1800" dirty="0"/>
              <a:t> </a:t>
            </a:r>
            <a:r>
              <a:rPr lang="ko-KR" altLang="en-US" sz="1800" dirty="0"/>
              <a:t>요구 </a:t>
            </a:r>
            <a:r>
              <a:rPr lang="ko-KR" altLang="en-US" sz="1800" dirty="0" smtClean="0"/>
              <a:t>사항</a:t>
            </a:r>
            <a:endParaRPr lang="en-US" altLang="ko-KR" sz="1800" dirty="0" smtClean="0"/>
          </a:p>
          <a:p>
            <a:pPr lvl="2"/>
            <a:r>
              <a:rPr lang="en-US" altLang="ko-KR" sz="1400" dirty="0" err="1" smtClean="0"/>
              <a:t>ollama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모델에 따라 디스크 소모 </a:t>
            </a:r>
            <a:r>
              <a:rPr lang="ko-KR" altLang="en-US" sz="1400" dirty="0" err="1" smtClean="0"/>
              <a:t>많아짐</a:t>
            </a:r>
            <a:r>
              <a:rPr lang="en-US" altLang="ko-KR" sz="1400" dirty="0" smtClean="0"/>
              <a:t>.</a:t>
            </a:r>
          </a:p>
          <a:p>
            <a:pPr lvl="2"/>
            <a:r>
              <a:rPr lang="ko-KR" altLang="en-US" sz="1400" dirty="0" smtClean="0"/>
              <a:t>본 </a:t>
            </a:r>
            <a:r>
              <a:rPr lang="en-US" altLang="ko-KR" sz="1400" dirty="0" smtClean="0"/>
              <a:t>lab</a:t>
            </a:r>
            <a:r>
              <a:rPr lang="ko-KR" altLang="en-US" sz="1400" dirty="0" smtClean="0"/>
              <a:t>에서는 최소 용량 모델인 </a:t>
            </a:r>
            <a:r>
              <a:rPr lang="en-US" altLang="ko-KR" sz="1400" dirty="0" err="1" smtClean="0"/>
              <a:t>qwen3:latest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사용</a:t>
            </a:r>
            <a:endParaRPr lang="en-US" altLang="ko-KR" sz="1400" dirty="0"/>
          </a:p>
          <a:p>
            <a:pPr lvl="1">
              <a:buFontTx/>
              <a:buChar char="•"/>
            </a:pPr>
            <a:r>
              <a:rPr lang="en-US" altLang="ko-KR" sz="1800" dirty="0"/>
              <a:t>RAM </a:t>
            </a:r>
            <a:r>
              <a:rPr lang="ko-KR" altLang="en-US" sz="1800" dirty="0"/>
              <a:t>최소 </a:t>
            </a:r>
            <a:r>
              <a:rPr lang="en-US" altLang="ko-KR" sz="1800" dirty="0" err="1" smtClean="0"/>
              <a:t>8GB</a:t>
            </a:r>
            <a:r>
              <a:rPr lang="en-US" altLang="ko-KR" sz="1800" dirty="0" smtClean="0"/>
              <a:t> </a:t>
            </a:r>
            <a:r>
              <a:rPr lang="ko-KR" altLang="en-US" sz="1800" dirty="0"/>
              <a:t>이상</a:t>
            </a:r>
            <a:r>
              <a:rPr lang="en-US" altLang="ko-KR" sz="1800" dirty="0"/>
              <a:t> </a:t>
            </a:r>
            <a:r>
              <a:rPr lang="ko-KR" altLang="en-US" sz="1800" dirty="0"/>
              <a:t>필요</a:t>
            </a:r>
            <a:r>
              <a:rPr lang="en-US" altLang="ko-KR" sz="1800" dirty="0"/>
              <a:t>, </a:t>
            </a:r>
            <a:r>
              <a:rPr lang="ko-KR" altLang="en-US" sz="1800" dirty="0"/>
              <a:t>권장 </a:t>
            </a:r>
            <a:r>
              <a:rPr lang="en-US" altLang="ko-KR" sz="1800" dirty="0"/>
              <a:t>16GB</a:t>
            </a:r>
          </a:p>
          <a:p>
            <a:pPr lvl="1">
              <a:buFontTx/>
              <a:buChar char="•"/>
            </a:pPr>
            <a:r>
              <a:rPr lang="en-US" altLang="ko-KR" sz="1800" dirty="0"/>
              <a:t>https://</a:t>
            </a:r>
            <a:r>
              <a:rPr lang="en-US" altLang="ko-KR" sz="1800" dirty="0" err="1"/>
              <a:t>www.virtualbox.org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59047565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제목 1"/>
          <p:cNvSpPr>
            <a:spLocks noGrp="1"/>
          </p:cNvSpPr>
          <p:nvPr>
            <p:ph type="title"/>
          </p:nvPr>
        </p:nvSpPr>
        <p:spPr>
          <a:xfrm>
            <a:off x="344488" y="152400"/>
            <a:ext cx="9307512" cy="360363"/>
          </a:xfrm>
          <a:ln/>
        </p:spPr>
        <p:txBody>
          <a:bodyPr/>
          <a:lstStyle/>
          <a:p>
            <a:r>
              <a:rPr lang="en-US" altLang="ko-KR"/>
              <a:t>1.3 Oracle Virtual Box </a:t>
            </a:r>
            <a:r>
              <a:rPr lang="ko-KR" altLang="en-US"/>
              <a:t>설치 및 준비</a:t>
            </a:r>
          </a:p>
        </p:txBody>
      </p:sp>
      <p:sp>
        <p:nvSpPr>
          <p:cNvPr id="6149" name="내용 개체 틀 2"/>
          <p:cNvSpPr>
            <a:spLocks noGrp="1"/>
          </p:cNvSpPr>
          <p:nvPr>
            <p:ph idx="1"/>
          </p:nvPr>
        </p:nvSpPr>
        <p:spPr>
          <a:xfrm>
            <a:off x="458788" y="836613"/>
            <a:ext cx="9193212" cy="576262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ko-KR" sz="2000" dirty="0"/>
              <a:t>Oracle Virtual Box </a:t>
            </a:r>
            <a:r>
              <a:rPr lang="ko-KR" altLang="en-US" sz="2000" dirty="0"/>
              <a:t>설치 </a:t>
            </a:r>
            <a:r>
              <a:rPr lang="en-US" altLang="ko-KR" sz="2000" dirty="0"/>
              <a:t>: https://</a:t>
            </a:r>
            <a:r>
              <a:rPr lang="en-US" altLang="ko-KR" sz="2000" dirty="0" err="1"/>
              <a:t>www.virtualbox.org</a:t>
            </a:r>
            <a:r>
              <a:rPr lang="en-US" altLang="ko-KR" sz="2000" dirty="0"/>
              <a:t>/</a:t>
            </a:r>
          </a:p>
          <a:p>
            <a:pPr lvl="1">
              <a:buFontTx/>
              <a:buChar char="•"/>
            </a:pPr>
            <a:r>
              <a:rPr lang="en-US" altLang="ko-KR" sz="1800" dirty="0"/>
              <a:t>Windows, </a:t>
            </a:r>
            <a:r>
              <a:rPr lang="en-US" altLang="ko-KR" sz="1800" dirty="0" err="1"/>
              <a:t>macOS</a:t>
            </a:r>
            <a:r>
              <a:rPr lang="en-US" altLang="ko-KR" sz="1800" dirty="0"/>
              <a:t>, Linux (Ubuntu, </a:t>
            </a:r>
            <a:r>
              <a:rPr lang="en-US" altLang="ko-KR" sz="1800" dirty="0" err="1"/>
              <a:t>RedHat</a:t>
            </a:r>
            <a:r>
              <a:rPr lang="en-US" altLang="ko-KR" sz="1800" dirty="0"/>
              <a:t> </a:t>
            </a:r>
            <a:r>
              <a:rPr lang="ko-KR" altLang="en-US" sz="1800" dirty="0"/>
              <a:t>계열</a:t>
            </a:r>
            <a:r>
              <a:rPr lang="en-US" altLang="ko-KR" sz="1800" dirty="0"/>
              <a:t>) </a:t>
            </a:r>
            <a:r>
              <a:rPr lang="ko-KR" altLang="en-US" sz="1800" dirty="0"/>
              <a:t>설치 가능</a:t>
            </a:r>
            <a:endParaRPr lang="en-US" altLang="ko-KR" sz="1800" dirty="0"/>
          </a:p>
          <a:p>
            <a:pPr>
              <a:buFontTx/>
              <a:buChar char="•"/>
            </a:pPr>
            <a:endParaRPr lang="en-US" altLang="ko-KR" sz="2000" dirty="0"/>
          </a:p>
          <a:p>
            <a:pPr>
              <a:buFontTx/>
              <a:buChar char="•"/>
            </a:pPr>
            <a:r>
              <a:rPr lang="en-US" altLang="ko-KR" sz="2000" dirty="0" err="1"/>
              <a:t>VirtualBox</a:t>
            </a:r>
            <a:r>
              <a:rPr lang="en-US" altLang="ko-KR" sz="2000" dirty="0"/>
              <a:t> </a:t>
            </a:r>
            <a:r>
              <a:rPr lang="ko-KR" altLang="en-US" sz="2000" dirty="0"/>
              <a:t>설치 후 실행</a:t>
            </a:r>
            <a:endParaRPr lang="en-US" altLang="ko-KR" sz="2000" dirty="0"/>
          </a:p>
          <a:p>
            <a:pPr lvl="1">
              <a:buFontTx/>
              <a:buChar char="•"/>
            </a:pPr>
            <a:r>
              <a:rPr lang="ko-KR" altLang="en-US" sz="1800" dirty="0"/>
              <a:t>좌측 </a:t>
            </a:r>
            <a:r>
              <a:rPr lang="en-US" altLang="ko-KR" sz="1800" dirty="0"/>
              <a:t>TAB</a:t>
            </a:r>
            <a:r>
              <a:rPr lang="ko-KR" altLang="en-US" sz="1800" dirty="0"/>
              <a:t>에 홈</a:t>
            </a:r>
            <a:r>
              <a:rPr lang="en-US" altLang="ko-KR" sz="1800" dirty="0"/>
              <a:t>, </a:t>
            </a:r>
            <a:r>
              <a:rPr lang="ko-KR" altLang="en-US" sz="1800" dirty="0"/>
              <a:t>확장</a:t>
            </a:r>
            <a:r>
              <a:rPr lang="en-US" altLang="ko-KR" sz="1800" dirty="0"/>
              <a:t>, </a:t>
            </a:r>
            <a:r>
              <a:rPr lang="ko-KR" altLang="en-US" sz="1800" dirty="0"/>
              <a:t>미디어</a:t>
            </a:r>
            <a:r>
              <a:rPr lang="en-US" altLang="ko-KR" sz="1800" dirty="0"/>
              <a:t>, </a:t>
            </a:r>
            <a:r>
              <a:rPr lang="ko-KR" altLang="en-US" sz="1800" dirty="0"/>
              <a:t>네트워크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클라우드</a:t>
            </a:r>
            <a:r>
              <a:rPr lang="en-US" altLang="ko-KR" sz="1800" dirty="0"/>
              <a:t>, </a:t>
            </a:r>
            <a:r>
              <a:rPr lang="ko-KR" altLang="en-US" sz="1800" dirty="0"/>
              <a:t>리소스 가 있다</a:t>
            </a:r>
            <a:r>
              <a:rPr lang="en-US" altLang="ko-KR" sz="1800" dirty="0"/>
              <a:t>.</a:t>
            </a:r>
          </a:p>
          <a:p>
            <a:pPr lvl="1">
              <a:buFontTx/>
              <a:buChar char="•"/>
            </a:pPr>
            <a:endParaRPr lang="en-US" altLang="ko-KR" sz="1800" dirty="0"/>
          </a:p>
          <a:p>
            <a:pPr>
              <a:buFontTx/>
              <a:buChar char="•"/>
            </a:pPr>
            <a:endParaRPr lang="en-US" altLang="ko-KR" sz="2200" dirty="0"/>
          </a:p>
          <a:p>
            <a:pPr>
              <a:buFontTx/>
              <a:buChar char="•"/>
            </a:pPr>
            <a:endParaRPr lang="en-US" altLang="ko-KR" sz="2200" dirty="0"/>
          </a:p>
          <a:p>
            <a:pPr>
              <a:buFontTx/>
              <a:buChar char="•"/>
            </a:pPr>
            <a:endParaRPr lang="en-US" altLang="ko-KR" sz="2200" dirty="0"/>
          </a:p>
          <a:p>
            <a:pPr>
              <a:buFontTx/>
              <a:buChar char="•"/>
            </a:pPr>
            <a:endParaRPr lang="en-US" altLang="ko-KR" sz="2200" dirty="0"/>
          </a:p>
          <a:p>
            <a:pPr>
              <a:buFontTx/>
              <a:buChar char="•"/>
            </a:pPr>
            <a:endParaRPr lang="en-US" altLang="ko-KR" sz="2200" dirty="0"/>
          </a:p>
          <a:p>
            <a:pPr>
              <a:buFontTx/>
              <a:buChar char="•"/>
            </a:pPr>
            <a:endParaRPr lang="en-US" altLang="ko-KR" sz="2200" dirty="0"/>
          </a:p>
          <a:p>
            <a:pPr>
              <a:buFontTx/>
              <a:buChar char="•"/>
            </a:pPr>
            <a:endParaRPr lang="en-US" altLang="ko-KR" sz="2200" dirty="0"/>
          </a:p>
          <a:p>
            <a:pPr>
              <a:buFontTx/>
              <a:buChar char="•"/>
            </a:pPr>
            <a:endParaRPr lang="en-US" altLang="ko-KR" sz="1200" dirty="0"/>
          </a:p>
          <a:p>
            <a:pPr>
              <a:buFontTx/>
              <a:buChar char="•"/>
            </a:pPr>
            <a:r>
              <a:rPr lang="ko-KR" altLang="en-US" sz="2200" dirty="0"/>
              <a:t>운영 환경에서 사용 하지 말 것 </a:t>
            </a:r>
            <a:r>
              <a:rPr lang="en-US" altLang="ko-KR" sz="2200" dirty="0"/>
              <a:t>: </a:t>
            </a:r>
            <a:r>
              <a:rPr lang="ko-KR" altLang="en-US" sz="2200" dirty="0"/>
              <a:t>라이선스</a:t>
            </a:r>
            <a:r>
              <a:rPr lang="en-US" altLang="ko-KR" sz="2200" dirty="0"/>
              <a:t>, </a:t>
            </a:r>
            <a:r>
              <a:rPr lang="ko-KR" altLang="en-US" sz="2200" dirty="0"/>
              <a:t>안정성 등 이슈 있음</a:t>
            </a:r>
            <a:endParaRPr lang="en-US" altLang="ko-KR" sz="2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552" y="2636912"/>
            <a:ext cx="6696744" cy="3057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55949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제목 1"/>
          <p:cNvSpPr>
            <a:spLocks noGrp="1"/>
          </p:cNvSpPr>
          <p:nvPr>
            <p:ph type="title"/>
          </p:nvPr>
        </p:nvSpPr>
        <p:spPr>
          <a:xfrm>
            <a:off x="344488" y="152400"/>
            <a:ext cx="9307512" cy="360363"/>
          </a:xfrm>
          <a:ln/>
        </p:spPr>
        <p:txBody>
          <a:bodyPr/>
          <a:lstStyle/>
          <a:p>
            <a:r>
              <a:rPr lang="en-US" altLang="ko-KR"/>
              <a:t>1.3 Oracle Virtual Box </a:t>
            </a:r>
            <a:r>
              <a:rPr lang="ko-KR" altLang="en-US"/>
              <a:t>설치 및 준비</a:t>
            </a:r>
          </a:p>
        </p:txBody>
      </p:sp>
      <p:sp>
        <p:nvSpPr>
          <p:cNvPr id="6149" name="내용 개체 틀 2"/>
          <p:cNvSpPr>
            <a:spLocks noGrp="1"/>
          </p:cNvSpPr>
          <p:nvPr>
            <p:ph idx="1"/>
          </p:nvPr>
        </p:nvSpPr>
        <p:spPr>
          <a:xfrm>
            <a:off x="458788" y="836612"/>
            <a:ext cx="9193212" cy="5472707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ko-KR" sz="2000" dirty="0" err="1"/>
              <a:t>VirtualBox</a:t>
            </a:r>
            <a:r>
              <a:rPr lang="en-US" altLang="ko-KR" sz="2000" dirty="0"/>
              <a:t> Extension </a:t>
            </a:r>
            <a:r>
              <a:rPr lang="ko-KR" altLang="en-US" sz="2000" dirty="0"/>
              <a:t>설치 </a:t>
            </a:r>
            <a:r>
              <a:rPr lang="en-US" altLang="ko-KR" sz="2000" dirty="0"/>
              <a:t>(Recommend)</a:t>
            </a:r>
          </a:p>
          <a:p>
            <a:pPr lvl="1">
              <a:buFontTx/>
              <a:buChar char="•"/>
            </a:pPr>
            <a:r>
              <a:rPr lang="en-US" altLang="ko-KR" sz="1800" dirty="0"/>
              <a:t>https://</a:t>
            </a:r>
            <a:r>
              <a:rPr lang="en-US" altLang="ko-KR" sz="1800" dirty="0" err="1"/>
              <a:t>www.virtualbox.org</a:t>
            </a:r>
            <a:r>
              <a:rPr lang="en-US" altLang="ko-KR" sz="1800" dirty="0"/>
              <a:t>/wiki/Downloads </a:t>
            </a:r>
            <a:r>
              <a:rPr lang="ko-KR" altLang="en-US" sz="1800" dirty="0"/>
              <a:t>의 우측 중간에 </a:t>
            </a:r>
            <a:r>
              <a:rPr lang="en-US" altLang="ko-KR" sz="1800" dirty="0"/>
              <a:t>“Accept and download” </a:t>
            </a:r>
            <a:r>
              <a:rPr lang="ko-KR" altLang="en-US" sz="1800" dirty="0"/>
              <a:t>버튼을 클릭하면 </a:t>
            </a:r>
            <a:r>
              <a:rPr lang="en-US" altLang="ko-KR" sz="1800" dirty="0"/>
              <a:t>Extension</a:t>
            </a:r>
            <a:r>
              <a:rPr lang="ko-KR" altLang="en-US" sz="1800" dirty="0"/>
              <a:t>을 다운로드 할 수 있다</a:t>
            </a:r>
            <a:r>
              <a:rPr lang="en-US" altLang="ko-KR" sz="1800" dirty="0"/>
              <a:t>.</a:t>
            </a:r>
          </a:p>
          <a:p>
            <a:pPr lvl="1">
              <a:buFontTx/>
              <a:buChar char="•"/>
            </a:pPr>
            <a:r>
              <a:rPr lang="en-US" altLang="ko-KR" sz="1800" dirty="0" err="1"/>
              <a:t>VirtualBox</a:t>
            </a:r>
            <a:r>
              <a:rPr lang="en-US" altLang="ko-KR" sz="1800" dirty="0"/>
              <a:t> </a:t>
            </a:r>
            <a:r>
              <a:rPr lang="ko-KR" altLang="en-US" sz="1800" dirty="0"/>
              <a:t>화면의 </a:t>
            </a:r>
            <a:r>
              <a:rPr lang="en-US" altLang="ko-KR" sz="1800" dirty="0"/>
              <a:t>“</a:t>
            </a:r>
            <a:r>
              <a:rPr lang="ko-KR" altLang="en-US" sz="1800" dirty="0"/>
              <a:t>확장</a:t>
            </a:r>
            <a:r>
              <a:rPr lang="en-US" altLang="ko-KR" sz="1800" dirty="0"/>
              <a:t>“ TAB</a:t>
            </a:r>
            <a:r>
              <a:rPr lang="ko-KR" altLang="en-US" sz="1800" dirty="0"/>
              <a:t>에서 다운로드 한 </a:t>
            </a:r>
            <a:r>
              <a:rPr lang="en-US" altLang="ko-KR" sz="1800" dirty="0"/>
              <a:t>Extension</a:t>
            </a:r>
            <a:r>
              <a:rPr lang="ko-KR" altLang="en-US" sz="1800" dirty="0"/>
              <a:t>을 설치한다</a:t>
            </a:r>
            <a:r>
              <a:rPr lang="en-US" altLang="ko-KR" sz="1800" dirty="0"/>
              <a:t>.</a:t>
            </a:r>
          </a:p>
          <a:p>
            <a:pPr lvl="1">
              <a:buFontTx/>
              <a:buChar char="•"/>
            </a:pPr>
            <a:endParaRPr lang="en-US" altLang="ko-KR" sz="1800" dirty="0"/>
          </a:p>
          <a:p>
            <a:pPr lvl="1">
              <a:buFontTx/>
              <a:buChar char="•"/>
            </a:pPr>
            <a:endParaRPr lang="en-US" altLang="ko-KR" sz="1800" dirty="0"/>
          </a:p>
          <a:p>
            <a:pPr lvl="1">
              <a:buFontTx/>
              <a:buChar char="•"/>
            </a:pPr>
            <a:endParaRPr lang="en-US" altLang="ko-KR" sz="1800" dirty="0"/>
          </a:p>
          <a:p>
            <a:pPr lvl="1">
              <a:buFontTx/>
              <a:buChar char="•"/>
            </a:pPr>
            <a:endParaRPr lang="en-US" altLang="ko-KR" sz="1800" dirty="0"/>
          </a:p>
          <a:p>
            <a:pPr lvl="1">
              <a:buFontTx/>
              <a:buChar char="•"/>
            </a:pPr>
            <a:endParaRPr lang="en-US" altLang="ko-KR" sz="1800" dirty="0"/>
          </a:p>
          <a:p>
            <a:pPr lvl="1">
              <a:buFontTx/>
              <a:buChar char="•"/>
            </a:pPr>
            <a:endParaRPr lang="en-US" altLang="ko-KR" sz="1800" dirty="0"/>
          </a:p>
          <a:p>
            <a:pPr lvl="1">
              <a:buFontTx/>
              <a:buChar char="•"/>
            </a:pPr>
            <a:endParaRPr lang="en-US" altLang="ko-KR" sz="1800" dirty="0"/>
          </a:p>
          <a:p>
            <a:pPr lvl="1">
              <a:buFontTx/>
              <a:buChar char="•"/>
            </a:pPr>
            <a:endParaRPr lang="en-US" altLang="ko-KR" sz="1800" dirty="0"/>
          </a:p>
          <a:p>
            <a:pPr lvl="1">
              <a:buFontTx/>
              <a:buChar char="•"/>
            </a:pPr>
            <a:endParaRPr lang="en-US" altLang="ko-KR" sz="1800" dirty="0"/>
          </a:p>
          <a:p>
            <a:pPr lvl="1">
              <a:buFontTx/>
              <a:buChar char="•"/>
            </a:pPr>
            <a:endParaRPr lang="en-US" altLang="ko-KR" sz="1800" dirty="0"/>
          </a:p>
          <a:p>
            <a:pPr lvl="1">
              <a:buFontTx/>
              <a:buChar char="•"/>
            </a:pPr>
            <a:endParaRPr lang="en-US" altLang="ko-KR" sz="1800" dirty="0"/>
          </a:p>
          <a:p>
            <a:pPr lvl="1">
              <a:buFontTx/>
              <a:buChar char="•"/>
            </a:pPr>
            <a:endParaRPr lang="en-US" altLang="ko-KR" sz="1800" dirty="0"/>
          </a:p>
          <a:p>
            <a:pPr>
              <a:buFontTx/>
              <a:buChar char="•"/>
            </a:pPr>
            <a:r>
              <a:rPr lang="en-US" altLang="ko-KR" sz="1600" dirty="0"/>
              <a:t>Extension </a:t>
            </a:r>
            <a:r>
              <a:rPr lang="ko-KR" altLang="en-US" sz="1600" dirty="0" err="1"/>
              <a:t>설치시</a:t>
            </a:r>
            <a:r>
              <a:rPr lang="ko-KR" altLang="en-US" sz="1600" dirty="0"/>
              <a:t> </a:t>
            </a:r>
            <a:r>
              <a:rPr lang="en-US" altLang="ko-KR" sz="1600" dirty="0"/>
              <a:t>Host</a:t>
            </a:r>
            <a:r>
              <a:rPr lang="ko-KR" altLang="en-US" sz="1600" dirty="0"/>
              <a:t>와 </a:t>
            </a:r>
            <a:r>
              <a:rPr lang="en-US" altLang="ko-KR" sz="1600" dirty="0"/>
              <a:t>Drag &amp; Drop, Clipboard, </a:t>
            </a:r>
            <a:r>
              <a:rPr lang="ko-KR" altLang="en-US" sz="1600" dirty="0"/>
              <a:t>화면 공유 등 가능</a:t>
            </a:r>
            <a:endParaRPr lang="en-US" altLang="ko-KR" sz="1600" dirty="0"/>
          </a:p>
        </p:txBody>
      </p:sp>
      <p:grpSp>
        <p:nvGrpSpPr>
          <p:cNvPr id="5" name="그룹 4"/>
          <p:cNvGrpSpPr/>
          <p:nvPr/>
        </p:nvGrpSpPr>
        <p:grpSpPr>
          <a:xfrm>
            <a:off x="644402" y="2204864"/>
            <a:ext cx="4104456" cy="1829724"/>
            <a:chOff x="416496" y="2420888"/>
            <a:chExt cx="4104456" cy="1829724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6496" y="2420888"/>
              <a:ext cx="4104456" cy="1829724"/>
            </a:xfrm>
            <a:prstGeom prst="rect">
              <a:avLst/>
            </a:prstGeom>
          </p:spPr>
        </p:pic>
        <p:sp>
          <p:nvSpPr>
            <p:cNvPr id="4" name="직사각형 3"/>
            <p:cNvSpPr/>
            <p:nvPr/>
          </p:nvSpPr>
          <p:spPr>
            <a:xfrm>
              <a:off x="3836876" y="4005166"/>
              <a:ext cx="648072" cy="19473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rIns="288000" rtlCol="0" anchor="ctr"/>
            <a:lstStyle/>
            <a:p>
              <a:pPr algn="ctr"/>
              <a:endParaRPr lang="ko-KR" altLang="en-US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0906" y="2211575"/>
            <a:ext cx="3978275" cy="1816301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406" y="4525143"/>
            <a:ext cx="3996444" cy="1418278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0905" y="4132979"/>
            <a:ext cx="3978275" cy="1816301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5340554" y="2485080"/>
            <a:ext cx="360040" cy="288032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Ins="28800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696926" y="5692512"/>
            <a:ext cx="504056" cy="216024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Ins="28800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5340554" y="4653136"/>
            <a:ext cx="3860918" cy="288032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Ins="28800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2" name="직선 화살표 연결선 11"/>
          <p:cNvCxnSpPr/>
          <p:nvPr/>
        </p:nvCxnSpPr>
        <p:spPr>
          <a:xfrm flipH="1">
            <a:off x="3740746" y="2773112"/>
            <a:ext cx="1800201" cy="29194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>
            <a:stCxn id="14" idx="3"/>
            <a:endCxn id="15" idx="1"/>
          </p:cNvCxnSpPr>
          <p:nvPr/>
        </p:nvCxnSpPr>
        <p:spPr>
          <a:xfrm flipV="1">
            <a:off x="4200982" y="4797152"/>
            <a:ext cx="1139572" cy="10033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376901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제목 1"/>
          <p:cNvSpPr>
            <a:spLocks noGrp="1"/>
          </p:cNvSpPr>
          <p:nvPr>
            <p:ph type="title"/>
          </p:nvPr>
        </p:nvSpPr>
        <p:spPr>
          <a:xfrm>
            <a:off x="344488" y="152400"/>
            <a:ext cx="9307512" cy="360363"/>
          </a:xfrm>
          <a:ln/>
        </p:spPr>
        <p:txBody>
          <a:bodyPr/>
          <a:lstStyle/>
          <a:p>
            <a:r>
              <a:rPr lang="en-US" altLang="ko-KR"/>
              <a:t>1.3 Oracle Virtual Box </a:t>
            </a:r>
            <a:r>
              <a:rPr lang="ko-KR" altLang="en-US"/>
              <a:t>설치 및 준비</a:t>
            </a:r>
          </a:p>
        </p:txBody>
      </p:sp>
      <p:sp>
        <p:nvSpPr>
          <p:cNvPr id="6149" name="내용 개체 틀 2"/>
          <p:cNvSpPr>
            <a:spLocks noGrp="1"/>
          </p:cNvSpPr>
          <p:nvPr>
            <p:ph idx="1"/>
          </p:nvPr>
        </p:nvSpPr>
        <p:spPr>
          <a:xfrm>
            <a:off x="458788" y="836612"/>
            <a:ext cx="9193212" cy="5472707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ko-KR" sz="2000" dirty="0"/>
              <a:t>Hands On</a:t>
            </a:r>
            <a:r>
              <a:rPr lang="ko-KR" altLang="en-US" sz="2000" dirty="0"/>
              <a:t>을 위한 가상 머신 오픈</a:t>
            </a:r>
            <a:endParaRPr lang="en-US" altLang="ko-KR" sz="2000" dirty="0"/>
          </a:p>
          <a:p>
            <a:pPr lvl="1">
              <a:buFontTx/>
              <a:buChar char="•"/>
            </a:pPr>
            <a:r>
              <a:rPr lang="en-US" altLang="ko-KR" sz="1800" dirty="0" err="1"/>
              <a:t>VirtualBox</a:t>
            </a:r>
            <a:r>
              <a:rPr lang="en-US" altLang="ko-KR" sz="1800" dirty="0"/>
              <a:t> </a:t>
            </a:r>
            <a:r>
              <a:rPr lang="ko-KR" altLang="en-US" sz="1800" dirty="0"/>
              <a:t>화면의 </a:t>
            </a:r>
            <a:r>
              <a:rPr lang="en-US" altLang="ko-KR" sz="1800" dirty="0"/>
              <a:t>“</a:t>
            </a:r>
            <a:r>
              <a:rPr lang="ko-KR" altLang="en-US" sz="1800" dirty="0"/>
              <a:t>홈</a:t>
            </a:r>
            <a:r>
              <a:rPr lang="en-US" altLang="ko-KR" sz="1800" dirty="0"/>
              <a:t>“ Open </a:t>
            </a:r>
            <a:r>
              <a:rPr lang="ko-KR" altLang="en-US" sz="1800" dirty="0"/>
              <a:t>메뉴를 이용해 제공된 </a:t>
            </a:r>
            <a:r>
              <a:rPr lang="en-US" altLang="ko-KR" sz="1800" dirty="0" err="1"/>
              <a:t>KafkaHandsOnLabHands</a:t>
            </a:r>
            <a:r>
              <a:rPr lang="en-US" altLang="ko-KR" sz="1800" dirty="0"/>
              <a:t> </a:t>
            </a:r>
            <a:r>
              <a:rPr lang="ko-KR" altLang="en-US" sz="1800" dirty="0"/>
              <a:t>가상 </a:t>
            </a:r>
            <a:r>
              <a:rPr lang="ko-KR" altLang="en-US" sz="1800" dirty="0" err="1"/>
              <a:t>머신을</a:t>
            </a:r>
            <a:r>
              <a:rPr lang="ko-KR" altLang="en-US" sz="1800" dirty="0"/>
              <a:t> </a:t>
            </a:r>
            <a:r>
              <a:rPr lang="en-US" altLang="ko-KR" sz="1800" dirty="0" err="1"/>
              <a:t>VirtualBox</a:t>
            </a:r>
            <a:r>
              <a:rPr lang="ko-KR" altLang="en-US" sz="1800" dirty="0"/>
              <a:t>에 반영</a:t>
            </a:r>
            <a:endParaRPr lang="en-US" altLang="ko-KR" sz="18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788" y="2060848"/>
            <a:ext cx="4422204" cy="2018979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787" y="4203118"/>
            <a:ext cx="2926707" cy="217821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5008" y="2060849"/>
            <a:ext cx="4696616" cy="4032448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1472885" y="2333640"/>
            <a:ext cx="338051" cy="36004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Ins="28800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004179" y="6206428"/>
            <a:ext cx="371155" cy="16474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Ins="28800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75334" y="5229200"/>
            <a:ext cx="10801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>
                <a:latin typeface="맑은 고딕" pitchFamily="50" charset="-127"/>
                <a:ea typeface="맑은 고딕" pitchFamily="50" charset="-127"/>
              </a:rPr>
              <a:t>가상머신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vbox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파일 선택</a:t>
            </a:r>
          </a:p>
        </p:txBody>
      </p:sp>
      <p:cxnSp>
        <p:nvCxnSpPr>
          <p:cNvPr id="22" name="직선 화살표 연결선 21"/>
          <p:cNvCxnSpPr>
            <a:stCxn id="20" idx="2"/>
            <a:endCxn id="21" idx="0"/>
          </p:cNvCxnSpPr>
          <p:nvPr/>
        </p:nvCxnSpPr>
        <p:spPr>
          <a:xfrm>
            <a:off x="1641911" y="2693680"/>
            <a:ext cx="1547846" cy="351274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>
            <a:endCxn id="11" idx="1"/>
          </p:cNvCxnSpPr>
          <p:nvPr/>
        </p:nvCxnSpPr>
        <p:spPr>
          <a:xfrm flipV="1">
            <a:off x="3385494" y="4077073"/>
            <a:ext cx="1639514" cy="22322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>
          <a:xfrm>
            <a:off x="6670077" y="2305784"/>
            <a:ext cx="371155" cy="377736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Ins="28800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939928" y="6073546"/>
            <a:ext cx="47816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가성 머신 로딩 후 정보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. “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시작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”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버튼을 클릭하면 실행된다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 err="1">
                <a:latin typeface="맑은 고딕" pitchFamily="50" charset="-127"/>
                <a:ea typeface="맑은 고딕" pitchFamily="50" charset="-127"/>
              </a:rPr>
              <a:t>필요시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“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설정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＂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을 통해 가상 머신 환경을 수정한다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. (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네트워크 설정 변경 필요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1000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8007207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제목 1"/>
          <p:cNvSpPr>
            <a:spLocks noGrp="1"/>
          </p:cNvSpPr>
          <p:nvPr>
            <p:ph type="title"/>
          </p:nvPr>
        </p:nvSpPr>
        <p:spPr>
          <a:xfrm>
            <a:off x="344488" y="152400"/>
            <a:ext cx="9307512" cy="360363"/>
          </a:xfrm>
          <a:ln/>
        </p:spPr>
        <p:txBody>
          <a:bodyPr/>
          <a:lstStyle/>
          <a:p>
            <a:r>
              <a:rPr lang="en-US" altLang="ko-KR"/>
              <a:t>1.3 Oracle Virtual Box </a:t>
            </a:r>
            <a:r>
              <a:rPr lang="ko-KR" altLang="en-US"/>
              <a:t>설치 및 준비</a:t>
            </a:r>
          </a:p>
        </p:txBody>
      </p:sp>
      <p:sp>
        <p:nvSpPr>
          <p:cNvPr id="6149" name="내용 개체 틀 2"/>
          <p:cNvSpPr>
            <a:spLocks noGrp="1"/>
          </p:cNvSpPr>
          <p:nvPr>
            <p:ph idx="1"/>
          </p:nvPr>
        </p:nvSpPr>
        <p:spPr>
          <a:xfrm>
            <a:off x="458788" y="836612"/>
            <a:ext cx="9193212" cy="5472707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ko-KR" sz="1800" dirty="0"/>
              <a:t>CPU / MEMORY / Network </a:t>
            </a:r>
            <a:r>
              <a:rPr lang="ko-KR" altLang="en-US" sz="1800" dirty="0"/>
              <a:t>설정 </a:t>
            </a:r>
            <a:r>
              <a:rPr lang="en-US" altLang="ko-KR" sz="1800" dirty="0"/>
              <a:t>(Optional)</a:t>
            </a:r>
          </a:p>
          <a:p>
            <a:pPr lvl="1">
              <a:buFontTx/>
              <a:buChar char="•"/>
            </a:pPr>
            <a:r>
              <a:rPr lang="en-US" altLang="ko-KR" sz="1600" dirty="0" err="1"/>
              <a:t>VM</a:t>
            </a:r>
            <a:r>
              <a:rPr lang="ko-KR" altLang="en-US" sz="1600" dirty="0"/>
              <a:t>을 제작한 환경과 사용하는 환경이 다를 수 있어서 </a:t>
            </a:r>
            <a:r>
              <a:rPr lang="ko-KR" altLang="en-US" sz="1600" dirty="0" err="1"/>
              <a:t>필요시</a:t>
            </a:r>
            <a:r>
              <a:rPr lang="ko-KR" altLang="en-US" sz="1600" dirty="0"/>
              <a:t> </a:t>
            </a:r>
            <a:r>
              <a:rPr lang="en-US" altLang="ko-KR" sz="1600" dirty="0"/>
              <a:t>“</a:t>
            </a:r>
            <a:r>
              <a:rPr lang="ko-KR" altLang="en-US" sz="1600" dirty="0"/>
              <a:t>설정</a:t>
            </a:r>
            <a:r>
              <a:rPr lang="en-US" altLang="ko-KR" sz="1600" dirty="0"/>
              <a:t>”</a:t>
            </a:r>
            <a:r>
              <a:rPr lang="ko-KR" altLang="en-US" sz="1600" dirty="0"/>
              <a:t>으로 수정한다</a:t>
            </a:r>
            <a:r>
              <a:rPr lang="en-US" altLang="ko-KR" sz="1600" dirty="0"/>
              <a:t>.</a:t>
            </a:r>
          </a:p>
          <a:p>
            <a:pPr lvl="1">
              <a:buFontTx/>
              <a:buChar char="•"/>
            </a:pPr>
            <a:r>
              <a:rPr lang="en-US" altLang="ko-KR" sz="1600" dirty="0"/>
              <a:t>CPU : 4 CORE, MEM </a:t>
            </a:r>
            <a:r>
              <a:rPr lang="en-US" altLang="ko-KR" sz="1600" dirty="0" err="1"/>
              <a:t>4GB</a:t>
            </a:r>
            <a:r>
              <a:rPr lang="en-US" altLang="ko-KR" sz="1600" dirty="0"/>
              <a:t> </a:t>
            </a:r>
            <a:r>
              <a:rPr lang="ko-KR" altLang="en-US" sz="1600" dirty="0" err="1"/>
              <a:t>셋팅</a:t>
            </a:r>
            <a:r>
              <a:rPr lang="ko-KR" altLang="en-US" sz="1600" dirty="0"/>
              <a:t> </a:t>
            </a:r>
            <a:r>
              <a:rPr lang="en-US" altLang="ko-KR" sz="1600" dirty="0"/>
              <a:t>-&gt; PC </a:t>
            </a:r>
            <a:r>
              <a:rPr lang="ko-KR" altLang="en-US" sz="1600" dirty="0"/>
              <a:t>환경에 따라 필요 설정 변경</a:t>
            </a:r>
            <a:endParaRPr lang="en-US" altLang="ko-KR" sz="1600" dirty="0"/>
          </a:p>
          <a:p>
            <a:pPr lvl="1">
              <a:buFontTx/>
              <a:buChar char="•"/>
            </a:pPr>
            <a:r>
              <a:rPr lang="en-US" altLang="ko-KR" sz="1600" dirty="0"/>
              <a:t>NETWORK : Bridge </a:t>
            </a:r>
            <a:r>
              <a:rPr lang="ko-KR" altLang="en-US" sz="1600" dirty="0"/>
              <a:t>선택 후 </a:t>
            </a:r>
            <a:r>
              <a:rPr lang="en-US" altLang="ko-KR" sz="1600" dirty="0"/>
              <a:t>HOST PC</a:t>
            </a:r>
            <a:r>
              <a:rPr lang="ko-KR" altLang="en-US" sz="1600" dirty="0"/>
              <a:t>에 설정된 비디오 카드 선택</a:t>
            </a:r>
            <a:endParaRPr lang="en-US" altLang="ko-KR" sz="1600" dirty="0"/>
          </a:p>
          <a:p>
            <a:pPr lvl="1">
              <a:buFontTx/>
              <a:buChar char="•"/>
            </a:pPr>
            <a:endParaRPr lang="en-US" altLang="ko-KR" sz="1600" dirty="0"/>
          </a:p>
          <a:p>
            <a:pPr>
              <a:buFontTx/>
              <a:buChar char="•"/>
            </a:pPr>
            <a:r>
              <a:rPr lang="ko-KR" altLang="en-US" sz="1800" dirty="0"/>
              <a:t>주의 사항</a:t>
            </a:r>
            <a:endParaRPr lang="en-US" altLang="ko-KR" sz="1800" dirty="0"/>
          </a:p>
          <a:p>
            <a:pPr lvl="1">
              <a:buFontTx/>
              <a:buChar char="•"/>
            </a:pPr>
            <a:r>
              <a:rPr lang="ko-KR" altLang="en-US" sz="1600" dirty="0"/>
              <a:t>설정한 </a:t>
            </a:r>
            <a:r>
              <a:rPr lang="en-US" altLang="ko-KR" sz="1600" dirty="0"/>
              <a:t>NETWORK Adaptor</a:t>
            </a:r>
            <a:r>
              <a:rPr lang="ko-KR" altLang="en-US" sz="1600" dirty="0"/>
              <a:t>가 </a:t>
            </a:r>
            <a:r>
              <a:rPr lang="en-US" altLang="ko-KR" sz="1600" dirty="0"/>
              <a:t>PC</a:t>
            </a:r>
            <a:r>
              <a:rPr lang="ko-KR" altLang="en-US" sz="1600" dirty="0"/>
              <a:t>마다 다른 관계로 </a:t>
            </a:r>
            <a:r>
              <a:rPr lang="en-US" altLang="ko-KR" sz="1600" dirty="0"/>
              <a:t>HOST PC</a:t>
            </a:r>
            <a:r>
              <a:rPr lang="ko-KR" altLang="en-US" sz="1600" dirty="0"/>
              <a:t>의 </a:t>
            </a:r>
            <a:r>
              <a:rPr lang="en-US" altLang="ko-KR" sz="1600" dirty="0"/>
              <a:t>Adaptor</a:t>
            </a:r>
            <a:r>
              <a:rPr lang="ko-KR" altLang="en-US" sz="1600" dirty="0"/>
              <a:t>로 변경 필요</a:t>
            </a:r>
            <a:endParaRPr lang="en-US" altLang="ko-KR" sz="1600" dirty="0"/>
          </a:p>
          <a:p>
            <a:pPr lvl="1">
              <a:buFontTx/>
              <a:buChar char="•"/>
            </a:pPr>
            <a:r>
              <a:rPr lang="ko-KR" altLang="en-US" sz="1600" dirty="0"/>
              <a:t>디스플레이 옵션의 </a:t>
            </a:r>
            <a:r>
              <a:rPr lang="en-US" altLang="ko-KR" sz="1600" dirty="0" err="1"/>
              <a:t>3d</a:t>
            </a:r>
            <a:r>
              <a:rPr lang="en-US" altLang="ko-KR" sz="1600" dirty="0"/>
              <a:t> </a:t>
            </a:r>
            <a:r>
              <a:rPr lang="en-US" altLang="ko-KR" sz="1600" dirty="0" err="1"/>
              <a:t>Accelation</a:t>
            </a:r>
            <a:r>
              <a:rPr lang="ko-KR" altLang="en-US" sz="1600" dirty="0"/>
              <a:t>은 </a:t>
            </a:r>
            <a:r>
              <a:rPr lang="en-US" altLang="ko-KR" sz="1600" dirty="0"/>
              <a:t>PC </a:t>
            </a:r>
            <a:r>
              <a:rPr lang="ko-KR" altLang="en-US" sz="1600" dirty="0"/>
              <a:t>그래픽 카드에 따라 오동작 할 수 있음 </a:t>
            </a:r>
            <a:r>
              <a:rPr lang="en-US" altLang="ko-KR" sz="1600" dirty="0"/>
              <a:t>(</a:t>
            </a:r>
            <a:r>
              <a:rPr lang="ko-KR" altLang="en-US" sz="1600" dirty="0"/>
              <a:t>선택 해제 후 사용</a:t>
            </a:r>
            <a:r>
              <a:rPr lang="en-US" altLang="ko-KR" sz="1600" dirty="0"/>
              <a:t>)</a:t>
            </a:r>
          </a:p>
          <a:p>
            <a:pPr lvl="1">
              <a:buFontTx/>
              <a:buChar char="•"/>
            </a:pPr>
            <a:r>
              <a:rPr lang="en-US" altLang="ko-KR" sz="1600" dirty="0"/>
              <a:t>Graphics Controller</a:t>
            </a:r>
            <a:r>
              <a:rPr lang="ko-KR" altLang="en-US" sz="1600" dirty="0"/>
              <a:t>는 </a:t>
            </a:r>
            <a:r>
              <a:rPr lang="en-US" altLang="ko-KR" sz="1600" dirty="0"/>
              <a:t>VMSGA </a:t>
            </a:r>
            <a:r>
              <a:rPr lang="ko-KR" altLang="en-US" sz="1600" dirty="0"/>
              <a:t>선택 </a:t>
            </a:r>
            <a:r>
              <a:rPr lang="en-US" altLang="ko-KR" sz="1600" dirty="0"/>
              <a:t>(Linux </a:t>
            </a:r>
            <a:r>
              <a:rPr lang="ko-KR" altLang="en-US" sz="1600" dirty="0"/>
              <a:t>계열 게스트 사용시 선택</a:t>
            </a:r>
            <a:r>
              <a:rPr lang="en-US" altLang="ko-KR" sz="1600" dirty="0"/>
              <a:t>)</a:t>
            </a:r>
          </a:p>
          <a:p>
            <a:pPr lvl="1">
              <a:buFontTx/>
              <a:buChar char="•"/>
            </a:pPr>
            <a:r>
              <a:rPr lang="en-US" altLang="ko-KR" sz="1600" dirty="0"/>
              <a:t>Windows </a:t>
            </a:r>
            <a:r>
              <a:rPr lang="ko-KR" altLang="en-US" sz="1600" dirty="0" err="1"/>
              <a:t>계역을</a:t>
            </a:r>
            <a:r>
              <a:rPr lang="ko-KR" altLang="en-US" sz="1600" dirty="0"/>
              <a:t> </a:t>
            </a:r>
            <a:r>
              <a:rPr lang="en-US" altLang="ko-KR" sz="1600" dirty="0" err="1"/>
              <a:t>VBoxSGA</a:t>
            </a:r>
            <a:r>
              <a:rPr lang="en-US" altLang="ko-KR" sz="1600" dirty="0"/>
              <a:t> </a:t>
            </a:r>
            <a:r>
              <a:rPr lang="ko-KR" altLang="en-US" sz="1600" dirty="0"/>
              <a:t>사용 권장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55755487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제목 1"/>
          <p:cNvSpPr>
            <a:spLocks noGrp="1"/>
          </p:cNvSpPr>
          <p:nvPr>
            <p:ph type="title"/>
          </p:nvPr>
        </p:nvSpPr>
        <p:spPr>
          <a:xfrm>
            <a:off x="344488" y="152400"/>
            <a:ext cx="9307512" cy="360363"/>
          </a:xfrm>
          <a:ln/>
        </p:spPr>
        <p:txBody>
          <a:bodyPr/>
          <a:lstStyle/>
          <a:p>
            <a:r>
              <a:rPr lang="en-US" altLang="ko-KR"/>
              <a:t>1.3 Oracle Virtual Box </a:t>
            </a:r>
            <a:r>
              <a:rPr lang="ko-KR" altLang="en-US"/>
              <a:t>설치 및 준비</a:t>
            </a:r>
          </a:p>
        </p:txBody>
      </p:sp>
      <p:sp>
        <p:nvSpPr>
          <p:cNvPr id="6149" name="내용 개체 틀 2"/>
          <p:cNvSpPr>
            <a:spLocks noGrp="1"/>
          </p:cNvSpPr>
          <p:nvPr>
            <p:ph idx="1"/>
          </p:nvPr>
        </p:nvSpPr>
        <p:spPr>
          <a:xfrm>
            <a:off x="458788" y="836612"/>
            <a:ext cx="9193212" cy="5472707"/>
          </a:xfrm>
        </p:spPr>
        <p:txBody>
          <a:bodyPr/>
          <a:lstStyle/>
          <a:p>
            <a:pPr>
              <a:buFontTx/>
              <a:buChar char="•"/>
            </a:pPr>
            <a:r>
              <a:rPr lang="ko-KR" altLang="en-US" sz="2000" dirty="0"/>
              <a:t>가상 머신 계정 </a:t>
            </a:r>
            <a:r>
              <a:rPr lang="en-US" altLang="ko-KR" sz="2000" dirty="0"/>
              <a:t>(root</a:t>
            </a:r>
            <a:r>
              <a:rPr lang="ko-KR" altLang="en-US" sz="2000" dirty="0"/>
              <a:t>로 </a:t>
            </a:r>
            <a:r>
              <a:rPr lang="ko-KR" altLang="en-US" sz="2000" dirty="0" err="1"/>
              <a:t>로그인은</a:t>
            </a:r>
            <a:r>
              <a:rPr lang="ko-KR" altLang="en-US" sz="2000" dirty="0"/>
              <a:t> 안됨</a:t>
            </a:r>
            <a:r>
              <a:rPr lang="en-US" altLang="ko-KR" sz="2000" dirty="0"/>
              <a:t>)</a:t>
            </a:r>
          </a:p>
          <a:p>
            <a:pPr lvl="1">
              <a:buFontTx/>
              <a:buChar char="•"/>
            </a:pPr>
            <a:r>
              <a:rPr lang="ko-KR" altLang="en-US" sz="1800" dirty="0"/>
              <a:t>로그인 계정 </a:t>
            </a:r>
            <a:r>
              <a:rPr lang="en-US" altLang="ko-KR" sz="1800" dirty="0"/>
              <a:t>: user / </a:t>
            </a:r>
            <a:r>
              <a:rPr lang="en-US" altLang="ko-KR" sz="1800" dirty="0" err="1"/>
              <a:t>user1</a:t>
            </a:r>
            <a:r>
              <a:rPr lang="en-US" altLang="ko-KR" sz="1800" dirty="0"/>
              <a:t>!</a:t>
            </a:r>
          </a:p>
          <a:p>
            <a:pPr lvl="1">
              <a:buFontTx/>
              <a:buChar char="•"/>
            </a:pPr>
            <a:r>
              <a:rPr lang="ko-KR" altLang="en-US" sz="1800" dirty="0"/>
              <a:t>관리자 계정 </a:t>
            </a:r>
            <a:r>
              <a:rPr lang="en-US" altLang="ko-KR" sz="1800" dirty="0"/>
              <a:t>: root / </a:t>
            </a:r>
            <a:r>
              <a:rPr lang="en-US" altLang="ko-KR" sz="1800" dirty="0" err="1"/>
              <a:t>root1</a:t>
            </a:r>
            <a:r>
              <a:rPr lang="en-US" altLang="ko-KR" sz="1800" dirty="0"/>
              <a:t>! (</a:t>
            </a:r>
            <a:r>
              <a:rPr lang="en-US" altLang="ko-KR" sz="1800" dirty="0" err="1"/>
              <a:t>su</a:t>
            </a:r>
            <a:r>
              <a:rPr lang="en-US" altLang="ko-KR" sz="1800" dirty="0"/>
              <a:t> </a:t>
            </a:r>
            <a:r>
              <a:rPr lang="ko-KR" altLang="en-US" sz="1800" dirty="0"/>
              <a:t>로만 계정 변경 가능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로그인은</a:t>
            </a:r>
            <a:r>
              <a:rPr lang="ko-KR" altLang="en-US" sz="1800" dirty="0"/>
              <a:t> 안됨</a:t>
            </a:r>
            <a:r>
              <a:rPr lang="en-US" altLang="ko-KR" sz="1800" dirty="0"/>
              <a:t>)</a:t>
            </a:r>
          </a:p>
          <a:p>
            <a:pPr>
              <a:buFontTx/>
              <a:buChar char="•"/>
            </a:pPr>
            <a:r>
              <a:rPr lang="ko-KR" altLang="en-US" sz="2000" dirty="0"/>
              <a:t>가상 </a:t>
            </a:r>
            <a:r>
              <a:rPr lang="ko-KR" altLang="en-US" sz="2000" dirty="0" err="1"/>
              <a:t>머신에서</a:t>
            </a:r>
            <a:r>
              <a:rPr lang="ko-KR" altLang="en-US" sz="2000" dirty="0"/>
              <a:t> 하거나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SSH</a:t>
            </a:r>
            <a:r>
              <a:rPr lang="en-US" altLang="ko-KR" sz="2000" dirty="0"/>
              <a:t> </a:t>
            </a:r>
            <a:r>
              <a:rPr lang="ko-KR" altLang="en-US" sz="2000" dirty="0"/>
              <a:t>로 연결해서 </a:t>
            </a:r>
            <a:r>
              <a:rPr lang="en-US" altLang="ko-KR" sz="2000" dirty="0"/>
              <a:t>Lab </a:t>
            </a:r>
            <a:r>
              <a:rPr lang="ko-KR" altLang="en-US" sz="2000" dirty="0"/>
              <a:t>진행 </a:t>
            </a:r>
            <a:r>
              <a:rPr lang="ko-KR" altLang="en-US" sz="2000" dirty="0" smtClean="0"/>
              <a:t>가능</a:t>
            </a:r>
            <a:endParaRPr lang="en-US" altLang="ko-KR" sz="16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88" y="2636912"/>
            <a:ext cx="4551706" cy="328918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8816" y="2637620"/>
            <a:ext cx="4561800" cy="3288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992431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4"/>
          <p:cNvGrpSpPr>
            <a:grpSpLocks/>
          </p:cNvGrpSpPr>
          <p:nvPr/>
        </p:nvGrpSpPr>
        <p:grpSpPr bwMode="auto">
          <a:xfrm>
            <a:off x="-15875" y="1905000"/>
            <a:ext cx="9399588" cy="533400"/>
            <a:chOff x="0" y="768"/>
            <a:chExt cx="3870" cy="480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5126" name="Rectangle 5"/>
            <p:cNvSpPr>
              <a:spLocks noChangeArrowheads="1"/>
            </p:cNvSpPr>
            <p:nvPr/>
          </p:nvSpPr>
          <p:spPr bwMode="auto">
            <a:xfrm>
              <a:off x="0" y="768"/>
              <a:ext cx="3630" cy="48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defRPr kumimoji="1" sz="2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ko-KR" altLang="en-US" sz="1600">
                <a:solidFill>
                  <a:schemeClr val="bg1"/>
                </a:solidFill>
                <a:latin typeface="HY울릉도M" pitchFamily="18" charset="-127"/>
                <a:ea typeface="HY울릉도M" pitchFamily="18" charset="-127"/>
              </a:endParaRPr>
            </a:p>
          </p:txBody>
        </p:sp>
        <p:sp>
          <p:nvSpPr>
            <p:cNvPr id="5127" name="AutoShape 6"/>
            <p:cNvSpPr>
              <a:spLocks noChangeArrowheads="1"/>
            </p:cNvSpPr>
            <p:nvPr/>
          </p:nvSpPr>
          <p:spPr bwMode="auto">
            <a:xfrm>
              <a:off x="2640" y="768"/>
              <a:ext cx="1230" cy="48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defRPr kumimoji="1" sz="2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ko-KR" altLang="en-US" sz="1600">
                <a:solidFill>
                  <a:schemeClr val="bg1"/>
                </a:solidFill>
                <a:latin typeface="HY울릉도M" pitchFamily="18" charset="-127"/>
                <a:ea typeface="HY울릉도M" pitchFamily="18" charset="-127"/>
              </a:endParaRPr>
            </a:p>
          </p:txBody>
        </p:sp>
      </p:grpSp>
      <p:sp>
        <p:nvSpPr>
          <p:cNvPr id="5123" name="AutoShape 7"/>
          <p:cNvSpPr>
            <a:spLocks noChangeArrowheads="1"/>
          </p:cNvSpPr>
          <p:nvPr/>
        </p:nvSpPr>
        <p:spPr bwMode="auto">
          <a:xfrm>
            <a:off x="3490913" y="1943100"/>
            <a:ext cx="3749675" cy="457200"/>
          </a:xfrm>
          <a:prstGeom prst="bevel">
            <a:avLst>
              <a:gd name="adj" fmla="val 125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</a:pPr>
            <a:r>
              <a:rPr kumimoji="0" lang="en-US" altLang="ko-KR" sz="3200" b="1" dirty="0" smtClean="0">
                <a:solidFill>
                  <a:schemeClr val="bg1"/>
                </a:solidFill>
              </a:rPr>
              <a:t>Ontology </a:t>
            </a:r>
            <a:r>
              <a:rPr kumimoji="0" lang="en-US" altLang="ko-KR" sz="3200" b="1" dirty="0">
                <a:solidFill>
                  <a:schemeClr val="bg1"/>
                </a:solidFill>
              </a:rPr>
              <a:t>Quick Start</a:t>
            </a:r>
          </a:p>
        </p:txBody>
      </p:sp>
      <p:sp>
        <p:nvSpPr>
          <p:cNvPr id="5124" name="Rectangle 8"/>
          <p:cNvSpPr>
            <a:spLocks noChangeArrowheads="1"/>
          </p:cNvSpPr>
          <p:nvPr/>
        </p:nvSpPr>
        <p:spPr bwMode="auto">
          <a:xfrm>
            <a:off x="1577975" y="1219200"/>
            <a:ext cx="1377950" cy="2057400"/>
          </a:xfrm>
          <a:prstGeom prst="rect">
            <a:avLst/>
          </a:prstGeom>
          <a:noFill/>
          <a:ln>
            <a:noFill/>
          </a:ln>
          <a:effectLst>
            <a:outerShdw dist="71842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en-US" altLang="ko-KR" sz="14000" i="1">
                <a:solidFill>
                  <a:srgbClr val="FF0000"/>
                </a:solidFill>
                <a:latin typeface="Arial Black" pitchFamily="34" charset="0"/>
                <a:ea typeface="HY견고딕" pitchFamily="18" charset="-127"/>
              </a:rPr>
              <a:t>2</a:t>
            </a:r>
          </a:p>
        </p:txBody>
      </p:sp>
      <p:sp>
        <p:nvSpPr>
          <p:cNvPr id="5125" name="Text Box 9"/>
          <p:cNvSpPr txBox="1">
            <a:spLocks noChangeArrowheads="1"/>
          </p:cNvSpPr>
          <p:nvPr/>
        </p:nvSpPr>
        <p:spPr bwMode="auto">
          <a:xfrm>
            <a:off x="3414713" y="2667000"/>
            <a:ext cx="6237287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lvl="1" eaLnBrk="1" latinLnBrk="0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kumimoji="0" lang="en-US" altLang="ko-KR" b="1" dirty="0"/>
              <a:t>2.1 </a:t>
            </a:r>
            <a:r>
              <a:rPr kumimoji="0" lang="en-US" altLang="ko-KR" b="1" dirty="0" smtClean="0"/>
              <a:t>..</a:t>
            </a:r>
            <a:endParaRPr kumimoji="0" lang="en-US" altLang="ko-KR" b="1" dirty="0"/>
          </a:p>
          <a:p>
            <a:pPr lvl="1" eaLnBrk="1" latinLnBrk="0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kumimoji="0" lang="en-US" altLang="ko-KR" b="1" dirty="0"/>
              <a:t>2.2 </a:t>
            </a:r>
            <a:r>
              <a:rPr kumimoji="0" lang="en-US" altLang="ko-KR" b="1" dirty="0" smtClean="0"/>
              <a:t>..</a:t>
            </a:r>
            <a:endParaRPr kumimoji="0"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66978195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제목 1"/>
          <p:cNvSpPr>
            <a:spLocks noGrp="1"/>
          </p:cNvSpPr>
          <p:nvPr>
            <p:ph type="title"/>
          </p:nvPr>
        </p:nvSpPr>
        <p:spPr>
          <a:xfrm>
            <a:off x="344488" y="152400"/>
            <a:ext cx="9307512" cy="360363"/>
          </a:xfrm>
          <a:ln/>
        </p:spPr>
        <p:txBody>
          <a:bodyPr/>
          <a:lstStyle/>
          <a:p>
            <a:r>
              <a:rPr lang="en-US" altLang="ko-KR" dirty="0" smtClean="0"/>
              <a:t>2.1 </a:t>
            </a:r>
            <a:r>
              <a:rPr lang="ko-KR" altLang="en-US" dirty="0" smtClean="0"/>
              <a:t>서울시 실시간 도시 데이터 사용</a:t>
            </a:r>
            <a:endParaRPr lang="ko-KR" altLang="en-US" dirty="0"/>
          </a:p>
        </p:txBody>
      </p:sp>
      <p:sp>
        <p:nvSpPr>
          <p:cNvPr id="6149" name="내용 개체 틀 2"/>
          <p:cNvSpPr>
            <a:spLocks noGrp="1"/>
          </p:cNvSpPr>
          <p:nvPr>
            <p:ph idx="1"/>
          </p:nvPr>
        </p:nvSpPr>
        <p:spPr>
          <a:xfrm>
            <a:off x="458788" y="836613"/>
            <a:ext cx="9193212" cy="576262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ko-KR" sz="1800" dirty="0" err="1"/>
              <a:t>VirtualBox</a:t>
            </a:r>
            <a:r>
              <a:rPr lang="en-US" altLang="ko-KR" sz="1800" dirty="0"/>
              <a:t> </a:t>
            </a:r>
            <a:r>
              <a:rPr lang="en-US" altLang="ko-KR" sz="1800" dirty="0" err="1"/>
              <a:t>VM</a:t>
            </a:r>
            <a:r>
              <a:rPr lang="ko-KR" altLang="en-US" sz="1800" dirty="0"/>
              <a:t>에 </a:t>
            </a:r>
            <a:r>
              <a:rPr lang="en-US" altLang="ko-KR" sz="1800" dirty="0"/>
              <a:t>Apache Kafka 4.2 </a:t>
            </a:r>
            <a:r>
              <a:rPr lang="ko-KR" altLang="en-US" sz="1800" dirty="0"/>
              <a:t>사전 설치함</a:t>
            </a:r>
            <a:endParaRPr lang="en-US" altLang="ko-KR" sz="1800" dirty="0"/>
          </a:p>
          <a:p>
            <a:pPr lvl="1">
              <a:buFontTx/>
              <a:buChar char="•"/>
            </a:pPr>
            <a:r>
              <a:rPr lang="en-US" altLang="ko-KR" sz="1400" dirty="0"/>
              <a:t>/opt/</a:t>
            </a:r>
            <a:r>
              <a:rPr lang="en-US" altLang="ko-KR" sz="1400" dirty="0" err="1"/>
              <a:t>kafka</a:t>
            </a:r>
            <a:r>
              <a:rPr lang="en-US" altLang="ko-KR" sz="1400" dirty="0"/>
              <a:t> </a:t>
            </a:r>
            <a:r>
              <a:rPr lang="ko-KR" altLang="en-US" sz="1400" dirty="0"/>
              <a:t>에 사전 설치됨</a:t>
            </a:r>
            <a:r>
              <a:rPr lang="en-US" altLang="ko-KR" sz="1400" dirty="0"/>
              <a:t>. Kafka </a:t>
            </a:r>
            <a:r>
              <a:rPr lang="ko-KR" altLang="en-US" sz="1400" dirty="0"/>
              <a:t>홈페이지에서 </a:t>
            </a:r>
            <a:r>
              <a:rPr lang="ko-KR" altLang="en-US" sz="1400" dirty="0" err="1"/>
              <a:t>다운로드하여</a:t>
            </a:r>
            <a:r>
              <a:rPr lang="ko-KR" altLang="en-US" sz="1400" dirty="0"/>
              <a:t> 압축 해제 하면 바로 사용 가능</a:t>
            </a:r>
            <a:endParaRPr lang="en-US" altLang="ko-KR" sz="1400" dirty="0"/>
          </a:p>
          <a:p>
            <a:pPr lvl="1">
              <a:buFontTx/>
              <a:buChar char="•"/>
            </a:pPr>
            <a:r>
              <a:rPr lang="ko-KR" altLang="en-US" sz="1400" dirty="0"/>
              <a:t>필수 조건으로 </a:t>
            </a:r>
            <a:r>
              <a:rPr lang="en-US" altLang="ko-KR" sz="1400" dirty="0"/>
              <a:t>JAVA 17 </a:t>
            </a:r>
            <a:r>
              <a:rPr lang="ko-KR" altLang="en-US" sz="1400" dirty="0"/>
              <a:t>이상 필요</a:t>
            </a:r>
            <a:r>
              <a:rPr lang="en-US" altLang="ko-KR" sz="1400" dirty="0"/>
              <a:t> (</a:t>
            </a:r>
            <a:r>
              <a:rPr lang="en-US" altLang="ko-KR" sz="1400" dirty="0" err="1"/>
              <a:t>VM</a:t>
            </a:r>
            <a:r>
              <a:rPr lang="ko-KR" altLang="en-US" sz="1400" dirty="0"/>
              <a:t>에는 자바 </a:t>
            </a:r>
            <a:r>
              <a:rPr lang="en-US" altLang="ko-KR" sz="1400" dirty="0"/>
              <a:t>21 </a:t>
            </a:r>
            <a:r>
              <a:rPr lang="en-US" altLang="ko-KR" sz="1400" dirty="0" err="1"/>
              <a:t>LTS</a:t>
            </a:r>
            <a:r>
              <a:rPr lang="en-US" altLang="ko-KR" sz="1400" dirty="0"/>
              <a:t> </a:t>
            </a:r>
            <a:r>
              <a:rPr lang="ko-KR" altLang="en-US" sz="1400" dirty="0"/>
              <a:t>버전 설치됨</a:t>
            </a:r>
            <a:r>
              <a:rPr lang="en-US" altLang="ko-KR" sz="1400" dirty="0"/>
              <a:t>)</a:t>
            </a:r>
          </a:p>
          <a:p>
            <a:pPr lvl="1">
              <a:buFontTx/>
              <a:buChar char="•"/>
            </a:pPr>
            <a:r>
              <a:rPr lang="en-US" altLang="ko-KR" sz="1400" dirty="0" err="1"/>
              <a:t>kafka</a:t>
            </a:r>
            <a:r>
              <a:rPr lang="en-US" altLang="ko-KR" sz="1400" dirty="0"/>
              <a:t> </a:t>
            </a:r>
            <a:r>
              <a:rPr lang="ko-KR" altLang="en-US" sz="1400" dirty="0"/>
              <a:t>계정 생성하지 않고 </a:t>
            </a:r>
            <a:r>
              <a:rPr lang="en-US" altLang="ko-KR" sz="1400" dirty="0"/>
              <a:t>user </a:t>
            </a:r>
            <a:r>
              <a:rPr lang="ko-KR" altLang="en-US" sz="1400" dirty="0"/>
              <a:t>계정으로 권한 부여함</a:t>
            </a:r>
            <a:endParaRPr lang="en-US" altLang="ko-KR" sz="1400" dirty="0"/>
          </a:p>
          <a:p>
            <a:pPr lvl="1">
              <a:buFontTx/>
              <a:buChar char="•"/>
            </a:pPr>
            <a:endParaRPr lang="en-US" altLang="ko-KR" sz="1400" dirty="0"/>
          </a:p>
          <a:p>
            <a:pPr>
              <a:buFontTx/>
              <a:buChar char="•"/>
            </a:pPr>
            <a:r>
              <a:rPr lang="en-US" altLang="ko-KR" sz="1800" dirty="0"/>
              <a:t>Apache Kafka </a:t>
            </a:r>
            <a:r>
              <a:rPr lang="en-US" altLang="ko-KR" sz="1800" dirty="0" err="1"/>
              <a:t>4.x</a:t>
            </a:r>
            <a:r>
              <a:rPr lang="en-US" altLang="ko-KR" sz="1800" dirty="0"/>
              <a:t> </a:t>
            </a:r>
            <a:r>
              <a:rPr lang="ko-KR" altLang="en-US" sz="1800" dirty="0"/>
              <a:t>설치 후 초기 작업 </a:t>
            </a:r>
            <a:r>
              <a:rPr lang="en-US" altLang="ko-KR" sz="1800" dirty="0"/>
              <a:t>(DOCKER</a:t>
            </a:r>
            <a:r>
              <a:rPr lang="ko-KR" altLang="en-US" sz="1800" dirty="0"/>
              <a:t>일 경우 불필요</a:t>
            </a:r>
            <a:r>
              <a:rPr lang="en-US" altLang="ko-KR" sz="1800" dirty="0"/>
              <a:t>)</a:t>
            </a:r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cd /opt/</a:t>
            </a:r>
            <a:r>
              <a:rPr lang="en-US" altLang="ko-KR" sz="1000" dirty="0" err="1"/>
              <a:t>kafka</a:t>
            </a: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# </a:t>
            </a:r>
            <a:r>
              <a:rPr lang="en-US" altLang="ko-KR" sz="1000" dirty="0" err="1"/>
              <a:t>CLUSTER_ID</a:t>
            </a:r>
            <a:r>
              <a:rPr lang="en-US" altLang="ko-KR" sz="1000" dirty="0"/>
              <a:t> </a:t>
            </a:r>
            <a:r>
              <a:rPr lang="ko-KR" altLang="en-US" sz="1000" dirty="0"/>
              <a:t>값 추출 </a:t>
            </a:r>
            <a:r>
              <a:rPr lang="en-US" altLang="ko-KR" sz="1000" dirty="0"/>
              <a:t>(RANDOM)</a:t>
            </a:r>
          </a:p>
          <a:p>
            <a:pPr marL="0" indent="0">
              <a:buNone/>
            </a:pPr>
            <a:r>
              <a:rPr lang="en-US" altLang="ko-KR" sz="1000" dirty="0" err="1"/>
              <a:t>KAFKA_CLUSTER_ID</a:t>
            </a:r>
            <a:r>
              <a:rPr lang="en-US" altLang="ko-KR" sz="1000" dirty="0" smtClean="0"/>
              <a:t>="$(</a:t>
            </a:r>
            <a:r>
              <a:rPr lang="en-US" altLang="ko-KR" sz="1000" dirty="0"/>
              <a:t>bin/</a:t>
            </a:r>
            <a:r>
              <a:rPr lang="en-US" altLang="ko-KR" sz="1000" dirty="0" err="1"/>
              <a:t>kafka-storage.sh</a:t>
            </a:r>
            <a:r>
              <a:rPr lang="en-US" altLang="ko-KR" sz="1000" dirty="0"/>
              <a:t> random-</a:t>
            </a:r>
            <a:r>
              <a:rPr lang="en-US" altLang="ko-KR" sz="1000" dirty="0" err="1"/>
              <a:t>uuid</a:t>
            </a:r>
            <a:r>
              <a:rPr lang="en-US" altLang="ko-KR" sz="1000" dirty="0" smtClean="0"/>
              <a:t>)"</a:t>
            </a: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# KAFKA STORAGE FORMAT -&gt; </a:t>
            </a:r>
            <a:r>
              <a:rPr lang="en-US" altLang="ko-KR" sz="1000" dirty="0" err="1"/>
              <a:t>server.properties</a:t>
            </a:r>
            <a:r>
              <a:rPr lang="en-US" altLang="ko-KR" sz="1000" dirty="0"/>
              <a:t> </a:t>
            </a:r>
            <a:r>
              <a:rPr lang="ko-KR" altLang="en-US" sz="1000" dirty="0"/>
              <a:t>파일에서 </a:t>
            </a:r>
            <a:r>
              <a:rPr lang="en-US" altLang="ko-KR" sz="1000" dirty="0"/>
              <a:t>storage </a:t>
            </a:r>
            <a:r>
              <a:rPr lang="ko-KR" altLang="en-US" sz="1000" dirty="0"/>
              <a:t>위치 변경 가능 </a:t>
            </a:r>
            <a:r>
              <a:rPr lang="en-US" altLang="ko-KR" sz="1000" dirty="0"/>
              <a:t>(</a:t>
            </a:r>
            <a:r>
              <a:rPr lang="en-US" altLang="ko-KR" sz="1000" dirty="0" err="1"/>
              <a:t>log.dirs</a:t>
            </a:r>
            <a:r>
              <a:rPr lang="en-US" altLang="ko-KR" sz="1000" dirty="0"/>
              <a:t>.)</a:t>
            </a:r>
            <a:r>
              <a:rPr lang="ko-KR" altLang="en-US" sz="1000" dirty="0"/>
              <a:t> </a:t>
            </a: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bin/</a:t>
            </a:r>
            <a:r>
              <a:rPr lang="en-US" altLang="ko-KR" sz="1000" dirty="0" err="1"/>
              <a:t>kafka-storage.sh</a:t>
            </a:r>
            <a:r>
              <a:rPr lang="en-US" altLang="ko-KR" sz="1000" dirty="0"/>
              <a:t> format --standalone -t $</a:t>
            </a:r>
            <a:r>
              <a:rPr lang="en-US" altLang="ko-KR" sz="1000" dirty="0" err="1"/>
              <a:t>KAFKA_CLUSTER_ID</a:t>
            </a:r>
            <a:r>
              <a:rPr lang="en-US" altLang="ko-KR" sz="1000" dirty="0"/>
              <a:t> -c </a:t>
            </a:r>
            <a:r>
              <a:rPr lang="en-US" altLang="ko-KR" sz="1000" dirty="0" err="1"/>
              <a:t>config</a:t>
            </a:r>
            <a:r>
              <a:rPr lang="en-US" altLang="ko-KR" sz="1000" dirty="0"/>
              <a:t>/</a:t>
            </a:r>
            <a:r>
              <a:rPr lang="en-US" altLang="ko-KR" sz="1000" dirty="0" err="1"/>
              <a:t>server.properties</a:t>
            </a: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400" dirty="0"/>
          </a:p>
          <a:p>
            <a:pPr marL="0" lvl="1" indent="0">
              <a:buNone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879448681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제목 1"/>
          <p:cNvSpPr>
            <a:spLocks noGrp="1"/>
          </p:cNvSpPr>
          <p:nvPr>
            <p:ph type="title"/>
          </p:nvPr>
        </p:nvSpPr>
        <p:spPr>
          <a:xfrm>
            <a:off x="344488" y="152400"/>
            <a:ext cx="9307512" cy="360363"/>
          </a:xfrm>
          <a:ln/>
        </p:spPr>
        <p:txBody>
          <a:bodyPr/>
          <a:lstStyle/>
          <a:p>
            <a:r>
              <a:rPr lang="en-US" altLang="ko-KR" dirty="0" smtClean="0"/>
              <a:t>2.1 </a:t>
            </a:r>
            <a:r>
              <a:rPr lang="en-US" altLang="ko-KR" dirty="0" err="1" smtClean="0"/>
              <a:t>ollama</a:t>
            </a:r>
            <a:r>
              <a:rPr lang="en-US" altLang="ko-KR" dirty="0" smtClean="0"/>
              <a:t> </a:t>
            </a:r>
            <a:r>
              <a:rPr lang="ko-KR" altLang="en-US" dirty="0" smtClean="0"/>
              <a:t>설치 및 간단한 사용</a:t>
            </a:r>
            <a:endParaRPr lang="ko-KR" altLang="en-US" dirty="0"/>
          </a:p>
        </p:txBody>
      </p:sp>
      <p:sp>
        <p:nvSpPr>
          <p:cNvPr id="6149" name="내용 개체 틀 2"/>
          <p:cNvSpPr>
            <a:spLocks noGrp="1"/>
          </p:cNvSpPr>
          <p:nvPr>
            <p:ph idx="1"/>
          </p:nvPr>
        </p:nvSpPr>
        <p:spPr>
          <a:xfrm>
            <a:off x="458788" y="836613"/>
            <a:ext cx="9193212" cy="576262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ko-KR" sz="1800" dirty="0" err="1"/>
              <a:t>VirtualBox</a:t>
            </a:r>
            <a:r>
              <a:rPr lang="en-US" altLang="ko-KR" sz="1800" dirty="0"/>
              <a:t> </a:t>
            </a:r>
            <a:r>
              <a:rPr lang="en-US" altLang="ko-KR" sz="1800" dirty="0" err="1"/>
              <a:t>VM</a:t>
            </a:r>
            <a:r>
              <a:rPr lang="ko-KR" altLang="en-US" sz="1800" dirty="0"/>
              <a:t>에 </a:t>
            </a:r>
            <a:r>
              <a:rPr lang="en-US" altLang="ko-KR" sz="1800" dirty="0"/>
              <a:t>Apache Kafka 4.2 </a:t>
            </a:r>
            <a:r>
              <a:rPr lang="ko-KR" altLang="en-US" sz="1800" dirty="0"/>
              <a:t>사전 설치함</a:t>
            </a:r>
            <a:endParaRPr lang="en-US" altLang="ko-KR" sz="1800" dirty="0"/>
          </a:p>
          <a:p>
            <a:pPr lvl="1">
              <a:buFontTx/>
              <a:buChar char="•"/>
            </a:pPr>
            <a:r>
              <a:rPr lang="en-US" altLang="ko-KR" sz="1400" dirty="0"/>
              <a:t>/opt/</a:t>
            </a:r>
            <a:r>
              <a:rPr lang="en-US" altLang="ko-KR" sz="1400" dirty="0" err="1"/>
              <a:t>kafka</a:t>
            </a:r>
            <a:r>
              <a:rPr lang="en-US" altLang="ko-KR" sz="1400" dirty="0"/>
              <a:t> </a:t>
            </a:r>
            <a:r>
              <a:rPr lang="ko-KR" altLang="en-US" sz="1400" dirty="0"/>
              <a:t>에 사전 설치됨</a:t>
            </a:r>
            <a:r>
              <a:rPr lang="en-US" altLang="ko-KR" sz="1400" dirty="0"/>
              <a:t>. Kafka </a:t>
            </a:r>
            <a:r>
              <a:rPr lang="ko-KR" altLang="en-US" sz="1400" dirty="0"/>
              <a:t>홈페이지에서 </a:t>
            </a:r>
            <a:r>
              <a:rPr lang="ko-KR" altLang="en-US" sz="1400" dirty="0" err="1"/>
              <a:t>다운로드하여</a:t>
            </a:r>
            <a:r>
              <a:rPr lang="ko-KR" altLang="en-US" sz="1400" dirty="0"/>
              <a:t> 압축 해제 하면 바로 사용 가능</a:t>
            </a:r>
            <a:endParaRPr lang="en-US" altLang="ko-KR" sz="1400" dirty="0"/>
          </a:p>
          <a:p>
            <a:pPr lvl="1">
              <a:buFontTx/>
              <a:buChar char="•"/>
            </a:pPr>
            <a:r>
              <a:rPr lang="ko-KR" altLang="en-US" sz="1400" dirty="0"/>
              <a:t>필수 조건으로 </a:t>
            </a:r>
            <a:r>
              <a:rPr lang="en-US" altLang="ko-KR" sz="1400" dirty="0"/>
              <a:t>JAVA 17 </a:t>
            </a:r>
            <a:r>
              <a:rPr lang="ko-KR" altLang="en-US" sz="1400" dirty="0"/>
              <a:t>이상 필요</a:t>
            </a:r>
            <a:r>
              <a:rPr lang="en-US" altLang="ko-KR" sz="1400" dirty="0"/>
              <a:t> (</a:t>
            </a:r>
            <a:r>
              <a:rPr lang="en-US" altLang="ko-KR" sz="1400" dirty="0" err="1"/>
              <a:t>VM</a:t>
            </a:r>
            <a:r>
              <a:rPr lang="ko-KR" altLang="en-US" sz="1400" dirty="0"/>
              <a:t>에는 자바 </a:t>
            </a:r>
            <a:r>
              <a:rPr lang="en-US" altLang="ko-KR" sz="1400" dirty="0"/>
              <a:t>21 </a:t>
            </a:r>
            <a:r>
              <a:rPr lang="en-US" altLang="ko-KR" sz="1400" dirty="0" err="1"/>
              <a:t>LTS</a:t>
            </a:r>
            <a:r>
              <a:rPr lang="en-US" altLang="ko-KR" sz="1400" dirty="0"/>
              <a:t> </a:t>
            </a:r>
            <a:r>
              <a:rPr lang="ko-KR" altLang="en-US" sz="1400" dirty="0"/>
              <a:t>버전 설치됨</a:t>
            </a:r>
            <a:r>
              <a:rPr lang="en-US" altLang="ko-KR" sz="1400" dirty="0"/>
              <a:t>)</a:t>
            </a:r>
          </a:p>
          <a:p>
            <a:pPr lvl="1">
              <a:buFontTx/>
              <a:buChar char="•"/>
            </a:pPr>
            <a:r>
              <a:rPr lang="en-US" altLang="ko-KR" sz="1400" dirty="0" err="1"/>
              <a:t>kafka</a:t>
            </a:r>
            <a:r>
              <a:rPr lang="en-US" altLang="ko-KR" sz="1400" dirty="0"/>
              <a:t> </a:t>
            </a:r>
            <a:r>
              <a:rPr lang="ko-KR" altLang="en-US" sz="1400" dirty="0"/>
              <a:t>계정 생성하지 않고 </a:t>
            </a:r>
            <a:r>
              <a:rPr lang="en-US" altLang="ko-KR" sz="1400" dirty="0"/>
              <a:t>user </a:t>
            </a:r>
            <a:r>
              <a:rPr lang="ko-KR" altLang="en-US" sz="1400" dirty="0"/>
              <a:t>계정으로 권한 부여함</a:t>
            </a:r>
            <a:endParaRPr lang="en-US" altLang="ko-KR" sz="1400" dirty="0"/>
          </a:p>
          <a:p>
            <a:pPr lvl="1">
              <a:buFontTx/>
              <a:buChar char="•"/>
            </a:pPr>
            <a:endParaRPr lang="en-US" altLang="ko-KR" sz="1400" dirty="0"/>
          </a:p>
          <a:p>
            <a:pPr>
              <a:buFontTx/>
              <a:buChar char="•"/>
            </a:pPr>
            <a:r>
              <a:rPr lang="en-US" altLang="ko-KR" sz="1800" dirty="0"/>
              <a:t>Apache Kafka </a:t>
            </a:r>
            <a:r>
              <a:rPr lang="en-US" altLang="ko-KR" sz="1800" dirty="0" err="1"/>
              <a:t>4.x</a:t>
            </a:r>
            <a:r>
              <a:rPr lang="en-US" altLang="ko-KR" sz="1800" dirty="0"/>
              <a:t> </a:t>
            </a:r>
            <a:r>
              <a:rPr lang="ko-KR" altLang="en-US" sz="1800" dirty="0"/>
              <a:t>설치 후 초기 작업 </a:t>
            </a:r>
            <a:r>
              <a:rPr lang="en-US" altLang="ko-KR" sz="1800" dirty="0"/>
              <a:t>(DOCKER</a:t>
            </a:r>
            <a:r>
              <a:rPr lang="ko-KR" altLang="en-US" sz="1800" dirty="0"/>
              <a:t>일 경우 불필요</a:t>
            </a:r>
            <a:r>
              <a:rPr lang="en-US" altLang="ko-KR" sz="1800" dirty="0"/>
              <a:t>)</a:t>
            </a:r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cd /opt/</a:t>
            </a:r>
            <a:r>
              <a:rPr lang="en-US" altLang="ko-KR" sz="1000" dirty="0" err="1"/>
              <a:t>kafka</a:t>
            </a: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# </a:t>
            </a:r>
            <a:r>
              <a:rPr lang="en-US" altLang="ko-KR" sz="1000" dirty="0" err="1"/>
              <a:t>CLUSTER_ID</a:t>
            </a:r>
            <a:r>
              <a:rPr lang="en-US" altLang="ko-KR" sz="1000" dirty="0"/>
              <a:t> </a:t>
            </a:r>
            <a:r>
              <a:rPr lang="ko-KR" altLang="en-US" sz="1000" dirty="0"/>
              <a:t>값 추출 </a:t>
            </a:r>
            <a:r>
              <a:rPr lang="en-US" altLang="ko-KR" sz="1000" dirty="0"/>
              <a:t>(RANDOM)</a:t>
            </a:r>
          </a:p>
          <a:p>
            <a:pPr marL="0" indent="0">
              <a:buNone/>
            </a:pPr>
            <a:r>
              <a:rPr lang="en-US" altLang="ko-KR" sz="1000" dirty="0" err="1"/>
              <a:t>KAFKA_CLUSTER_ID</a:t>
            </a:r>
            <a:r>
              <a:rPr lang="en-US" altLang="ko-KR" sz="1000" dirty="0" smtClean="0"/>
              <a:t>="$(</a:t>
            </a:r>
            <a:r>
              <a:rPr lang="en-US" altLang="ko-KR" sz="1000" dirty="0"/>
              <a:t>bin/</a:t>
            </a:r>
            <a:r>
              <a:rPr lang="en-US" altLang="ko-KR" sz="1000" dirty="0" err="1"/>
              <a:t>kafka-storage.sh</a:t>
            </a:r>
            <a:r>
              <a:rPr lang="en-US" altLang="ko-KR" sz="1000" dirty="0"/>
              <a:t> random-</a:t>
            </a:r>
            <a:r>
              <a:rPr lang="en-US" altLang="ko-KR" sz="1000" dirty="0" err="1"/>
              <a:t>uuid</a:t>
            </a:r>
            <a:r>
              <a:rPr lang="en-US" altLang="ko-KR" sz="1000" dirty="0" smtClean="0"/>
              <a:t>)"</a:t>
            </a: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# KAFKA STORAGE FORMAT -&gt; </a:t>
            </a:r>
            <a:r>
              <a:rPr lang="en-US" altLang="ko-KR" sz="1000" dirty="0" err="1"/>
              <a:t>server.properties</a:t>
            </a:r>
            <a:r>
              <a:rPr lang="en-US" altLang="ko-KR" sz="1000" dirty="0"/>
              <a:t> </a:t>
            </a:r>
            <a:r>
              <a:rPr lang="ko-KR" altLang="en-US" sz="1000" dirty="0"/>
              <a:t>파일에서 </a:t>
            </a:r>
            <a:r>
              <a:rPr lang="en-US" altLang="ko-KR" sz="1000" dirty="0"/>
              <a:t>storage </a:t>
            </a:r>
            <a:r>
              <a:rPr lang="ko-KR" altLang="en-US" sz="1000" dirty="0"/>
              <a:t>위치 변경 가능 </a:t>
            </a:r>
            <a:r>
              <a:rPr lang="en-US" altLang="ko-KR" sz="1000" dirty="0"/>
              <a:t>(</a:t>
            </a:r>
            <a:r>
              <a:rPr lang="en-US" altLang="ko-KR" sz="1000" dirty="0" err="1"/>
              <a:t>log.dirs</a:t>
            </a:r>
            <a:r>
              <a:rPr lang="en-US" altLang="ko-KR" sz="1000" dirty="0"/>
              <a:t>.)</a:t>
            </a:r>
            <a:r>
              <a:rPr lang="ko-KR" altLang="en-US" sz="1000" dirty="0"/>
              <a:t> </a:t>
            </a: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bin/</a:t>
            </a:r>
            <a:r>
              <a:rPr lang="en-US" altLang="ko-KR" sz="1000" dirty="0" err="1"/>
              <a:t>kafka-storage.sh</a:t>
            </a:r>
            <a:r>
              <a:rPr lang="en-US" altLang="ko-KR" sz="1000" dirty="0"/>
              <a:t> format --standalone -t $</a:t>
            </a:r>
            <a:r>
              <a:rPr lang="en-US" altLang="ko-KR" sz="1000" dirty="0" err="1"/>
              <a:t>KAFKA_CLUSTER_ID</a:t>
            </a:r>
            <a:r>
              <a:rPr lang="en-US" altLang="ko-KR" sz="1000" dirty="0"/>
              <a:t> -c </a:t>
            </a:r>
            <a:r>
              <a:rPr lang="en-US" altLang="ko-KR" sz="1000" dirty="0" err="1"/>
              <a:t>config</a:t>
            </a:r>
            <a:r>
              <a:rPr lang="en-US" altLang="ko-KR" sz="1000" dirty="0"/>
              <a:t>/</a:t>
            </a:r>
            <a:r>
              <a:rPr lang="en-US" altLang="ko-KR" sz="1000" dirty="0" err="1"/>
              <a:t>server.properties</a:t>
            </a: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400" dirty="0"/>
          </a:p>
          <a:p>
            <a:pPr marL="0" lvl="1" indent="0">
              <a:buNone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273803037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제목 1"/>
          <p:cNvSpPr>
            <a:spLocks noGrp="1"/>
          </p:cNvSpPr>
          <p:nvPr>
            <p:ph type="title"/>
          </p:nvPr>
        </p:nvSpPr>
        <p:spPr>
          <a:xfrm>
            <a:off x="344488" y="152400"/>
            <a:ext cx="9307512" cy="360363"/>
          </a:xfrm>
          <a:ln/>
        </p:spPr>
        <p:txBody>
          <a:bodyPr/>
          <a:lstStyle/>
          <a:p>
            <a:r>
              <a:rPr lang="en-US" altLang="ko-KR" dirty="0" smtClean="0"/>
              <a:t>2.1 Open WEB UI </a:t>
            </a:r>
            <a:r>
              <a:rPr lang="ko-KR" altLang="en-US" dirty="0" smtClean="0"/>
              <a:t>설치 및 테스트</a:t>
            </a:r>
            <a:endParaRPr lang="ko-KR" altLang="en-US" dirty="0"/>
          </a:p>
        </p:txBody>
      </p:sp>
      <p:sp>
        <p:nvSpPr>
          <p:cNvPr id="6149" name="내용 개체 틀 2"/>
          <p:cNvSpPr>
            <a:spLocks noGrp="1"/>
          </p:cNvSpPr>
          <p:nvPr>
            <p:ph idx="1"/>
          </p:nvPr>
        </p:nvSpPr>
        <p:spPr>
          <a:xfrm>
            <a:off x="458788" y="836613"/>
            <a:ext cx="9193212" cy="576262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ko-KR" sz="1800" dirty="0" err="1"/>
              <a:t>VirtualBox</a:t>
            </a:r>
            <a:r>
              <a:rPr lang="en-US" altLang="ko-KR" sz="1800" dirty="0"/>
              <a:t> </a:t>
            </a:r>
            <a:r>
              <a:rPr lang="en-US" altLang="ko-KR" sz="1800" dirty="0" err="1"/>
              <a:t>VM</a:t>
            </a:r>
            <a:r>
              <a:rPr lang="ko-KR" altLang="en-US" sz="1800" dirty="0"/>
              <a:t>에 </a:t>
            </a:r>
            <a:r>
              <a:rPr lang="en-US" altLang="ko-KR" sz="1800" dirty="0"/>
              <a:t>Apache Kafka 4.2 </a:t>
            </a:r>
            <a:r>
              <a:rPr lang="ko-KR" altLang="en-US" sz="1800" dirty="0"/>
              <a:t>사전 설치함</a:t>
            </a:r>
            <a:endParaRPr lang="en-US" altLang="ko-KR" sz="1800" dirty="0"/>
          </a:p>
          <a:p>
            <a:pPr lvl="1">
              <a:buFontTx/>
              <a:buChar char="•"/>
            </a:pPr>
            <a:r>
              <a:rPr lang="en-US" altLang="ko-KR" sz="1400" dirty="0"/>
              <a:t>/opt/</a:t>
            </a:r>
            <a:r>
              <a:rPr lang="en-US" altLang="ko-KR" sz="1400" dirty="0" err="1"/>
              <a:t>kafka</a:t>
            </a:r>
            <a:r>
              <a:rPr lang="en-US" altLang="ko-KR" sz="1400" dirty="0"/>
              <a:t> </a:t>
            </a:r>
            <a:r>
              <a:rPr lang="ko-KR" altLang="en-US" sz="1400" dirty="0"/>
              <a:t>에 사전 설치됨</a:t>
            </a:r>
            <a:r>
              <a:rPr lang="en-US" altLang="ko-KR" sz="1400" dirty="0"/>
              <a:t>. Kafka </a:t>
            </a:r>
            <a:r>
              <a:rPr lang="ko-KR" altLang="en-US" sz="1400" dirty="0"/>
              <a:t>홈페이지에서 </a:t>
            </a:r>
            <a:r>
              <a:rPr lang="ko-KR" altLang="en-US" sz="1400" dirty="0" err="1"/>
              <a:t>다운로드하여</a:t>
            </a:r>
            <a:r>
              <a:rPr lang="ko-KR" altLang="en-US" sz="1400" dirty="0"/>
              <a:t> 압축 해제 하면 바로 사용 가능</a:t>
            </a:r>
            <a:endParaRPr lang="en-US" altLang="ko-KR" sz="1400" dirty="0"/>
          </a:p>
          <a:p>
            <a:pPr lvl="1">
              <a:buFontTx/>
              <a:buChar char="•"/>
            </a:pPr>
            <a:r>
              <a:rPr lang="ko-KR" altLang="en-US" sz="1400" dirty="0"/>
              <a:t>필수 조건으로 </a:t>
            </a:r>
            <a:r>
              <a:rPr lang="en-US" altLang="ko-KR" sz="1400" dirty="0"/>
              <a:t>JAVA 17 </a:t>
            </a:r>
            <a:r>
              <a:rPr lang="ko-KR" altLang="en-US" sz="1400" dirty="0"/>
              <a:t>이상 필요</a:t>
            </a:r>
            <a:r>
              <a:rPr lang="en-US" altLang="ko-KR" sz="1400" dirty="0"/>
              <a:t> (</a:t>
            </a:r>
            <a:r>
              <a:rPr lang="en-US" altLang="ko-KR" sz="1400" dirty="0" err="1"/>
              <a:t>VM</a:t>
            </a:r>
            <a:r>
              <a:rPr lang="ko-KR" altLang="en-US" sz="1400" dirty="0"/>
              <a:t>에는 자바 </a:t>
            </a:r>
            <a:r>
              <a:rPr lang="en-US" altLang="ko-KR" sz="1400" dirty="0"/>
              <a:t>21 </a:t>
            </a:r>
            <a:r>
              <a:rPr lang="en-US" altLang="ko-KR" sz="1400" dirty="0" err="1"/>
              <a:t>LTS</a:t>
            </a:r>
            <a:r>
              <a:rPr lang="en-US" altLang="ko-KR" sz="1400" dirty="0"/>
              <a:t> </a:t>
            </a:r>
            <a:r>
              <a:rPr lang="ko-KR" altLang="en-US" sz="1400" dirty="0"/>
              <a:t>버전 설치됨</a:t>
            </a:r>
            <a:r>
              <a:rPr lang="en-US" altLang="ko-KR" sz="1400" dirty="0"/>
              <a:t>)</a:t>
            </a:r>
          </a:p>
          <a:p>
            <a:pPr lvl="1">
              <a:buFontTx/>
              <a:buChar char="•"/>
            </a:pPr>
            <a:r>
              <a:rPr lang="en-US" altLang="ko-KR" sz="1400" dirty="0" err="1"/>
              <a:t>kafka</a:t>
            </a:r>
            <a:r>
              <a:rPr lang="en-US" altLang="ko-KR" sz="1400" dirty="0"/>
              <a:t> </a:t>
            </a:r>
            <a:r>
              <a:rPr lang="ko-KR" altLang="en-US" sz="1400" dirty="0"/>
              <a:t>계정 생성하지 않고 </a:t>
            </a:r>
            <a:r>
              <a:rPr lang="en-US" altLang="ko-KR" sz="1400" dirty="0"/>
              <a:t>user </a:t>
            </a:r>
            <a:r>
              <a:rPr lang="ko-KR" altLang="en-US" sz="1400" dirty="0"/>
              <a:t>계정으로 권한 부여함</a:t>
            </a:r>
            <a:endParaRPr lang="en-US" altLang="ko-KR" sz="1400" dirty="0"/>
          </a:p>
          <a:p>
            <a:pPr lvl="1">
              <a:buFontTx/>
              <a:buChar char="•"/>
            </a:pPr>
            <a:endParaRPr lang="en-US" altLang="ko-KR" sz="1400" dirty="0"/>
          </a:p>
          <a:p>
            <a:pPr>
              <a:buFontTx/>
              <a:buChar char="•"/>
            </a:pPr>
            <a:r>
              <a:rPr lang="en-US" altLang="ko-KR" sz="1800" dirty="0"/>
              <a:t>Apache Kafka </a:t>
            </a:r>
            <a:r>
              <a:rPr lang="en-US" altLang="ko-KR" sz="1800" dirty="0" err="1"/>
              <a:t>4.x</a:t>
            </a:r>
            <a:r>
              <a:rPr lang="en-US" altLang="ko-KR" sz="1800" dirty="0"/>
              <a:t> </a:t>
            </a:r>
            <a:r>
              <a:rPr lang="ko-KR" altLang="en-US" sz="1800" dirty="0"/>
              <a:t>설치 후 초기 작업 </a:t>
            </a:r>
            <a:r>
              <a:rPr lang="en-US" altLang="ko-KR" sz="1800" dirty="0"/>
              <a:t>(DOCKER</a:t>
            </a:r>
            <a:r>
              <a:rPr lang="ko-KR" altLang="en-US" sz="1800" dirty="0"/>
              <a:t>일 경우 불필요</a:t>
            </a:r>
            <a:r>
              <a:rPr lang="en-US" altLang="ko-KR" sz="1800" dirty="0"/>
              <a:t>)</a:t>
            </a:r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cd /opt/</a:t>
            </a:r>
            <a:r>
              <a:rPr lang="en-US" altLang="ko-KR" sz="1000" dirty="0" err="1"/>
              <a:t>kafka</a:t>
            </a: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# </a:t>
            </a:r>
            <a:r>
              <a:rPr lang="en-US" altLang="ko-KR" sz="1000" dirty="0" err="1"/>
              <a:t>CLUSTER_ID</a:t>
            </a:r>
            <a:r>
              <a:rPr lang="en-US" altLang="ko-KR" sz="1000" dirty="0"/>
              <a:t> </a:t>
            </a:r>
            <a:r>
              <a:rPr lang="ko-KR" altLang="en-US" sz="1000" dirty="0"/>
              <a:t>값 추출 </a:t>
            </a:r>
            <a:r>
              <a:rPr lang="en-US" altLang="ko-KR" sz="1000" dirty="0"/>
              <a:t>(RANDOM)</a:t>
            </a:r>
          </a:p>
          <a:p>
            <a:pPr marL="0" indent="0">
              <a:buNone/>
            </a:pPr>
            <a:r>
              <a:rPr lang="en-US" altLang="ko-KR" sz="1000" dirty="0" err="1"/>
              <a:t>KAFKA_CLUSTER_ID</a:t>
            </a:r>
            <a:r>
              <a:rPr lang="en-US" altLang="ko-KR" sz="1000" dirty="0" smtClean="0"/>
              <a:t>="$(</a:t>
            </a:r>
            <a:r>
              <a:rPr lang="en-US" altLang="ko-KR" sz="1000" dirty="0"/>
              <a:t>bin/</a:t>
            </a:r>
            <a:r>
              <a:rPr lang="en-US" altLang="ko-KR" sz="1000" dirty="0" err="1"/>
              <a:t>kafka-storage.sh</a:t>
            </a:r>
            <a:r>
              <a:rPr lang="en-US" altLang="ko-KR" sz="1000" dirty="0"/>
              <a:t> random-</a:t>
            </a:r>
            <a:r>
              <a:rPr lang="en-US" altLang="ko-KR" sz="1000" dirty="0" err="1"/>
              <a:t>uuid</a:t>
            </a:r>
            <a:r>
              <a:rPr lang="en-US" altLang="ko-KR" sz="1000" dirty="0" smtClean="0"/>
              <a:t>)"</a:t>
            </a: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# KAFKA STORAGE FORMAT -&gt; </a:t>
            </a:r>
            <a:r>
              <a:rPr lang="en-US" altLang="ko-KR" sz="1000" dirty="0" err="1"/>
              <a:t>server.properties</a:t>
            </a:r>
            <a:r>
              <a:rPr lang="en-US" altLang="ko-KR" sz="1000" dirty="0"/>
              <a:t> </a:t>
            </a:r>
            <a:r>
              <a:rPr lang="ko-KR" altLang="en-US" sz="1000" dirty="0"/>
              <a:t>파일에서 </a:t>
            </a:r>
            <a:r>
              <a:rPr lang="en-US" altLang="ko-KR" sz="1000" dirty="0"/>
              <a:t>storage </a:t>
            </a:r>
            <a:r>
              <a:rPr lang="ko-KR" altLang="en-US" sz="1000" dirty="0"/>
              <a:t>위치 변경 가능 </a:t>
            </a:r>
            <a:r>
              <a:rPr lang="en-US" altLang="ko-KR" sz="1000" dirty="0"/>
              <a:t>(</a:t>
            </a:r>
            <a:r>
              <a:rPr lang="en-US" altLang="ko-KR" sz="1000" dirty="0" err="1"/>
              <a:t>log.dirs</a:t>
            </a:r>
            <a:r>
              <a:rPr lang="en-US" altLang="ko-KR" sz="1000" dirty="0"/>
              <a:t>.)</a:t>
            </a:r>
            <a:r>
              <a:rPr lang="ko-KR" altLang="en-US" sz="1000" dirty="0"/>
              <a:t> </a:t>
            </a: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bin/</a:t>
            </a:r>
            <a:r>
              <a:rPr lang="en-US" altLang="ko-KR" sz="1000" dirty="0" err="1"/>
              <a:t>kafka-storage.sh</a:t>
            </a:r>
            <a:r>
              <a:rPr lang="en-US" altLang="ko-KR" sz="1000" dirty="0"/>
              <a:t> format --standalone -t $</a:t>
            </a:r>
            <a:r>
              <a:rPr lang="en-US" altLang="ko-KR" sz="1000" dirty="0" err="1"/>
              <a:t>KAFKA_CLUSTER_ID</a:t>
            </a:r>
            <a:r>
              <a:rPr lang="en-US" altLang="ko-KR" sz="1000" dirty="0"/>
              <a:t> -c </a:t>
            </a:r>
            <a:r>
              <a:rPr lang="en-US" altLang="ko-KR" sz="1000" dirty="0" err="1"/>
              <a:t>config</a:t>
            </a:r>
            <a:r>
              <a:rPr lang="en-US" altLang="ko-KR" sz="1000" dirty="0"/>
              <a:t>/</a:t>
            </a:r>
            <a:r>
              <a:rPr lang="en-US" altLang="ko-KR" sz="1000" dirty="0" err="1"/>
              <a:t>server.properties</a:t>
            </a: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400" dirty="0"/>
          </a:p>
          <a:p>
            <a:pPr marL="0" lvl="1" indent="0">
              <a:buNone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223746036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제목 1"/>
          <p:cNvSpPr>
            <a:spLocks noGrp="1"/>
          </p:cNvSpPr>
          <p:nvPr>
            <p:ph type="title"/>
          </p:nvPr>
        </p:nvSpPr>
        <p:spPr>
          <a:xfrm>
            <a:off x="344488" y="152400"/>
            <a:ext cx="9307512" cy="360363"/>
          </a:xfrm>
          <a:ln/>
        </p:spPr>
        <p:txBody>
          <a:bodyPr/>
          <a:lstStyle/>
          <a:p>
            <a:r>
              <a:rPr lang="en-US" altLang="ko-KR" dirty="0" smtClean="0"/>
              <a:t>2.4 Apache </a:t>
            </a:r>
            <a:r>
              <a:rPr lang="en-US" altLang="ko-KR" dirty="0" err="1" smtClean="0"/>
              <a:t>Fuseki</a:t>
            </a:r>
            <a:r>
              <a:rPr lang="en-US" altLang="ko-KR" dirty="0" smtClean="0"/>
              <a:t> </a:t>
            </a:r>
            <a:r>
              <a:rPr lang="ko-KR" altLang="en-US" dirty="0" smtClean="0"/>
              <a:t>사용</a:t>
            </a:r>
            <a:endParaRPr lang="ko-KR" altLang="en-US" dirty="0"/>
          </a:p>
        </p:txBody>
      </p:sp>
      <p:sp>
        <p:nvSpPr>
          <p:cNvPr id="6149" name="내용 개체 틀 2"/>
          <p:cNvSpPr>
            <a:spLocks noGrp="1"/>
          </p:cNvSpPr>
          <p:nvPr>
            <p:ph idx="1"/>
          </p:nvPr>
        </p:nvSpPr>
        <p:spPr>
          <a:xfrm>
            <a:off x="458788" y="836613"/>
            <a:ext cx="9193212" cy="576262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ko-KR" sz="1800" dirty="0"/>
              <a:t>Kafka Server </a:t>
            </a:r>
            <a:r>
              <a:rPr lang="ko-KR" altLang="en-US" sz="1800" dirty="0"/>
              <a:t>실행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cd /opt/</a:t>
            </a:r>
            <a:r>
              <a:rPr lang="en-US" altLang="ko-KR" sz="1000" dirty="0" err="1"/>
              <a:t>kafka</a:t>
            </a: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# </a:t>
            </a:r>
            <a:r>
              <a:rPr lang="en-US" altLang="ko-KR" sz="1000" dirty="0" err="1"/>
              <a:t>kafka</a:t>
            </a:r>
            <a:r>
              <a:rPr lang="en-US" altLang="ko-KR" sz="1000" dirty="0"/>
              <a:t> server </a:t>
            </a:r>
            <a:r>
              <a:rPr lang="ko-KR" altLang="en-US" sz="1000" dirty="0"/>
              <a:t>실행 </a:t>
            </a:r>
            <a:r>
              <a:rPr lang="en-US" altLang="ko-KR" sz="1000" dirty="0"/>
              <a:t>(</a:t>
            </a:r>
            <a:r>
              <a:rPr lang="ko-KR" altLang="en-US" sz="1000" dirty="0" err="1"/>
              <a:t>교육목적</a:t>
            </a:r>
            <a:r>
              <a:rPr lang="en-US" altLang="ko-KR" sz="1000" dirty="0"/>
              <a:t>)</a:t>
            </a:r>
          </a:p>
          <a:p>
            <a:pPr marL="0" indent="0">
              <a:buNone/>
            </a:pPr>
            <a:r>
              <a:rPr lang="en-US" altLang="ko-KR" sz="1000" dirty="0"/>
              <a:t>bin/</a:t>
            </a:r>
            <a:r>
              <a:rPr lang="en-US" altLang="ko-KR" sz="1000" dirty="0" err="1"/>
              <a:t>kafka</a:t>
            </a:r>
            <a:r>
              <a:rPr lang="en-US" altLang="ko-KR" sz="1000" dirty="0"/>
              <a:t>-server-</a:t>
            </a:r>
            <a:r>
              <a:rPr lang="en-US" altLang="ko-KR" sz="1000" dirty="0" err="1"/>
              <a:t>start.sh</a:t>
            </a:r>
            <a:r>
              <a:rPr lang="en-US" altLang="ko-KR" sz="1000" dirty="0"/>
              <a:t> ./</a:t>
            </a:r>
            <a:r>
              <a:rPr lang="en-US" altLang="ko-KR" sz="1000" dirty="0" err="1"/>
              <a:t>config</a:t>
            </a:r>
            <a:r>
              <a:rPr lang="en-US" altLang="ko-KR" sz="1000" dirty="0"/>
              <a:t>/</a:t>
            </a:r>
            <a:r>
              <a:rPr lang="en-US" altLang="ko-KR" sz="1000" dirty="0" err="1"/>
              <a:t>server.properties</a:t>
            </a: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# </a:t>
            </a:r>
            <a:r>
              <a:rPr lang="en-US" altLang="ko-KR" sz="1000" dirty="0" err="1"/>
              <a:t>kafka</a:t>
            </a:r>
            <a:r>
              <a:rPr lang="en-US" altLang="ko-KR" sz="1000" dirty="0"/>
              <a:t> server daemon </a:t>
            </a:r>
            <a:r>
              <a:rPr lang="ko-KR" altLang="en-US" sz="1000" dirty="0"/>
              <a:t>실행할 경우</a:t>
            </a: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bin/</a:t>
            </a:r>
            <a:r>
              <a:rPr lang="en-US" altLang="ko-KR" sz="1000" dirty="0" err="1"/>
              <a:t>kafka</a:t>
            </a:r>
            <a:r>
              <a:rPr lang="en-US" altLang="ko-KR" sz="1000" dirty="0"/>
              <a:t>-server-</a:t>
            </a:r>
            <a:r>
              <a:rPr lang="en-US" altLang="ko-KR" sz="1000" dirty="0" err="1"/>
              <a:t>start.sh</a:t>
            </a:r>
            <a:r>
              <a:rPr lang="en-US" altLang="ko-KR" sz="1000" dirty="0"/>
              <a:t> -daemon ./</a:t>
            </a:r>
            <a:r>
              <a:rPr lang="en-US" altLang="ko-KR" sz="1000" dirty="0" err="1"/>
              <a:t>config</a:t>
            </a:r>
            <a:r>
              <a:rPr lang="en-US" altLang="ko-KR" sz="1000" dirty="0"/>
              <a:t>/</a:t>
            </a:r>
            <a:r>
              <a:rPr lang="en-US" altLang="ko-KR" sz="1000" dirty="0" err="1"/>
              <a:t>server.properties</a:t>
            </a: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/opt/</a:t>
            </a:r>
            <a:r>
              <a:rPr lang="en-US" altLang="ko-KR" sz="1000" dirty="0" err="1"/>
              <a:t>kafka</a:t>
            </a:r>
            <a:r>
              <a:rPr lang="en-US" altLang="ko-KR" sz="1000" dirty="0"/>
              <a:t>/logs/</a:t>
            </a:r>
            <a:r>
              <a:rPr lang="en-US" altLang="ko-KR" sz="1000" dirty="0" err="1"/>
              <a:t>server.log</a:t>
            </a:r>
            <a:r>
              <a:rPr lang="en-US" altLang="ko-KR" sz="1000" dirty="0"/>
              <a:t> </a:t>
            </a:r>
            <a:r>
              <a:rPr lang="ko-KR" altLang="en-US" sz="1000" dirty="0"/>
              <a:t>에서 </a:t>
            </a:r>
            <a:r>
              <a:rPr lang="en-US" altLang="ko-KR" sz="1000" dirty="0"/>
              <a:t>daemon </a:t>
            </a:r>
            <a:r>
              <a:rPr lang="ko-KR" altLang="en-US" sz="1000" dirty="0"/>
              <a:t>로그 확인 가능</a:t>
            </a: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# </a:t>
            </a:r>
            <a:r>
              <a:rPr lang="en-US" altLang="ko-KR" sz="1000" dirty="0" err="1"/>
              <a:t>kafka</a:t>
            </a:r>
            <a:r>
              <a:rPr lang="en-US" altLang="ko-KR" sz="1000" dirty="0"/>
              <a:t> server daemon </a:t>
            </a:r>
            <a:r>
              <a:rPr lang="ko-KR" altLang="en-US" sz="1000" dirty="0"/>
              <a:t>종료</a:t>
            </a: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bin/</a:t>
            </a:r>
            <a:r>
              <a:rPr lang="en-US" altLang="ko-KR" sz="1000" dirty="0" err="1"/>
              <a:t>kafka</a:t>
            </a:r>
            <a:r>
              <a:rPr lang="en-US" altLang="ko-KR" sz="1000" dirty="0"/>
              <a:t>-server-</a:t>
            </a:r>
            <a:r>
              <a:rPr lang="en-US" altLang="ko-KR" sz="1000" dirty="0" err="1"/>
              <a:t>stop.sh</a:t>
            </a: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400" dirty="0"/>
          </a:p>
          <a:p>
            <a:pPr marL="0" lvl="1" indent="0">
              <a:buNone/>
            </a:pPr>
            <a:endParaRPr lang="en-US" altLang="ko-KR" sz="14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1576" y="152400"/>
            <a:ext cx="7344030" cy="68580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912" y="-99392"/>
            <a:ext cx="73440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217406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제목 1"/>
          <p:cNvSpPr>
            <a:spLocks noGrp="1"/>
          </p:cNvSpPr>
          <p:nvPr>
            <p:ph type="title"/>
          </p:nvPr>
        </p:nvSpPr>
        <p:spPr>
          <a:xfrm>
            <a:off x="344488" y="152400"/>
            <a:ext cx="9307512" cy="360363"/>
          </a:xfrm>
          <a:ln/>
        </p:spPr>
        <p:txBody>
          <a:bodyPr/>
          <a:lstStyle/>
          <a:p>
            <a:r>
              <a:rPr lang="en-US" altLang="ko-KR" dirty="0" smtClean="0"/>
              <a:t>2.1 </a:t>
            </a:r>
            <a:r>
              <a:rPr lang="en-US" altLang="ko-KR" dirty="0"/>
              <a:t>Apache Kafka Quick Start</a:t>
            </a:r>
            <a:endParaRPr lang="ko-KR" altLang="en-US" dirty="0"/>
          </a:p>
        </p:txBody>
      </p:sp>
      <p:sp>
        <p:nvSpPr>
          <p:cNvPr id="6149" name="내용 개체 틀 2"/>
          <p:cNvSpPr>
            <a:spLocks noGrp="1"/>
          </p:cNvSpPr>
          <p:nvPr>
            <p:ph idx="1"/>
          </p:nvPr>
        </p:nvSpPr>
        <p:spPr>
          <a:xfrm>
            <a:off x="458788" y="836613"/>
            <a:ext cx="9193212" cy="576262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ko-KR" sz="1800" dirty="0"/>
              <a:t>TOPIC </a:t>
            </a:r>
            <a:r>
              <a:rPr lang="ko-KR" altLang="en-US" sz="1800" dirty="0"/>
              <a:t>생성 및 </a:t>
            </a:r>
            <a:r>
              <a:rPr lang="en-US" altLang="ko-KR" sz="1800" dirty="0"/>
              <a:t>Producer/</a:t>
            </a:r>
            <a:r>
              <a:rPr lang="en-US" altLang="ko-KR" sz="1800" dirty="0" err="1"/>
              <a:t>Comsumer</a:t>
            </a:r>
            <a:r>
              <a:rPr lang="en-US" altLang="ko-KR" sz="1800" dirty="0"/>
              <a:t> </a:t>
            </a:r>
            <a:r>
              <a:rPr lang="ko-KR" altLang="en-US" sz="1800" dirty="0"/>
              <a:t>테스트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026" y="2420888"/>
            <a:ext cx="8715748" cy="685800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2760" y="512763"/>
            <a:ext cx="87157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223571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제목 1"/>
          <p:cNvSpPr>
            <a:spLocks noGrp="1"/>
          </p:cNvSpPr>
          <p:nvPr>
            <p:ph type="title"/>
          </p:nvPr>
        </p:nvSpPr>
        <p:spPr>
          <a:xfrm>
            <a:off x="344488" y="152400"/>
            <a:ext cx="9307512" cy="360363"/>
          </a:xfrm>
          <a:ln/>
        </p:spPr>
        <p:txBody>
          <a:bodyPr/>
          <a:lstStyle/>
          <a:p>
            <a:r>
              <a:rPr lang="en-US" altLang="ko-KR" dirty="0" smtClean="0"/>
              <a:t>2.2 </a:t>
            </a:r>
            <a:r>
              <a:rPr lang="en-US" altLang="ko-KR" dirty="0"/>
              <a:t>Apache Kafka Cluster </a:t>
            </a:r>
            <a:r>
              <a:rPr lang="ko-KR" altLang="en-US" dirty="0"/>
              <a:t>구성</a:t>
            </a:r>
          </a:p>
        </p:txBody>
      </p:sp>
      <p:sp>
        <p:nvSpPr>
          <p:cNvPr id="6149" name="내용 개체 틀 2"/>
          <p:cNvSpPr>
            <a:spLocks noGrp="1"/>
          </p:cNvSpPr>
          <p:nvPr>
            <p:ph idx="1"/>
          </p:nvPr>
        </p:nvSpPr>
        <p:spPr>
          <a:xfrm>
            <a:off x="458788" y="836613"/>
            <a:ext cx="9193212" cy="576262"/>
          </a:xfrm>
        </p:spPr>
        <p:txBody>
          <a:bodyPr/>
          <a:lstStyle/>
          <a:p>
            <a:pPr>
              <a:buFontTx/>
              <a:buChar char="•"/>
            </a:pPr>
            <a:r>
              <a:rPr lang="ko-KR" altLang="en-US" sz="1800" dirty="0"/>
              <a:t>안정적인 운영을 위해 </a:t>
            </a:r>
            <a:r>
              <a:rPr lang="en-US" altLang="ko-KR" sz="1800" dirty="0"/>
              <a:t>Apache Kafka Cluster </a:t>
            </a:r>
            <a:r>
              <a:rPr lang="ko-KR" altLang="en-US" sz="1800" dirty="0"/>
              <a:t>구성을 해야 한다</a:t>
            </a:r>
            <a:r>
              <a:rPr lang="en-US" altLang="ko-KR" sz="1800" dirty="0"/>
              <a:t>.</a:t>
            </a:r>
          </a:p>
          <a:p>
            <a:pPr lvl="1">
              <a:buFontTx/>
              <a:buChar char="•"/>
            </a:pPr>
            <a:r>
              <a:rPr lang="ko-KR" altLang="en-US" sz="1400" dirty="0"/>
              <a:t>최소 </a:t>
            </a:r>
            <a:r>
              <a:rPr lang="en-US" altLang="ko-KR" sz="1400" dirty="0"/>
              <a:t>Broker 3</a:t>
            </a:r>
            <a:r>
              <a:rPr lang="ko-KR" altLang="en-US" sz="1400" dirty="0"/>
              <a:t>대</a:t>
            </a:r>
            <a:r>
              <a:rPr lang="en-US" altLang="ko-KR" sz="1400" dirty="0"/>
              <a:t>, Kraft </a:t>
            </a:r>
            <a:r>
              <a:rPr lang="en-US" altLang="ko-KR" sz="1400" dirty="0" err="1"/>
              <a:t>Constroller</a:t>
            </a:r>
            <a:r>
              <a:rPr lang="en-US" altLang="ko-KR" sz="1400" dirty="0"/>
              <a:t> 3</a:t>
            </a:r>
            <a:r>
              <a:rPr lang="ko-KR" altLang="en-US" sz="1400" dirty="0"/>
              <a:t>대 </a:t>
            </a:r>
            <a:r>
              <a:rPr lang="en-US" altLang="ko-KR" sz="1400" dirty="0"/>
              <a:t>(or Zookeeper)</a:t>
            </a:r>
            <a:r>
              <a:rPr lang="ko-KR" altLang="en-US" sz="1400" dirty="0"/>
              <a:t>로 구성한다</a:t>
            </a:r>
            <a:r>
              <a:rPr lang="en-US" altLang="ko-KR" sz="1400" dirty="0"/>
              <a:t>.</a:t>
            </a:r>
          </a:p>
          <a:p>
            <a:pPr lvl="1">
              <a:buFontTx/>
              <a:buChar char="•"/>
            </a:pPr>
            <a:r>
              <a:rPr lang="ko-KR" altLang="en-US" sz="1400" dirty="0"/>
              <a:t>각각 다른 서버에 구성을 권하고 있으나 </a:t>
            </a:r>
            <a:r>
              <a:rPr lang="en-US" altLang="ko-KR" sz="1400" dirty="0"/>
              <a:t>(</a:t>
            </a:r>
            <a:r>
              <a:rPr lang="ko-KR" altLang="en-US" sz="1400" dirty="0"/>
              <a:t>총 </a:t>
            </a:r>
            <a:r>
              <a:rPr lang="en-US" altLang="ko-KR" sz="1400" dirty="0"/>
              <a:t>6</a:t>
            </a:r>
            <a:r>
              <a:rPr lang="ko-KR" altLang="en-US" sz="1400" dirty="0"/>
              <a:t>대</a:t>
            </a:r>
            <a:r>
              <a:rPr lang="en-US" altLang="ko-KR" sz="1400" dirty="0"/>
              <a:t>), </a:t>
            </a:r>
            <a:r>
              <a:rPr lang="ko-KR" altLang="en-US" sz="1400" dirty="0"/>
              <a:t>하나의 서버에 </a:t>
            </a:r>
            <a:r>
              <a:rPr lang="en-US" altLang="ko-KR" sz="1400" dirty="0"/>
              <a:t>Broker</a:t>
            </a:r>
            <a:r>
              <a:rPr lang="ko-KR" altLang="en-US" sz="1400" dirty="0"/>
              <a:t>와 </a:t>
            </a:r>
            <a:r>
              <a:rPr lang="en-US" altLang="ko-KR" sz="1400" dirty="0"/>
              <a:t>Controller</a:t>
            </a:r>
            <a:r>
              <a:rPr lang="ko-KR" altLang="en-US" sz="1400" dirty="0"/>
              <a:t>를 같이 구성하여 </a:t>
            </a:r>
            <a:r>
              <a:rPr lang="en-US" altLang="ko-KR" sz="1400" dirty="0"/>
              <a:t>3</a:t>
            </a:r>
            <a:r>
              <a:rPr lang="ko-KR" altLang="en-US" sz="1400" dirty="0"/>
              <a:t>대의 서버로 구성하기도 한다</a:t>
            </a:r>
            <a:r>
              <a:rPr lang="en-US" altLang="ko-KR" sz="1400" dirty="0"/>
              <a:t>.</a:t>
            </a:r>
          </a:p>
        </p:txBody>
      </p:sp>
      <p:pic>
        <p:nvPicPr>
          <p:cNvPr id="7172" name="Picture 4" descr="KRaft cluster with nodes that combine rol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732" y="2060848"/>
            <a:ext cx="8469043" cy="3888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449347" y="5970766"/>
            <a:ext cx="54559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/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예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) 5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대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Node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구성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3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대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Broker + Controller, 2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대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Broker</a:t>
            </a:r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1042675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제목 1"/>
          <p:cNvSpPr>
            <a:spLocks noGrp="1"/>
          </p:cNvSpPr>
          <p:nvPr>
            <p:ph type="title"/>
          </p:nvPr>
        </p:nvSpPr>
        <p:spPr>
          <a:xfrm>
            <a:off x="344488" y="152400"/>
            <a:ext cx="9307512" cy="360363"/>
          </a:xfrm>
          <a:ln/>
        </p:spPr>
        <p:txBody>
          <a:bodyPr/>
          <a:lstStyle/>
          <a:p>
            <a:r>
              <a:rPr lang="en-US" altLang="ko-KR" dirty="0" smtClean="0"/>
              <a:t>2.2 </a:t>
            </a:r>
            <a:r>
              <a:rPr lang="en-US" altLang="ko-KR" dirty="0"/>
              <a:t>Apache Kafka Cluster </a:t>
            </a:r>
            <a:r>
              <a:rPr lang="ko-KR" altLang="en-US" dirty="0"/>
              <a:t>구성</a:t>
            </a:r>
          </a:p>
        </p:txBody>
      </p:sp>
      <p:sp>
        <p:nvSpPr>
          <p:cNvPr id="6149" name="내용 개체 틀 2"/>
          <p:cNvSpPr>
            <a:spLocks noGrp="1"/>
          </p:cNvSpPr>
          <p:nvPr>
            <p:ph idx="1"/>
          </p:nvPr>
        </p:nvSpPr>
        <p:spPr>
          <a:xfrm>
            <a:off x="458788" y="836613"/>
            <a:ext cx="9193212" cy="576262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ko-KR" sz="1800" dirty="0"/>
              <a:t>Hands On Lab</a:t>
            </a:r>
            <a:r>
              <a:rPr lang="ko-KR" altLang="en-US" sz="1800" dirty="0"/>
              <a:t>에서는 멀티 </a:t>
            </a:r>
            <a:r>
              <a:rPr lang="ko-KR" altLang="en-US" sz="1800" dirty="0" err="1"/>
              <a:t>노드</a:t>
            </a:r>
            <a:r>
              <a:rPr lang="ko-KR" altLang="en-US" sz="1800" dirty="0"/>
              <a:t> 구성이 어려워 </a:t>
            </a:r>
            <a:r>
              <a:rPr lang="en-US" altLang="ko-KR" sz="1800" dirty="0"/>
              <a:t>Docker</a:t>
            </a:r>
            <a:r>
              <a:rPr lang="ko-KR" altLang="en-US" sz="1800" dirty="0"/>
              <a:t>를 이용해서 실습</a:t>
            </a:r>
            <a:endParaRPr lang="en-US" altLang="ko-KR" sz="1800" dirty="0"/>
          </a:p>
          <a:p>
            <a:pPr lvl="1">
              <a:buFontTx/>
              <a:buChar char="•"/>
            </a:pPr>
            <a:r>
              <a:rPr lang="en-US" altLang="ko-KR" sz="1400" dirty="0"/>
              <a:t>3</a:t>
            </a:r>
            <a:r>
              <a:rPr lang="ko-KR" altLang="en-US" sz="1400" dirty="0"/>
              <a:t>대의 </a:t>
            </a:r>
            <a:r>
              <a:rPr lang="en-US" altLang="ko-KR" sz="1400" dirty="0"/>
              <a:t>Controller</a:t>
            </a:r>
            <a:r>
              <a:rPr lang="ko-KR" altLang="en-US" sz="1400" dirty="0"/>
              <a:t>와 </a:t>
            </a:r>
            <a:r>
              <a:rPr lang="en-US" altLang="ko-KR" sz="1400" dirty="0"/>
              <a:t>3</a:t>
            </a:r>
            <a:r>
              <a:rPr lang="ko-KR" altLang="en-US" sz="1400" dirty="0"/>
              <a:t>대의 </a:t>
            </a:r>
            <a:r>
              <a:rPr lang="en-US" altLang="ko-KR" sz="1400" dirty="0"/>
              <a:t>Broker</a:t>
            </a:r>
            <a:r>
              <a:rPr lang="ko-KR" altLang="en-US" sz="1400" dirty="0"/>
              <a:t>로 구성</a:t>
            </a:r>
            <a:endParaRPr lang="en-US" altLang="ko-KR" sz="1400" dirty="0"/>
          </a:p>
          <a:p>
            <a:pPr marL="457200" lvl="1" indent="0">
              <a:buNone/>
            </a:pPr>
            <a:r>
              <a:rPr lang="en-US" altLang="ko-KR" sz="1400" dirty="0"/>
              <a:t>(* </a:t>
            </a:r>
            <a:r>
              <a:rPr lang="en-US" altLang="ko-KR" sz="1400" dirty="0" smtClean="0"/>
              <a:t>Docker </a:t>
            </a:r>
            <a:r>
              <a:rPr lang="en-US" altLang="ko-KR" sz="1400" dirty="0"/>
              <a:t>Compose</a:t>
            </a:r>
            <a:r>
              <a:rPr lang="ko-KR" altLang="en-US" sz="1400" dirty="0"/>
              <a:t>는 </a:t>
            </a:r>
            <a:r>
              <a:rPr lang="ko-KR" altLang="en-US" sz="1400" dirty="0" smtClean="0"/>
              <a:t>학습</a:t>
            </a:r>
            <a:r>
              <a:rPr lang="en-US" altLang="ko-KR" sz="1400" dirty="0" smtClean="0"/>
              <a:t>/</a:t>
            </a:r>
            <a:r>
              <a:rPr lang="ko-KR" altLang="en-US" sz="1400" dirty="0" smtClean="0"/>
              <a:t>개인 목적 </a:t>
            </a:r>
            <a:r>
              <a:rPr lang="ko-KR" altLang="en-US" sz="1400" dirty="0"/>
              <a:t>제외하면 라이선스 </a:t>
            </a:r>
            <a:r>
              <a:rPr lang="ko-KR" altLang="en-US" sz="1400" dirty="0" smtClean="0"/>
              <a:t>구입 필요</a:t>
            </a:r>
            <a:r>
              <a:rPr lang="en-US" altLang="ko-KR" sz="1400" dirty="0"/>
              <a:t>)</a:t>
            </a:r>
          </a:p>
          <a:p>
            <a:pPr marL="457200" lvl="1" indent="0">
              <a:buNone/>
            </a:pPr>
            <a:endParaRPr lang="en-US" altLang="ko-KR" sz="1400" dirty="0"/>
          </a:p>
          <a:p>
            <a:pPr marL="0" lvl="1" indent="0">
              <a:buNone/>
            </a:pPr>
            <a:r>
              <a:rPr lang="en-US" altLang="ko-KR" sz="1000" dirty="0" smtClean="0"/>
              <a:t># GitHub</a:t>
            </a:r>
            <a:r>
              <a:rPr lang="ko-KR" altLang="en-US" sz="1000" dirty="0" smtClean="0"/>
              <a:t>에서 필요한 자료들 </a:t>
            </a:r>
            <a:r>
              <a:rPr lang="en-US" altLang="ko-KR" sz="1000" dirty="0" err="1" smtClean="0"/>
              <a:t>clon</a:t>
            </a:r>
            <a:endParaRPr lang="en-US" altLang="ko-KR" sz="1000" dirty="0" smtClean="0"/>
          </a:p>
          <a:p>
            <a:pPr marL="0" lvl="1" indent="0">
              <a:buNone/>
            </a:pPr>
            <a:r>
              <a:rPr lang="en-US" altLang="ko-KR" sz="1000" dirty="0" smtClean="0"/>
              <a:t>cd /home/user/Desktop</a:t>
            </a:r>
          </a:p>
          <a:p>
            <a:pPr marL="0" lvl="1" indent="0">
              <a:buNone/>
            </a:pPr>
            <a:r>
              <a:rPr lang="en-US" altLang="ko-KR" sz="1000" dirty="0" err="1"/>
              <a:t>git</a:t>
            </a:r>
            <a:r>
              <a:rPr lang="en-US" altLang="ko-KR" sz="1000" dirty="0"/>
              <a:t> clone https://</a:t>
            </a:r>
            <a:r>
              <a:rPr lang="en-US" altLang="ko-KR" sz="1000" dirty="0" err="1"/>
              <a:t>github.com</a:t>
            </a:r>
            <a:r>
              <a:rPr lang="en-US" altLang="ko-KR" sz="1000" dirty="0"/>
              <a:t>/</a:t>
            </a:r>
            <a:r>
              <a:rPr lang="en-US" altLang="ko-KR" sz="1000" dirty="0" err="1"/>
              <a:t>ykchang</a:t>
            </a:r>
            <a:r>
              <a:rPr lang="en-US" altLang="ko-KR" sz="1000" dirty="0"/>
              <a:t>/</a:t>
            </a:r>
            <a:r>
              <a:rPr lang="en-US" altLang="ko-KR" sz="1000" dirty="0" err="1"/>
              <a:t>kafka_handson.git</a:t>
            </a:r>
            <a:r>
              <a:rPr lang="en-US" altLang="ko-KR" sz="1000" dirty="0"/>
              <a:t> </a:t>
            </a:r>
            <a:r>
              <a:rPr lang="en-US" altLang="ko-KR" sz="1000" dirty="0" smtClean="0"/>
              <a:t>materials</a:t>
            </a:r>
          </a:p>
          <a:p>
            <a:pPr marL="0" lvl="1" indent="0">
              <a:buNone/>
            </a:pPr>
            <a:endParaRPr lang="en-US" altLang="ko-KR" sz="1000" dirty="0"/>
          </a:p>
          <a:p>
            <a:pPr marL="0" lvl="1" indent="0">
              <a:buNone/>
            </a:pPr>
            <a:r>
              <a:rPr lang="en-US" altLang="ko-KR" sz="1000" dirty="0" smtClean="0"/>
              <a:t># </a:t>
            </a:r>
            <a:r>
              <a:rPr lang="en-US" altLang="ko-KR" sz="1000" dirty="0" err="1"/>
              <a:t>docker</a:t>
            </a:r>
            <a:r>
              <a:rPr lang="en-US" altLang="ko-KR" sz="1000" dirty="0"/>
              <a:t> compose </a:t>
            </a:r>
            <a:r>
              <a:rPr lang="ko-KR" altLang="en-US" sz="1000" dirty="0"/>
              <a:t>정의한 </a:t>
            </a:r>
            <a:r>
              <a:rPr lang="en-US" altLang="ko-KR" sz="1000" dirty="0" err="1"/>
              <a:t>yml</a:t>
            </a:r>
            <a:r>
              <a:rPr lang="en-US" altLang="ko-KR" sz="1000" dirty="0"/>
              <a:t> </a:t>
            </a:r>
            <a:r>
              <a:rPr lang="ko-KR" altLang="en-US" sz="1000" dirty="0"/>
              <a:t>파일 위치로 이동</a:t>
            </a:r>
            <a:endParaRPr lang="en-US" altLang="ko-KR" sz="1000" dirty="0"/>
          </a:p>
          <a:p>
            <a:pPr marL="0" lvl="1" indent="0">
              <a:buNone/>
            </a:pPr>
            <a:r>
              <a:rPr lang="en-US" altLang="ko-KR" sz="1000" dirty="0"/>
              <a:t>cd /home/user/Desktop/materials</a:t>
            </a:r>
          </a:p>
          <a:p>
            <a:pPr marL="0" lvl="1" indent="0">
              <a:buNone/>
            </a:pPr>
            <a:endParaRPr lang="en-US" altLang="ko-KR" sz="1000" dirty="0"/>
          </a:p>
          <a:p>
            <a:pPr marL="0" lvl="1" indent="0">
              <a:buNone/>
            </a:pPr>
            <a:r>
              <a:rPr lang="en-US" altLang="ko-KR" sz="1000" dirty="0"/>
              <a:t># </a:t>
            </a:r>
            <a:r>
              <a:rPr lang="en-US" altLang="ko-KR" sz="1000" dirty="0" err="1"/>
              <a:t>docker</a:t>
            </a:r>
            <a:r>
              <a:rPr lang="en-US" altLang="ko-KR" sz="1000" dirty="0"/>
              <a:t> network </a:t>
            </a:r>
            <a:r>
              <a:rPr lang="ko-KR" altLang="en-US" sz="1000" dirty="0"/>
              <a:t>생성 </a:t>
            </a:r>
            <a:r>
              <a:rPr lang="en-US" altLang="ko-KR" sz="1000" dirty="0"/>
              <a:t>: </a:t>
            </a:r>
            <a:r>
              <a:rPr lang="en-US" altLang="ko-KR" sz="1000" dirty="0" err="1"/>
              <a:t>docker</a:t>
            </a:r>
            <a:r>
              <a:rPr lang="en-US" altLang="ko-KR" sz="1000" dirty="0"/>
              <a:t> container </a:t>
            </a:r>
            <a:r>
              <a:rPr lang="ko-KR" altLang="en-US" sz="1000" dirty="0"/>
              <a:t>끼리 통신 할 수 있도록 사전에 </a:t>
            </a:r>
            <a:r>
              <a:rPr lang="en-US" altLang="ko-KR" sz="1000" dirty="0"/>
              <a:t>network</a:t>
            </a:r>
            <a:r>
              <a:rPr lang="ko-KR" altLang="en-US" sz="1000" dirty="0"/>
              <a:t>을 생성한다</a:t>
            </a:r>
            <a:r>
              <a:rPr lang="en-US" altLang="ko-KR" sz="1000" dirty="0"/>
              <a:t>.</a:t>
            </a:r>
          </a:p>
          <a:p>
            <a:pPr marL="0" lvl="1" indent="0">
              <a:buNone/>
            </a:pPr>
            <a:r>
              <a:rPr lang="en-US" altLang="ko-KR" sz="1000" dirty="0"/>
              <a:t># network</a:t>
            </a:r>
            <a:r>
              <a:rPr lang="ko-KR" altLang="en-US" sz="1000" dirty="0"/>
              <a:t>을 생성하지 않으면 </a:t>
            </a:r>
            <a:r>
              <a:rPr lang="en-US" altLang="ko-KR" sz="1000" dirty="0" err="1"/>
              <a:t>docker</a:t>
            </a:r>
            <a:r>
              <a:rPr lang="en-US" altLang="ko-KR" sz="1000" dirty="0"/>
              <a:t> compose </a:t>
            </a:r>
            <a:r>
              <a:rPr lang="ko-KR" altLang="en-US" sz="1000" dirty="0"/>
              <a:t>파일마다 새로운 </a:t>
            </a:r>
            <a:r>
              <a:rPr lang="en-US" altLang="ko-KR" sz="1000" dirty="0"/>
              <a:t>network </a:t>
            </a:r>
            <a:r>
              <a:rPr lang="ko-KR" altLang="en-US" sz="1000" dirty="0"/>
              <a:t>이 생성되어 다른 컨테이너간 통신이 되지 않는다</a:t>
            </a:r>
            <a:r>
              <a:rPr lang="en-US" altLang="ko-KR" sz="1000" dirty="0" smtClean="0"/>
              <a:t>.</a:t>
            </a:r>
          </a:p>
          <a:p>
            <a:pPr marL="0" lvl="1" indent="0">
              <a:buNone/>
            </a:pPr>
            <a:r>
              <a:rPr lang="en-US" altLang="ko-KR" sz="1000" dirty="0" smtClean="0"/>
              <a:t># </a:t>
            </a:r>
            <a:r>
              <a:rPr lang="ko-KR" altLang="en-US" sz="1000" dirty="0" smtClean="0"/>
              <a:t>다른 실습에서도 별도 생성한 </a:t>
            </a:r>
            <a:r>
              <a:rPr lang="en-US" altLang="ko-KR" sz="1000" dirty="0" err="1" smtClean="0"/>
              <a:t>kafka_handson</a:t>
            </a:r>
            <a:r>
              <a:rPr lang="en-US" altLang="ko-KR" sz="1000" dirty="0" smtClean="0"/>
              <a:t> </a:t>
            </a:r>
            <a:r>
              <a:rPr lang="ko-KR" altLang="en-US" sz="1000" dirty="0" err="1" smtClean="0"/>
              <a:t>네트워크명</a:t>
            </a:r>
            <a:r>
              <a:rPr lang="ko-KR" altLang="en-US" sz="1000" dirty="0" smtClean="0"/>
              <a:t> 사용</a:t>
            </a:r>
            <a:endParaRPr lang="en-US" altLang="ko-KR" sz="1000" dirty="0"/>
          </a:p>
          <a:p>
            <a:pPr marL="0" lvl="1" indent="0">
              <a:buNone/>
            </a:pPr>
            <a:r>
              <a:rPr lang="en-US" altLang="ko-KR" sz="1000" dirty="0" err="1">
                <a:solidFill>
                  <a:srgbClr val="FF0000"/>
                </a:solidFill>
              </a:rPr>
              <a:t>sudo</a:t>
            </a:r>
            <a:r>
              <a:rPr lang="en-US" altLang="ko-KR" sz="1000" dirty="0">
                <a:solidFill>
                  <a:srgbClr val="FF0000"/>
                </a:solidFill>
              </a:rPr>
              <a:t> </a:t>
            </a:r>
            <a:r>
              <a:rPr lang="en-US" altLang="ko-KR" sz="1000" dirty="0" err="1">
                <a:solidFill>
                  <a:srgbClr val="FF0000"/>
                </a:solidFill>
              </a:rPr>
              <a:t>docker</a:t>
            </a:r>
            <a:r>
              <a:rPr lang="en-US" altLang="ko-KR" sz="1000" dirty="0">
                <a:solidFill>
                  <a:srgbClr val="FF0000"/>
                </a:solidFill>
              </a:rPr>
              <a:t> network create </a:t>
            </a:r>
            <a:r>
              <a:rPr lang="en-US" altLang="ko-KR" sz="1000" dirty="0" err="1">
                <a:solidFill>
                  <a:srgbClr val="FF0000"/>
                </a:solidFill>
              </a:rPr>
              <a:t>kafka_handson</a:t>
            </a:r>
            <a:endParaRPr lang="en-US" altLang="ko-KR" sz="1000" dirty="0">
              <a:solidFill>
                <a:srgbClr val="FF0000"/>
              </a:solidFill>
            </a:endParaRPr>
          </a:p>
          <a:p>
            <a:pPr marL="0" lvl="1" indent="0">
              <a:buNone/>
            </a:pPr>
            <a:endParaRPr lang="en-US" altLang="ko-KR" sz="1000" dirty="0"/>
          </a:p>
          <a:p>
            <a:pPr marL="0" lvl="1" indent="0">
              <a:buNone/>
            </a:pPr>
            <a:r>
              <a:rPr lang="en-US" altLang="ko-KR" sz="1000" dirty="0"/>
              <a:t># Kafka </a:t>
            </a:r>
            <a:r>
              <a:rPr lang="en-US" altLang="ko-KR" sz="1000" dirty="0" err="1"/>
              <a:t>docker</a:t>
            </a:r>
            <a:r>
              <a:rPr lang="en-US" altLang="ko-KR" sz="1000" dirty="0"/>
              <a:t> </a:t>
            </a:r>
            <a:r>
              <a:rPr lang="ko-KR" altLang="en-US" sz="1000" dirty="0"/>
              <a:t>이미지 다운로드 및 실행 </a:t>
            </a:r>
            <a:r>
              <a:rPr lang="en-US" altLang="ko-KR" sz="1000" dirty="0"/>
              <a:t>(foreground)</a:t>
            </a:r>
          </a:p>
          <a:p>
            <a:pPr marL="0" lvl="1" indent="0">
              <a:buNone/>
            </a:pPr>
            <a:r>
              <a:rPr lang="en-US" altLang="ko-KR" sz="1000" dirty="0" err="1"/>
              <a:t>sudo</a:t>
            </a:r>
            <a:r>
              <a:rPr lang="en-US" altLang="ko-KR" sz="1000" dirty="0"/>
              <a:t> </a:t>
            </a:r>
            <a:r>
              <a:rPr lang="en-US" altLang="ko-KR" sz="1000" dirty="0" err="1"/>
              <a:t>docker</a:t>
            </a:r>
            <a:r>
              <a:rPr lang="en-US" altLang="ko-KR" sz="1000" dirty="0"/>
              <a:t> compose -f </a:t>
            </a:r>
            <a:r>
              <a:rPr lang="en-US" altLang="ko-KR" sz="1000" dirty="0" err="1"/>
              <a:t>docker</a:t>
            </a:r>
            <a:r>
              <a:rPr lang="en-US" altLang="ko-KR" sz="1000" dirty="0"/>
              <a:t>-compose-</a:t>
            </a:r>
            <a:r>
              <a:rPr lang="en-US" altLang="ko-KR" sz="1000" dirty="0" err="1"/>
              <a:t>kafka</a:t>
            </a:r>
            <a:r>
              <a:rPr lang="en-US" altLang="ko-KR" sz="1000" dirty="0"/>
              <a:t>-</a:t>
            </a:r>
            <a:r>
              <a:rPr lang="en-US" altLang="ko-KR" sz="1000" dirty="0" err="1"/>
              <a:t>cluster.yml</a:t>
            </a:r>
            <a:r>
              <a:rPr lang="en-US" altLang="ko-KR" sz="1000" dirty="0"/>
              <a:t> up</a:t>
            </a:r>
          </a:p>
          <a:p>
            <a:pPr marL="0" lvl="1" indent="0">
              <a:buNone/>
            </a:pPr>
            <a:endParaRPr lang="en-US" altLang="ko-KR" sz="1000" dirty="0"/>
          </a:p>
          <a:p>
            <a:pPr marL="0" lvl="1" indent="0">
              <a:buNone/>
            </a:pPr>
            <a:r>
              <a:rPr lang="en-US" altLang="ko-KR" sz="1000" dirty="0"/>
              <a:t># Background</a:t>
            </a:r>
            <a:r>
              <a:rPr lang="ko-KR" altLang="en-US" sz="1000" dirty="0"/>
              <a:t>로 </a:t>
            </a:r>
            <a:r>
              <a:rPr lang="en-US" altLang="ko-KR" sz="1000" dirty="0" err="1"/>
              <a:t>docker</a:t>
            </a:r>
            <a:r>
              <a:rPr lang="en-US" altLang="ko-KR" sz="1000" dirty="0"/>
              <a:t> </a:t>
            </a:r>
            <a:r>
              <a:rPr lang="ko-KR" altLang="en-US" sz="1000" dirty="0"/>
              <a:t>실행 원하면 </a:t>
            </a:r>
            <a:r>
              <a:rPr lang="en-US" altLang="ko-KR" sz="1000" dirty="0"/>
              <a:t>-d </a:t>
            </a:r>
            <a:r>
              <a:rPr lang="ko-KR" altLang="en-US" sz="1000" dirty="0"/>
              <a:t>옵션 추가</a:t>
            </a:r>
            <a:endParaRPr lang="en-US" altLang="ko-KR" sz="1000" dirty="0"/>
          </a:p>
          <a:p>
            <a:pPr marL="0" lvl="1" indent="0">
              <a:buNone/>
            </a:pPr>
            <a:r>
              <a:rPr lang="en-US" altLang="ko-KR" sz="1000" dirty="0" err="1"/>
              <a:t>sudo</a:t>
            </a:r>
            <a:r>
              <a:rPr lang="en-US" altLang="ko-KR" sz="1000" dirty="0"/>
              <a:t> </a:t>
            </a:r>
            <a:r>
              <a:rPr lang="en-US" altLang="ko-KR" sz="1000" dirty="0" err="1"/>
              <a:t>docker</a:t>
            </a:r>
            <a:r>
              <a:rPr lang="en-US" altLang="ko-KR" sz="1000" dirty="0"/>
              <a:t> compose -f </a:t>
            </a:r>
            <a:r>
              <a:rPr lang="en-US" altLang="ko-KR" sz="1000" dirty="0" err="1"/>
              <a:t>docker</a:t>
            </a:r>
            <a:r>
              <a:rPr lang="en-US" altLang="ko-KR" sz="1000" dirty="0"/>
              <a:t>-compose-</a:t>
            </a:r>
            <a:r>
              <a:rPr lang="en-US" altLang="ko-KR" sz="1000" dirty="0" err="1"/>
              <a:t>kafka</a:t>
            </a:r>
            <a:r>
              <a:rPr lang="en-US" altLang="ko-KR" sz="1000" dirty="0"/>
              <a:t>-</a:t>
            </a:r>
            <a:r>
              <a:rPr lang="en-US" altLang="ko-KR" sz="1000" dirty="0" err="1"/>
              <a:t>cluster.yml</a:t>
            </a:r>
            <a:r>
              <a:rPr lang="en-US" altLang="ko-KR" sz="1000" dirty="0"/>
              <a:t> up -d </a:t>
            </a:r>
          </a:p>
          <a:p>
            <a:pPr marL="0" lvl="1" indent="0">
              <a:buNone/>
            </a:pPr>
            <a:endParaRPr lang="en-US" altLang="ko-KR" sz="1000" dirty="0"/>
          </a:p>
          <a:p>
            <a:pPr marL="0" lvl="1" indent="0">
              <a:buNone/>
            </a:pPr>
            <a:r>
              <a:rPr lang="en-US" altLang="ko-KR" sz="1000" dirty="0"/>
              <a:t># </a:t>
            </a:r>
            <a:r>
              <a:rPr lang="en-US" altLang="ko-KR" sz="1000" dirty="0" err="1"/>
              <a:t>docker</a:t>
            </a:r>
            <a:r>
              <a:rPr lang="en-US" altLang="ko-KR" sz="1000" dirty="0"/>
              <a:t> download </a:t>
            </a:r>
            <a:r>
              <a:rPr lang="ko-KR" altLang="en-US" sz="1000" dirty="0"/>
              <a:t>및 실행 결과 확인</a:t>
            </a:r>
            <a:endParaRPr lang="en-US" altLang="ko-KR" sz="1000" dirty="0"/>
          </a:p>
          <a:p>
            <a:pPr marL="0" lvl="1" indent="0">
              <a:buNone/>
            </a:pPr>
            <a:r>
              <a:rPr lang="en-US" altLang="ko-KR" sz="1000" dirty="0" err="1"/>
              <a:t>sudo</a:t>
            </a:r>
            <a:r>
              <a:rPr lang="en-US" altLang="ko-KR" sz="1000" dirty="0"/>
              <a:t> </a:t>
            </a:r>
            <a:r>
              <a:rPr lang="en-US" altLang="ko-KR" sz="1000" dirty="0" err="1"/>
              <a:t>docker</a:t>
            </a:r>
            <a:r>
              <a:rPr lang="en-US" altLang="ko-KR" sz="1000" dirty="0"/>
              <a:t> </a:t>
            </a:r>
            <a:r>
              <a:rPr lang="en-US" altLang="ko-KR" sz="1000" dirty="0" err="1"/>
              <a:t>ps</a:t>
            </a:r>
            <a:endParaRPr lang="en-US" altLang="ko-KR" sz="1000" dirty="0"/>
          </a:p>
          <a:p>
            <a:pPr marL="0" lvl="1" indent="0">
              <a:buNone/>
            </a:pPr>
            <a:endParaRPr lang="en-US" altLang="ko-KR" sz="1000" dirty="0"/>
          </a:p>
          <a:p>
            <a:pPr marL="0" lvl="1" indent="0">
              <a:buNone/>
            </a:pPr>
            <a:endParaRPr lang="en-US" altLang="ko-KR" sz="1000" dirty="0"/>
          </a:p>
          <a:p>
            <a:pPr marL="0" lvl="1" indent="0">
              <a:buNone/>
            </a:pPr>
            <a:endParaRPr lang="en-US" altLang="ko-KR" sz="1000" dirty="0"/>
          </a:p>
          <a:p>
            <a:pPr marL="0" lvl="1" indent="0">
              <a:buNone/>
            </a:pPr>
            <a:endParaRPr lang="en-US" altLang="ko-KR" sz="1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788" y="5085184"/>
            <a:ext cx="9193212" cy="12246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42936" y="6248345"/>
            <a:ext cx="30623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/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broker 3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개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, controller 3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개 실행된 것 확인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5948087" y="5279178"/>
            <a:ext cx="2605313" cy="958133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Ins="28800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63875793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제목 1"/>
          <p:cNvSpPr>
            <a:spLocks noGrp="1"/>
          </p:cNvSpPr>
          <p:nvPr>
            <p:ph type="title"/>
          </p:nvPr>
        </p:nvSpPr>
        <p:spPr>
          <a:xfrm>
            <a:off x="344488" y="152400"/>
            <a:ext cx="9307512" cy="360363"/>
          </a:xfrm>
          <a:ln/>
        </p:spPr>
        <p:txBody>
          <a:bodyPr/>
          <a:lstStyle/>
          <a:p>
            <a:r>
              <a:rPr lang="en-US" altLang="ko-KR" dirty="0" smtClean="0"/>
              <a:t>2.2 </a:t>
            </a:r>
            <a:r>
              <a:rPr lang="en-US" altLang="ko-KR" dirty="0"/>
              <a:t>Apache Kafka Cluster </a:t>
            </a:r>
            <a:r>
              <a:rPr lang="ko-KR" altLang="en-US" dirty="0"/>
              <a:t>구성</a:t>
            </a:r>
          </a:p>
        </p:txBody>
      </p:sp>
      <p:sp>
        <p:nvSpPr>
          <p:cNvPr id="6149" name="내용 개체 틀 2"/>
          <p:cNvSpPr>
            <a:spLocks noGrp="1"/>
          </p:cNvSpPr>
          <p:nvPr>
            <p:ph idx="1"/>
          </p:nvPr>
        </p:nvSpPr>
        <p:spPr>
          <a:xfrm>
            <a:off x="458788" y="836613"/>
            <a:ext cx="9193212" cy="576262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ko-KR" sz="1800" dirty="0"/>
              <a:t>Kafka Cluster </a:t>
            </a:r>
            <a:r>
              <a:rPr lang="ko-KR" altLang="en-US" sz="1800" dirty="0"/>
              <a:t>환경에서 </a:t>
            </a:r>
            <a:r>
              <a:rPr lang="en-US" altLang="ko-KR" sz="1800" dirty="0"/>
              <a:t>Topic </a:t>
            </a:r>
            <a:r>
              <a:rPr lang="ko-KR" altLang="en-US" sz="1800" dirty="0"/>
              <a:t>생성</a:t>
            </a:r>
            <a:r>
              <a:rPr lang="en-US" altLang="ko-KR" sz="1800" dirty="0"/>
              <a:t>, Producer / Consumer </a:t>
            </a:r>
            <a:r>
              <a:rPr lang="ko-KR" altLang="en-US" sz="1800" dirty="0"/>
              <a:t>로 데이터 송수신</a:t>
            </a:r>
            <a:endParaRPr lang="en-US" altLang="ko-KR" sz="1800" dirty="0"/>
          </a:p>
          <a:p>
            <a:pPr>
              <a:buFontTx/>
              <a:buChar char="•"/>
            </a:pPr>
            <a:r>
              <a:rPr lang="en-US" altLang="ko-KR" sz="1800" dirty="0"/>
              <a:t>Cluster </a:t>
            </a:r>
            <a:r>
              <a:rPr lang="ko-KR" altLang="en-US" sz="1800" dirty="0"/>
              <a:t>환경이라도 </a:t>
            </a:r>
            <a:r>
              <a:rPr lang="en-US" altLang="ko-KR" sz="1800" dirty="0"/>
              <a:t>Quick Start</a:t>
            </a:r>
            <a:r>
              <a:rPr lang="ko-KR" altLang="en-US" sz="1800" dirty="0"/>
              <a:t>에서 설명한 </a:t>
            </a:r>
            <a:r>
              <a:rPr lang="en-US" altLang="ko-KR" sz="1800" dirty="0"/>
              <a:t>Standalone </a:t>
            </a:r>
            <a:r>
              <a:rPr lang="ko-KR" altLang="en-US" sz="1800" dirty="0"/>
              <a:t>환경과 사용법은 동일</a:t>
            </a:r>
            <a:endParaRPr lang="en-US" altLang="ko-KR" sz="1800" dirty="0"/>
          </a:p>
          <a:p>
            <a:pPr>
              <a:buFontTx/>
              <a:buChar char="•"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000" dirty="0"/>
              <a:t># local</a:t>
            </a:r>
            <a:r>
              <a:rPr lang="ko-KR" altLang="en-US" sz="1000" dirty="0"/>
              <a:t>에 설치한 </a:t>
            </a:r>
            <a:r>
              <a:rPr lang="en-US" altLang="ko-KR" sz="1000" dirty="0"/>
              <a:t>Kafka CLI </a:t>
            </a:r>
            <a:r>
              <a:rPr lang="ko-KR" altLang="en-US" sz="1000" dirty="0"/>
              <a:t>이용</a:t>
            </a: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cd /opt/</a:t>
            </a:r>
            <a:r>
              <a:rPr lang="en-US" altLang="ko-KR" sz="1000" dirty="0" err="1"/>
              <a:t>kafka</a:t>
            </a: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# topic </a:t>
            </a:r>
            <a:r>
              <a:rPr lang="ko-KR" altLang="en-US" sz="1000" dirty="0"/>
              <a:t>생성</a:t>
            </a:r>
            <a:r>
              <a:rPr lang="en-US" altLang="ko-KR" sz="1000" dirty="0"/>
              <a:t>. bootstrap </a:t>
            </a:r>
            <a:r>
              <a:rPr lang="ko-KR" altLang="en-US" sz="1000" dirty="0"/>
              <a:t>서버 포트는 </a:t>
            </a:r>
            <a:r>
              <a:rPr lang="en-US" altLang="ko-KR" sz="1000" dirty="0"/>
              <a:t>29092, 39092, 49092 </a:t>
            </a:r>
            <a:r>
              <a:rPr lang="ko-KR" altLang="en-US" sz="1000" dirty="0"/>
              <a:t>중 선택</a:t>
            </a: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# </a:t>
            </a:r>
            <a:r>
              <a:rPr lang="ko-KR" altLang="en-US" sz="1000" dirty="0" err="1"/>
              <a:t>여러개</a:t>
            </a:r>
            <a:r>
              <a:rPr lang="ko-KR" altLang="en-US" sz="1000" dirty="0"/>
              <a:t> </a:t>
            </a:r>
            <a:r>
              <a:rPr lang="en-US" altLang="ko-KR" sz="1000" dirty="0"/>
              <a:t>broker </a:t>
            </a:r>
            <a:r>
              <a:rPr lang="ko-KR" altLang="en-US" sz="1000" dirty="0"/>
              <a:t>선택 원하면 쉼표로 구분해서 나열</a:t>
            </a: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bin/</a:t>
            </a:r>
            <a:r>
              <a:rPr lang="en-US" altLang="ko-KR" sz="1000" dirty="0" err="1"/>
              <a:t>kafka-topics.sh</a:t>
            </a:r>
            <a:r>
              <a:rPr lang="en-US" altLang="ko-KR" sz="1000" dirty="0"/>
              <a:t> --create --topic </a:t>
            </a:r>
            <a:r>
              <a:rPr lang="en-US" altLang="ko-KR" sz="1000" dirty="0" err="1"/>
              <a:t>doverenc</a:t>
            </a:r>
            <a:r>
              <a:rPr lang="en-US" altLang="ko-KR" sz="1000" dirty="0"/>
              <a:t> \</a:t>
            </a:r>
          </a:p>
          <a:p>
            <a:pPr marL="0" indent="0">
              <a:buNone/>
            </a:pPr>
            <a:r>
              <a:rPr lang="en-US" altLang="ko-KR" sz="1000" dirty="0"/>
              <a:t>--bootstrap-server 127.0.0.1:29092</a:t>
            </a:r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# topic </a:t>
            </a:r>
            <a:r>
              <a:rPr lang="ko-KR" altLang="en-US" sz="1000" dirty="0"/>
              <a:t>목록 조회</a:t>
            </a:r>
          </a:p>
          <a:p>
            <a:pPr marL="0" indent="0">
              <a:buNone/>
            </a:pPr>
            <a:r>
              <a:rPr lang="en-US" altLang="ko-KR" sz="1000" dirty="0"/>
              <a:t>bin/</a:t>
            </a:r>
            <a:r>
              <a:rPr lang="en-US" altLang="ko-KR" sz="1000" dirty="0" err="1"/>
              <a:t>kafka-topics.sh</a:t>
            </a:r>
            <a:r>
              <a:rPr lang="en-US" altLang="ko-KR" sz="1000" dirty="0"/>
              <a:t> --list --bootstrap-server 127.0.0.1:29092</a:t>
            </a:r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# topic </a:t>
            </a:r>
            <a:r>
              <a:rPr lang="ko-KR" altLang="en-US" sz="1000" dirty="0"/>
              <a:t>상세 조회</a:t>
            </a:r>
          </a:p>
          <a:p>
            <a:pPr marL="0" indent="0">
              <a:buNone/>
            </a:pPr>
            <a:r>
              <a:rPr lang="en-US" altLang="ko-KR" sz="1000" dirty="0"/>
              <a:t>bin/</a:t>
            </a:r>
            <a:r>
              <a:rPr lang="en-US" altLang="ko-KR" sz="1000" dirty="0" err="1"/>
              <a:t>kafka-topics.sh</a:t>
            </a:r>
            <a:r>
              <a:rPr lang="en-US" altLang="ko-KR" sz="1000" dirty="0"/>
              <a:t> --describe --bootstrap-server 127.0.0.1:29092</a:t>
            </a:r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# Quick Start</a:t>
            </a:r>
            <a:r>
              <a:rPr lang="ko-KR" altLang="en-US" sz="1000" dirty="0"/>
              <a:t>에서 사용한 </a:t>
            </a:r>
            <a:r>
              <a:rPr lang="en-US" altLang="ko-KR" sz="1000" dirty="0"/>
              <a:t>command</a:t>
            </a:r>
            <a:r>
              <a:rPr lang="ko-KR" altLang="en-US" sz="1000" dirty="0"/>
              <a:t> 이용해서 </a:t>
            </a: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# Producer </a:t>
            </a:r>
            <a:r>
              <a:rPr lang="ko-KR" altLang="en-US" sz="1000" dirty="0" err="1"/>
              <a:t>메세지</a:t>
            </a:r>
            <a:r>
              <a:rPr lang="ko-KR" altLang="en-US" sz="1000" dirty="0"/>
              <a:t> 전송</a:t>
            </a:r>
            <a:r>
              <a:rPr lang="en-US" altLang="ko-KR" sz="1000" dirty="0"/>
              <a:t>, Consumer </a:t>
            </a:r>
            <a:r>
              <a:rPr lang="ko-KR" altLang="en-US" sz="1000" dirty="0" err="1"/>
              <a:t>메세지</a:t>
            </a:r>
            <a:r>
              <a:rPr lang="ko-KR" altLang="en-US" sz="1000" dirty="0"/>
              <a:t> 수신 테스트</a:t>
            </a:r>
          </a:p>
          <a:p>
            <a:pPr marL="0" indent="0">
              <a:buNone/>
            </a:pPr>
            <a:r>
              <a:rPr lang="en-US" altLang="ko-KR" sz="1000" dirty="0"/>
              <a:t>bin/</a:t>
            </a:r>
            <a:r>
              <a:rPr lang="en-US" altLang="ko-KR" sz="1000" dirty="0" err="1"/>
              <a:t>kafka</a:t>
            </a:r>
            <a:r>
              <a:rPr lang="en-US" altLang="ko-KR" sz="1000" dirty="0"/>
              <a:t>-console-</a:t>
            </a:r>
            <a:r>
              <a:rPr lang="en-US" altLang="ko-KR" sz="1000" dirty="0" err="1"/>
              <a:t>producer.sh</a:t>
            </a:r>
            <a:r>
              <a:rPr lang="en-US" altLang="ko-KR" sz="1000" dirty="0"/>
              <a:t> --bootstrap-server 127.0.0.1:29092 \</a:t>
            </a:r>
          </a:p>
          <a:p>
            <a:pPr marL="0" indent="0">
              <a:buNone/>
            </a:pPr>
            <a:r>
              <a:rPr lang="en-US" altLang="ko-KR" sz="1000" dirty="0"/>
              <a:t>--topic </a:t>
            </a:r>
            <a:r>
              <a:rPr lang="en-US" altLang="ko-KR" sz="1000" dirty="0" err="1"/>
              <a:t>doverenc</a:t>
            </a: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bin/</a:t>
            </a:r>
            <a:r>
              <a:rPr lang="en-US" altLang="ko-KR" sz="1000" dirty="0" err="1"/>
              <a:t>kafka</a:t>
            </a:r>
            <a:r>
              <a:rPr lang="en-US" altLang="ko-KR" sz="1000" dirty="0"/>
              <a:t>-console-</a:t>
            </a:r>
            <a:r>
              <a:rPr lang="en-US" altLang="ko-KR" sz="1000" dirty="0" err="1"/>
              <a:t>consumer.sh</a:t>
            </a:r>
            <a:r>
              <a:rPr lang="en-US" altLang="ko-KR" sz="1000" dirty="0"/>
              <a:t> --bootstrap-server 127.0.0.1:29092 \</a:t>
            </a:r>
          </a:p>
          <a:p>
            <a:pPr marL="0" indent="0">
              <a:buNone/>
            </a:pPr>
            <a:r>
              <a:rPr lang="en-US" altLang="ko-KR" sz="1000" dirty="0"/>
              <a:t>--topic </a:t>
            </a:r>
            <a:r>
              <a:rPr lang="en-US" altLang="ko-KR" sz="1000" dirty="0" err="1"/>
              <a:t>doverenc</a:t>
            </a:r>
            <a:r>
              <a:rPr lang="en-US" altLang="ko-KR" sz="1000" dirty="0"/>
              <a:t> --from-beginning</a:t>
            </a:r>
          </a:p>
          <a:p>
            <a:pPr marL="0" lvl="1" indent="0">
              <a:buNone/>
            </a:pPr>
            <a:endParaRPr lang="en-US" altLang="ko-KR" sz="1000" dirty="0"/>
          </a:p>
          <a:p>
            <a:pPr marL="0" lvl="1" indent="0">
              <a:buNone/>
            </a:pPr>
            <a:endParaRPr lang="en-US" altLang="ko-KR" sz="1000" dirty="0"/>
          </a:p>
          <a:p>
            <a:pPr marL="0" lvl="1" indent="0">
              <a:buNone/>
            </a:pPr>
            <a:endParaRPr lang="en-US" altLang="ko-KR" sz="10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rcRect r="15190"/>
          <a:stretch/>
        </p:blipFill>
        <p:spPr>
          <a:xfrm>
            <a:off x="4800322" y="1772816"/>
            <a:ext cx="4824536" cy="429904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85048" y="6095371"/>
            <a:ext cx="38003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/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TOPIC describe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 결과 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-&gt; clustering 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관련 내용 추가됨</a:t>
            </a:r>
          </a:p>
        </p:txBody>
      </p:sp>
    </p:spTree>
    <p:extLst>
      <p:ext uri="{BB962C8B-B14F-4D97-AF65-F5344CB8AC3E}">
        <p14:creationId xmlns:p14="http://schemas.microsoft.com/office/powerpoint/2010/main" val="3288032987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4"/>
          <p:cNvGrpSpPr>
            <a:grpSpLocks/>
          </p:cNvGrpSpPr>
          <p:nvPr/>
        </p:nvGrpSpPr>
        <p:grpSpPr bwMode="auto">
          <a:xfrm>
            <a:off x="-15875" y="1905000"/>
            <a:ext cx="9399588" cy="533400"/>
            <a:chOff x="0" y="768"/>
            <a:chExt cx="3870" cy="480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5126" name="Rectangle 5"/>
            <p:cNvSpPr>
              <a:spLocks noChangeArrowheads="1"/>
            </p:cNvSpPr>
            <p:nvPr/>
          </p:nvSpPr>
          <p:spPr bwMode="auto">
            <a:xfrm>
              <a:off x="0" y="768"/>
              <a:ext cx="3630" cy="48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defRPr kumimoji="1" sz="2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ko-KR" altLang="en-US" sz="1600">
                <a:solidFill>
                  <a:schemeClr val="bg1"/>
                </a:solidFill>
                <a:latin typeface="HY울릉도M" pitchFamily="18" charset="-127"/>
                <a:ea typeface="HY울릉도M" pitchFamily="18" charset="-127"/>
              </a:endParaRPr>
            </a:p>
          </p:txBody>
        </p:sp>
        <p:sp>
          <p:nvSpPr>
            <p:cNvPr id="5127" name="AutoShape 6"/>
            <p:cNvSpPr>
              <a:spLocks noChangeArrowheads="1"/>
            </p:cNvSpPr>
            <p:nvPr/>
          </p:nvSpPr>
          <p:spPr bwMode="auto">
            <a:xfrm>
              <a:off x="2640" y="768"/>
              <a:ext cx="1230" cy="48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defRPr kumimoji="1" sz="2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ko-KR" altLang="en-US" sz="1600">
                <a:solidFill>
                  <a:schemeClr val="bg1"/>
                </a:solidFill>
                <a:latin typeface="HY울릉도M" pitchFamily="18" charset="-127"/>
                <a:ea typeface="HY울릉도M" pitchFamily="18" charset="-127"/>
              </a:endParaRPr>
            </a:p>
          </p:txBody>
        </p:sp>
      </p:grpSp>
      <p:sp>
        <p:nvSpPr>
          <p:cNvPr id="5123" name="AutoShape 7"/>
          <p:cNvSpPr>
            <a:spLocks noChangeArrowheads="1"/>
          </p:cNvSpPr>
          <p:nvPr/>
        </p:nvSpPr>
        <p:spPr bwMode="auto">
          <a:xfrm>
            <a:off x="3490913" y="1943100"/>
            <a:ext cx="3749675" cy="457200"/>
          </a:xfrm>
          <a:prstGeom prst="bevel">
            <a:avLst>
              <a:gd name="adj" fmla="val 125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</a:pPr>
            <a:r>
              <a:rPr kumimoji="0" lang="en-US" altLang="ko-KR" sz="3200" b="1">
                <a:solidFill>
                  <a:schemeClr val="bg1"/>
                </a:solidFill>
              </a:rPr>
              <a:t>Data Pipeline </a:t>
            </a:r>
            <a:r>
              <a:rPr kumimoji="0" lang="ko-KR" altLang="en-US" sz="3200" b="1" dirty="0">
                <a:solidFill>
                  <a:schemeClr val="bg1"/>
                </a:solidFill>
              </a:rPr>
              <a:t>구성</a:t>
            </a:r>
            <a:endParaRPr kumimoji="0" lang="en-US" altLang="ko-KR" sz="3200" b="1" dirty="0">
              <a:solidFill>
                <a:schemeClr val="bg1"/>
              </a:solidFill>
            </a:endParaRPr>
          </a:p>
        </p:txBody>
      </p:sp>
      <p:sp>
        <p:nvSpPr>
          <p:cNvPr id="5124" name="Rectangle 8"/>
          <p:cNvSpPr>
            <a:spLocks noChangeArrowheads="1"/>
          </p:cNvSpPr>
          <p:nvPr/>
        </p:nvSpPr>
        <p:spPr bwMode="auto">
          <a:xfrm>
            <a:off x="1577975" y="1219200"/>
            <a:ext cx="1377950" cy="2057400"/>
          </a:xfrm>
          <a:prstGeom prst="rect">
            <a:avLst/>
          </a:prstGeom>
          <a:noFill/>
          <a:ln>
            <a:noFill/>
          </a:ln>
          <a:effectLst>
            <a:outerShdw dist="71842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en-US" altLang="ko-KR" sz="14000" i="1" dirty="0">
                <a:solidFill>
                  <a:srgbClr val="FF0000"/>
                </a:solidFill>
                <a:latin typeface="Arial Black" pitchFamily="34" charset="0"/>
                <a:ea typeface="HY견고딕" pitchFamily="18" charset="-127"/>
              </a:rPr>
              <a:t>3</a:t>
            </a:r>
          </a:p>
        </p:txBody>
      </p:sp>
      <p:sp>
        <p:nvSpPr>
          <p:cNvPr id="5125" name="Text Box 9"/>
          <p:cNvSpPr txBox="1">
            <a:spLocks noChangeArrowheads="1"/>
          </p:cNvSpPr>
          <p:nvPr/>
        </p:nvSpPr>
        <p:spPr bwMode="auto">
          <a:xfrm>
            <a:off x="3414713" y="2667000"/>
            <a:ext cx="6237287" cy="129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lvl="1" eaLnBrk="1" latinLnBrk="0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kumimoji="0" lang="en-US" altLang="ko-KR" b="1" dirty="0"/>
              <a:t>3.1 </a:t>
            </a:r>
            <a:r>
              <a:rPr kumimoji="0" lang="en-US" altLang="ko-KR" b="1" dirty="0" err="1"/>
              <a:t>AKHQ</a:t>
            </a:r>
            <a:r>
              <a:rPr kumimoji="0" lang="en-US" altLang="ko-KR" b="1" dirty="0"/>
              <a:t> </a:t>
            </a:r>
            <a:r>
              <a:rPr kumimoji="0" lang="ko-KR" altLang="en-US" b="1" dirty="0"/>
              <a:t>설치 및 연동</a:t>
            </a:r>
            <a:endParaRPr kumimoji="0" lang="en-US" altLang="ko-KR" b="1" dirty="0"/>
          </a:p>
          <a:p>
            <a:pPr lvl="1" eaLnBrk="1" latinLnBrk="0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kumimoji="0" lang="en-US" altLang="ko-KR" b="1" dirty="0"/>
              <a:t>3.2 ELK</a:t>
            </a:r>
            <a:r>
              <a:rPr kumimoji="0" lang="ko-KR" altLang="en-US" b="1" dirty="0"/>
              <a:t>를 이용한 </a:t>
            </a:r>
            <a:r>
              <a:rPr kumimoji="0" lang="en-US" altLang="ko-KR" b="1" dirty="0"/>
              <a:t>Data Pipeline </a:t>
            </a:r>
            <a:r>
              <a:rPr kumimoji="0" lang="ko-KR" altLang="en-US" b="1" dirty="0"/>
              <a:t>구성</a:t>
            </a:r>
            <a:endParaRPr kumimoji="0" lang="en-US" altLang="ko-KR" b="1" dirty="0"/>
          </a:p>
          <a:p>
            <a:pPr lvl="1" eaLnBrk="1" latinLnBrk="0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kumimoji="0" lang="en-US" altLang="ko-KR" b="1" dirty="0"/>
              <a:t>3.3 </a:t>
            </a:r>
            <a:r>
              <a:rPr kumimoji="0" lang="en-US" altLang="ko-KR" b="1" dirty="0" err="1"/>
              <a:t>FileBeat</a:t>
            </a:r>
            <a:r>
              <a:rPr kumimoji="0" lang="ko-KR" altLang="en-US" b="1" dirty="0"/>
              <a:t>를 이용한 </a:t>
            </a:r>
            <a:r>
              <a:rPr kumimoji="0" lang="en-US" altLang="ko-KR" b="1" dirty="0"/>
              <a:t>Log </a:t>
            </a:r>
            <a:r>
              <a:rPr kumimoji="0" lang="ko-KR" altLang="en-US" b="1" dirty="0"/>
              <a:t>전송</a:t>
            </a:r>
          </a:p>
        </p:txBody>
      </p:sp>
    </p:spTree>
    <p:extLst>
      <p:ext uri="{BB962C8B-B14F-4D97-AF65-F5344CB8AC3E}">
        <p14:creationId xmlns:p14="http://schemas.microsoft.com/office/powerpoint/2010/main" val="1160572498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제목 1"/>
          <p:cNvSpPr>
            <a:spLocks noGrp="1"/>
          </p:cNvSpPr>
          <p:nvPr>
            <p:ph type="title"/>
          </p:nvPr>
        </p:nvSpPr>
        <p:spPr>
          <a:xfrm>
            <a:off x="344488" y="152400"/>
            <a:ext cx="9307512" cy="360363"/>
          </a:xfrm>
          <a:ln/>
        </p:spPr>
        <p:txBody>
          <a:bodyPr/>
          <a:lstStyle/>
          <a:p>
            <a:r>
              <a:rPr lang="en-US" altLang="ko-KR" dirty="0" smtClean="0"/>
              <a:t>3.1 </a:t>
            </a:r>
            <a:r>
              <a:rPr lang="en-US" altLang="ko-KR" dirty="0" err="1"/>
              <a:t>AKHQ</a:t>
            </a:r>
            <a:r>
              <a:rPr lang="ko-KR" altLang="en-US" dirty="0"/>
              <a:t> 설치 및 연동</a:t>
            </a:r>
          </a:p>
        </p:txBody>
      </p:sp>
      <p:sp>
        <p:nvSpPr>
          <p:cNvPr id="6149" name="내용 개체 틀 2"/>
          <p:cNvSpPr>
            <a:spLocks noGrp="1"/>
          </p:cNvSpPr>
          <p:nvPr>
            <p:ph idx="1"/>
          </p:nvPr>
        </p:nvSpPr>
        <p:spPr>
          <a:xfrm>
            <a:off x="458788" y="836613"/>
            <a:ext cx="9193212" cy="576262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ko-KR" sz="1800" dirty="0"/>
              <a:t>A...</a:t>
            </a:r>
            <a:r>
              <a:rPr lang="ko-KR" altLang="en-US" sz="1800" dirty="0"/>
              <a:t>는 </a:t>
            </a:r>
            <a:r>
              <a:rPr lang="en-US" altLang="ko-KR" sz="1800" dirty="0"/>
              <a:t>Web </a:t>
            </a:r>
            <a:r>
              <a:rPr lang="ko-KR" altLang="en-US" sz="1800" dirty="0"/>
              <a:t>기반의 모니터링 및 관리 화면으로 </a:t>
            </a:r>
            <a:r>
              <a:rPr lang="en-US" altLang="ko-KR" sz="1800" dirty="0"/>
              <a:t>KAFKA</a:t>
            </a:r>
            <a:r>
              <a:rPr lang="ko-KR" altLang="en-US" sz="1800" dirty="0"/>
              <a:t>와 연동하여 </a:t>
            </a:r>
            <a:r>
              <a:rPr lang="en-US" altLang="ko-KR" sz="1800" dirty="0"/>
              <a:t>TOPIC</a:t>
            </a:r>
            <a:r>
              <a:rPr lang="ko-KR" altLang="en-US" sz="1800" dirty="0"/>
              <a:t>의 상태를 확인하고 제어 할 수 있는 기본 기능을 제공한다</a:t>
            </a:r>
            <a:endParaRPr lang="en-US" altLang="ko-KR" sz="1800" dirty="0"/>
          </a:p>
          <a:p>
            <a:pPr>
              <a:buFontTx/>
              <a:buChar char="•"/>
            </a:pPr>
            <a:r>
              <a:rPr lang="ko-KR" altLang="en-US" sz="1800" dirty="0"/>
              <a:t>현재 버전 업그레이드가 진행되지 않고 있어서 다소 정체된 상태이다</a:t>
            </a:r>
            <a:r>
              <a:rPr lang="en-US" altLang="ko-KR" sz="1800" dirty="0"/>
              <a:t>.</a:t>
            </a:r>
          </a:p>
          <a:p>
            <a:pPr>
              <a:buFontTx/>
              <a:buChar char="•"/>
            </a:pPr>
            <a:endParaRPr lang="en-US" altLang="ko-KR" sz="1800" dirty="0"/>
          </a:p>
          <a:p>
            <a:pPr marL="0" indent="0">
              <a:buNone/>
            </a:pPr>
            <a:r>
              <a:rPr lang="en-US" altLang="ko-KR" sz="1000" dirty="0"/>
              <a:t># </a:t>
            </a:r>
            <a:r>
              <a:rPr lang="en-US" altLang="ko-KR" sz="1000" dirty="0" err="1"/>
              <a:t>AKHQ</a:t>
            </a:r>
            <a:r>
              <a:rPr lang="en-US" altLang="ko-KR" sz="1000" dirty="0"/>
              <a:t> </a:t>
            </a:r>
            <a:r>
              <a:rPr lang="ko-KR" altLang="en-US" sz="1000" dirty="0"/>
              <a:t>소스 코드 위치 </a:t>
            </a:r>
            <a:r>
              <a:rPr lang="en-US" altLang="ko-KR" sz="1000" dirty="0"/>
              <a:t>-&gt; </a:t>
            </a:r>
            <a:r>
              <a:rPr lang="en-US" altLang="ko-KR" sz="1000" dirty="0" err="1"/>
              <a:t>AKHQ</a:t>
            </a:r>
            <a:r>
              <a:rPr lang="ko-KR" altLang="en-US" sz="1000" dirty="0"/>
              <a:t>는 자바로 개발되어 있으며 </a:t>
            </a:r>
            <a:r>
              <a:rPr lang="en-US" altLang="ko-KR" sz="1000" dirty="0"/>
              <a:t>jar </a:t>
            </a:r>
            <a:r>
              <a:rPr lang="ko-KR" altLang="en-US" sz="1000" dirty="0"/>
              <a:t>파일 하나만 있으면 실행할 수 있지만 이번 </a:t>
            </a:r>
            <a:r>
              <a:rPr lang="en-US" altLang="ko-KR" sz="1000" dirty="0"/>
              <a:t>Hands On </a:t>
            </a:r>
            <a:r>
              <a:rPr lang="ko-KR" altLang="en-US" sz="1000" dirty="0"/>
              <a:t>에서는 </a:t>
            </a:r>
            <a:r>
              <a:rPr lang="en-US" altLang="ko-KR" sz="1000" dirty="0" err="1"/>
              <a:t>docker</a:t>
            </a:r>
            <a:r>
              <a:rPr lang="ko-KR" altLang="en-US" sz="1000" dirty="0"/>
              <a:t>를 이용하겠다</a:t>
            </a:r>
            <a:r>
              <a:rPr lang="en-US" altLang="ko-KR" sz="1000" dirty="0"/>
              <a:t>.</a:t>
            </a:r>
          </a:p>
          <a:p>
            <a:pPr marL="0" indent="0">
              <a:buNone/>
            </a:pPr>
            <a:r>
              <a:rPr lang="en-US" altLang="ko-KR" sz="1000" dirty="0" err="1"/>
              <a:t>AKHQ</a:t>
            </a:r>
            <a:r>
              <a:rPr lang="en-US" altLang="ko-KR" sz="1000" dirty="0"/>
              <a:t> : https://</a:t>
            </a:r>
            <a:r>
              <a:rPr lang="en-US" altLang="ko-KR" sz="1000" dirty="0" err="1"/>
              <a:t>github.com</a:t>
            </a:r>
            <a:r>
              <a:rPr lang="en-US" altLang="ko-KR" sz="1000" dirty="0"/>
              <a:t>/</a:t>
            </a:r>
            <a:r>
              <a:rPr lang="en-US" altLang="ko-KR" sz="1000" dirty="0" err="1"/>
              <a:t>tchiotludo</a:t>
            </a:r>
            <a:r>
              <a:rPr lang="en-US" altLang="ko-KR" sz="1000" dirty="0"/>
              <a:t>/</a:t>
            </a:r>
            <a:r>
              <a:rPr lang="en-US" altLang="ko-KR" sz="1000" dirty="0" err="1"/>
              <a:t>akhq</a:t>
            </a: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# </a:t>
            </a:r>
            <a:r>
              <a:rPr lang="ko-KR" altLang="en-US" sz="1000" dirty="0"/>
              <a:t>기존에 실행되어 있는 </a:t>
            </a:r>
            <a:r>
              <a:rPr lang="en-US" altLang="ko-KR" sz="1000" dirty="0" err="1"/>
              <a:t>docker</a:t>
            </a:r>
            <a:r>
              <a:rPr lang="en-US" altLang="ko-KR" sz="1000" dirty="0"/>
              <a:t> container</a:t>
            </a:r>
            <a:r>
              <a:rPr lang="ko-KR" altLang="en-US" sz="1000" dirty="0"/>
              <a:t>가 있으면 아래 명령을 이용해서 모두 종료한다</a:t>
            </a:r>
            <a:r>
              <a:rPr lang="en-US" altLang="ko-KR" sz="1000" dirty="0"/>
              <a:t>.</a:t>
            </a:r>
          </a:p>
          <a:p>
            <a:pPr marL="0" indent="0">
              <a:buNone/>
            </a:pPr>
            <a:r>
              <a:rPr lang="sv-SE" altLang="ko-KR" sz="1000" dirty="0"/>
              <a:t>sudo docker stop $(sudo docker ps -aq)</a:t>
            </a:r>
          </a:p>
          <a:p>
            <a:pPr marL="0" indent="0">
              <a:buNone/>
            </a:pPr>
            <a:endParaRPr lang="sv-SE" altLang="ko-KR" sz="1000" dirty="0"/>
          </a:p>
          <a:p>
            <a:pPr marL="0" indent="0">
              <a:buNone/>
            </a:pPr>
            <a:r>
              <a:rPr lang="sv-SE" altLang="ko-KR" sz="1000" dirty="0"/>
              <a:t># AKHQ</a:t>
            </a:r>
            <a:r>
              <a:rPr lang="ko-KR" altLang="en-US" sz="1000" dirty="0"/>
              <a:t>와 </a:t>
            </a:r>
            <a:r>
              <a:rPr lang="en-US" altLang="ko-KR" sz="1000" dirty="0"/>
              <a:t>Apache Kafka 3</a:t>
            </a:r>
            <a:r>
              <a:rPr lang="ko-KR" altLang="en-US" sz="1000" dirty="0"/>
              <a:t>개의 </a:t>
            </a:r>
            <a:r>
              <a:rPr lang="en-US" altLang="ko-KR" sz="1000" dirty="0"/>
              <a:t>Cluster Node</a:t>
            </a:r>
            <a:r>
              <a:rPr lang="ko-KR" altLang="en-US" sz="1000" dirty="0"/>
              <a:t>를 실행할 수 있는 </a:t>
            </a:r>
            <a:r>
              <a:rPr lang="en-US" altLang="ko-KR" sz="1000" dirty="0" err="1"/>
              <a:t>docker</a:t>
            </a:r>
            <a:r>
              <a:rPr lang="en-US" altLang="ko-KR" sz="1000" dirty="0"/>
              <a:t> compose</a:t>
            </a:r>
            <a:r>
              <a:rPr lang="ko-KR" altLang="en-US" sz="1000" dirty="0"/>
              <a:t>를 아래와 같이 실행한다</a:t>
            </a:r>
            <a:r>
              <a:rPr lang="en-US" altLang="ko-KR" sz="1000" dirty="0"/>
              <a:t>.</a:t>
            </a:r>
          </a:p>
          <a:p>
            <a:pPr marL="0" indent="0">
              <a:buNone/>
            </a:pPr>
            <a:r>
              <a:rPr lang="en-US" altLang="ko-KR" sz="1000" dirty="0"/>
              <a:t>cd /home/user/Desktop/material</a:t>
            </a:r>
          </a:p>
          <a:p>
            <a:pPr marL="0" indent="0">
              <a:buNone/>
            </a:pPr>
            <a:r>
              <a:rPr lang="en-US" altLang="ko-KR" sz="1000" dirty="0" err="1"/>
              <a:t>docker</a:t>
            </a:r>
            <a:r>
              <a:rPr lang="en-US" altLang="ko-KR" sz="1000" dirty="0"/>
              <a:t> compose -f </a:t>
            </a:r>
            <a:r>
              <a:rPr lang="en-US" altLang="ko-KR" sz="1000" dirty="0" err="1"/>
              <a:t>docker</a:t>
            </a:r>
            <a:r>
              <a:rPr lang="en-US" altLang="ko-KR" sz="1000" dirty="0"/>
              <a:t>-compose-</a:t>
            </a:r>
            <a:r>
              <a:rPr lang="en-US" altLang="ko-KR" sz="1000" dirty="0" err="1"/>
              <a:t>akhq.yml</a:t>
            </a:r>
            <a:r>
              <a:rPr lang="en-US" altLang="ko-KR" sz="1000" dirty="0"/>
              <a:t> up</a:t>
            </a:r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# </a:t>
            </a:r>
            <a:r>
              <a:rPr lang="ko-KR" altLang="en-US" sz="1000" dirty="0"/>
              <a:t>아래 그림과 같이 기존 </a:t>
            </a:r>
            <a:r>
              <a:rPr lang="en-US" altLang="ko-KR" sz="1000" dirty="0"/>
              <a:t>6</a:t>
            </a:r>
            <a:r>
              <a:rPr lang="ko-KR" altLang="en-US" sz="1000" dirty="0"/>
              <a:t>개의 </a:t>
            </a:r>
            <a:r>
              <a:rPr lang="en-US" altLang="ko-KR" sz="1000" dirty="0" err="1"/>
              <a:t>docker</a:t>
            </a:r>
            <a:r>
              <a:rPr lang="en-US" altLang="ko-KR" sz="1000" dirty="0"/>
              <a:t> </a:t>
            </a:r>
            <a:r>
              <a:rPr lang="ko-KR" altLang="en-US" sz="1000" dirty="0"/>
              <a:t>프로세스 외에 </a:t>
            </a:r>
            <a:r>
              <a:rPr lang="en-US" altLang="ko-KR" sz="1000" dirty="0" err="1"/>
              <a:t>akhq</a:t>
            </a:r>
            <a:r>
              <a:rPr lang="ko-KR" altLang="en-US" sz="1000" dirty="0"/>
              <a:t>가 </a:t>
            </a:r>
            <a:r>
              <a:rPr lang="en-US" altLang="ko-KR" sz="1000" dirty="0"/>
              <a:t>8080 </a:t>
            </a:r>
            <a:r>
              <a:rPr lang="ko-KR" altLang="en-US" sz="1000" dirty="0"/>
              <a:t>포트로 추가된 것을 확인 할 수 있다</a:t>
            </a:r>
            <a:r>
              <a:rPr lang="en-US" altLang="ko-KR" sz="1000" dirty="0"/>
              <a:t>.</a:t>
            </a:r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504" y="4221088"/>
            <a:ext cx="9163496" cy="1172678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88504" y="4435634"/>
            <a:ext cx="9163496" cy="145891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Ins="28800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66982767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제목 1"/>
          <p:cNvSpPr>
            <a:spLocks noGrp="1"/>
          </p:cNvSpPr>
          <p:nvPr>
            <p:ph type="title"/>
          </p:nvPr>
        </p:nvSpPr>
        <p:spPr>
          <a:xfrm>
            <a:off x="344488" y="152400"/>
            <a:ext cx="9307512" cy="360363"/>
          </a:xfrm>
          <a:ln/>
        </p:spPr>
        <p:txBody>
          <a:bodyPr/>
          <a:lstStyle/>
          <a:p>
            <a:r>
              <a:rPr lang="en-US" altLang="ko-KR" dirty="0" smtClean="0"/>
              <a:t>3.1 </a:t>
            </a:r>
            <a:r>
              <a:rPr lang="en-US" altLang="ko-KR" dirty="0" err="1"/>
              <a:t>AKHQ</a:t>
            </a:r>
            <a:r>
              <a:rPr lang="ko-KR" altLang="en-US" dirty="0"/>
              <a:t> 설치 및 연동</a:t>
            </a:r>
          </a:p>
        </p:txBody>
      </p:sp>
      <p:sp>
        <p:nvSpPr>
          <p:cNvPr id="6149" name="내용 개체 틀 2"/>
          <p:cNvSpPr>
            <a:spLocks noGrp="1"/>
          </p:cNvSpPr>
          <p:nvPr>
            <p:ph idx="1"/>
          </p:nvPr>
        </p:nvSpPr>
        <p:spPr>
          <a:xfrm>
            <a:off x="458788" y="836613"/>
            <a:ext cx="9193212" cy="576262"/>
          </a:xfrm>
        </p:spPr>
        <p:txBody>
          <a:bodyPr/>
          <a:lstStyle/>
          <a:p>
            <a:pPr>
              <a:buFontTx/>
              <a:buChar char="•"/>
            </a:pPr>
            <a:r>
              <a:rPr lang="ko-KR" altLang="en-US" sz="1600" dirty="0" err="1"/>
              <a:t>가상머신에서</a:t>
            </a:r>
            <a:r>
              <a:rPr lang="ko-KR" altLang="en-US" sz="1600" dirty="0"/>
              <a:t> </a:t>
            </a:r>
            <a:r>
              <a:rPr lang="en-US" altLang="ko-KR" sz="1600" dirty="0" err="1"/>
              <a:t>FireFox</a:t>
            </a:r>
            <a:r>
              <a:rPr lang="ko-KR" altLang="en-US" sz="1600" dirty="0"/>
              <a:t>를 실행시킨 후 </a:t>
            </a:r>
            <a:r>
              <a:rPr lang="en-US" altLang="ko-KR" sz="1600" dirty="0"/>
              <a:t>http://127.0.0.1:8080 </a:t>
            </a:r>
            <a:r>
              <a:rPr lang="ko-KR" altLang="en-US" sz="1600" dirty="0"/>
              <a:t>으로 </a:t>
            </a:r>
            <a:r>
              <a:rPr lang="ko-KR" altLang="en-US" sz="1600" dirty="0" smtClean="0"/>
              <a:t>접속</a:t>
            </a:r>
            <a:endParaRPr lang="en-US" altLang="ko-KR" sz="1600" dirty="0" smtClean="0"/>
          </a:p>
          <a:p>
            <a:pPr>
              <a:buFontTx/>
              <a:buChar char="•"/>
            </a:pPr>
            <a:r>
              <a:rPr lang="ko-KR" altLang="en-US" sz="1600" dirty="0" smtClean="0"/>
              <a:t>외부 서버에서 </a:t>
            </a:r>
            <a:r>
              <a:rPr lang="ko-KR" altLang="en-US" sz="1600" dirty="0" err="1" smtClean="0"/>
              <a:t>가상머신</a:t>
            </a:r>
            <a:r>
              <a:rPr lang="ko-KR" altLang="en-US" sz="1600" dirty="0" smtClean="0"/>
              <a:t> </a:t>
            </a:r>
            <a:r>
              <a:rPr lang="en-US" altLang="ko-KR" sz="1600" dirty="0" err="1" smtClean="0"/>
              <a:t>ip</a:t>
            </a:r>
            <a:r>
              <a:rPr lang="ko-KR" altLang="en-US" sz="1600" dirty="0" smtClean="0"/>
              <a:t>로 변경해도 접속 </a:t>
            </a:r>
            <a:r>
              <a:rPr lang="en-US" altLang="ko-KR" sz="1600" dirty="0" smtClean="0"/>
              <a:t>: </a:t>
            </a:r>
            <a:r>
              <a:rPr lang="ko-KR" altLang="en-US" sz="1600" dirty="0" smtClean="0"/>
              <a:t>예</a:t>
            </a:r>
            <a:r>
              <a:rPr lang="en-US" altLang="ko-KR" sz="1600" dirty="0" smtClean="0"/>
              <a:t>) http://192.168.0.51:8080</a:t>
            </a:r>
            <a:endParaRPr lang="en-US" altLang="ko-KR" sz="900" dirty="0"/>
          </a:p>
          <a:p>
            <a:pPr marL="0" indent="0">
              <a:buNone/>
            </a:pPr>
            <a:endParaRPr lang="en-US" altLang="ko-KR" sz="900" dirty="0"/>
          </a:p>
          <a:p>
            <a:pPr marL="0" indent="0">
              <a:buNone/>
            </a:pPr>
            <a:endParaRPr lang="en-US" altLang="ko-KR" sz="900" dirty="0" smtClean="0"/>
          </a:p>
          <a:p>
            <a:pPr marL="0" indent="0">
              <a:buNone/>
            </a:pPr>
            <a:endParaRPr lang="en-US" altLang="ko-KR" sz="900" dirty="0"/>
          </a:p>
          <a:p>
            <a:pPr marL="0" indent="0">
              <a:buNone/>
            </a:pPr>
            <a:endParaRPr lang="en-US" altLang="ko-KR" sz="900" dirty="0" smtClean="0"/>
          </a:p>
          <a:p>
            <a:pPr marL="0" indent="0">
              <a:buNone/>
            </a:pPr>
            <a:endParaRPr lang="en-US" altLang="ko-KR" sz="900" dirty="0"/>
          </a:p>
          <a:p>
            <a:pPr marL="0" indent="0">
              <a:buNone/>
            </a:pPr>
            <a:endParaRPr lang="en-US" altLang="ko-KR" sz="900" dirty="0"/>
          </a:p>
          <a:p>
            <a:pPr marL="0" indent="0">
              <a:buNone/>
            </a:pPr>
            <a:endParaRPr lang="en-US" altLang="ko-KR" sz="900" dirty="0"/>
          </a:p>
          <a:p>
            <a:pPr marL="0" indent="0">
              <a:buNone/>
            </a:pPr>
            <a:endParaRPr lang="en-US" altLang="ko-KR" sz="900" dirty="0"/>
          </a:p>
          <a:p>
            <a:pPr marL="0" indent="0">
              <a:buNone/>
            </a:pPr>
            <a:endParaRPr lang="en-US" altLang="ko-KR" sz="900" dirty="0"/>
          </a:p>
          <a:p>
            <a:pPr marL="0" indent="0">
              <a:buNone/>
            </a:pPr>
            <a:endParaRPr lang="en-US" altLang="ko-KR" sz="900" dirty="0"/>
          </a:p>
          <a:p>
            <a:pPr marL="0" indent="0">
              <a:buNone/>
            </a:pPr>
            <a:endParaRPr lang="en-US" altLang="ko-KR" sz="900" dirty="0"/>
          </a:p>
          <a:p>
            <a:pPr marL="0" indent="0">
              <a:buNone/>
            </a:pPr>
            <a:endParaRPr lang="en-US" altLang="ko-KR" sz="900" dirty="0"/>
          </a:p>
          <a:p>
            <a:pPr marL="0" indent="0">
              <a:buNone/>
            </a:pPr>
            <a:endParaRPr lang="en-US" altLang="ko-KR" sz="900" dirty="0"/>
          </a:p>
          <a:p>
            <a:pPr marL="0" indent="0">
              <a:buNone/>
            </a:pPr>
            <a:endParaRPr lang="en-US" altLang="ko-KR" sz="900" dirty="0"/>
          </a:p>
          <a:p>
            <a:pPr marL="0" indent="0">
              <a:buNone/>
            </a:pPr>
            <a:endParaRPr lang="en-US" altLang="ko-KR" sz="900" dirty="0"/>
          </a:p>
          <a:p>
            <a:pPr marL="0" indent="0">
              <a:buNone/>
            </a:pPr>
            <a:endParaRPr lang="en-US" altLang="ko-KR" sz="900" dirty="0"/>
          </a:p>
          <a:p>
            <a:pPr marL="0" indent="0">
              <a:buNone/>
            </a:pPr>
            <a:endParaRPr lang="en-US" altLang="ko-KR" sz="900" dirty="0"/>
          </a:p>
          <a:p>
            <a:pPr marL="0" indent="0">
              <a:buNone/>
            </a:pPr>
            <a:endParaRPr lang="en-US" altLang="ko-KR" sz="900" dirty="0"/>
          </a:p>
          <a:p>
            <a:pPr marL="0" indent="0">
              <a:buNone/>
            </a:pPr>
            <a:endParaRPr lang="en-US" altLang="ko-KR" sz="900" dirty="0"/>
          </a:p>
          <a:p>
            <a:pPr marL="0" indent="0">
              <a:buNone/>
            </a:pPr>
            <a:endParaRPr lang="en-US" altLang="ko-KR" sz="900" dirty="0"/>
          </a:p>
          <a:p>
            <a:pPr marL="0" indent="0">
              <a:buNone/>
            </a:pPr>
            <a:endParaRPr lang="en-US" altLang="ko-KR" sz="900" dirty="0"/>
          </a:p>
          <a:p>
            <a:pPr marL="0" indent="0">
              <a:buNone/>
            </a:pPr>
            <a:endParaRPr lang="en-US" altLang="ko-KR" sz="900" dirty="0"/>
          </a:p>
          <a:p>
            <a:pPr marL="0" indent="0">
              <a:buNone/>
            </a:pPr>
            <a:endParaRPr lang="en-US" altLang="ko-KR" sz="900" dirty="0"/>
          </a:p>
          <a:p>
            <a:pPr marL="0" indent="0">
              <a:buNone/>
            </a:pPr>
            <a:endParaRPr lang="en-US" altLang="ko-KR" sz="900" dirty="0"/>
          </a:p>
          <a:p>
            <a:pPr marL="0" indent="0">
              <a:buNone/>
            </a:pPr>
            <a:endParaRPr lang="en-US" altLang="ko-KR" sz="900" dirty="0"/>
          </a:p>
          <a:p>
            <a:pPr marL="0" indent="0">
              <a:buNone/>
            </a:pPr>
            <a:endParaRPr lang="en-US" altLang="ko-KR" sz="900" dirty="0"/>
          </a:p>
          <a:p>
            <a:pPr marL="0" indent="0">
              <a:buNone/>
            </a:pPr>
            <a:endParaRPr lang="en-US" altLang="ko-KR" sz="900" dirty="0"/>
          </a:p>
          <a:p>
            <a:pPr marL="0" indent="0">
              <a:buNone/>
            </a:pPr>
            <a:endParaRPr lang="en-US" altLang="ko-KR" sz="900" dirty="0"/>
          </a:p>
          <a:p>
            <a:pPr marL="0" indent="0">
              <a:buNone/>
            </a:pPr>
            <a:endParaRPr lang="en-US" altLang="ko-KR" sz="900" dirty="0"/>
          </a:p>
          <a:p>
            <a:pPr marL="0" indent="0">
              <a:buNone/>
            </a:pPr>
            <a:r>
              <a:rPr lang="en-US" altLang="ko-KR" sz="900" dirty="0"/>
              <a:t>TOPIC</a:t>
            </a:r>
            <a:r>
              <a:rPr lang="ko-KR" altLang="en-US" sz="900" dirty="0"/>
              <a:t>을 조회</a:t>
            </a:r>
            <a:r>
              <a:rPr lang="en-US" altLang="ko-KR" sz="900" dirty="0"/>
              <a:t>, </a:t>
            </a:r>
            <a:r>
              <a:rPr lang="ko-KR" altLang="en-US" sz="900" dirty="0"/>
              <a:t>생성</a:t>
            </a:r>
            <a:r>
              <a:rPr lang="en-US" altLang="ko-KR" sz="900" dirty="0"/>
              <a:t>,</a:t>
            </a:r>
            <a:r>
              <a:rPr lang="ko-KR" altLang="en-US" sz="900" dirty="0"/>
              <a:t> 수정</a:t>
            </a:r>
            <a:r>
              <a:rPr lang="en-US" altLang="ko-KR" sz="900" dirty="0"/>
              <a:t>,</a:t>
            </a:r>
            <a:r>
              <a:rPr lang="ko-KR" altLang="en-US" sz="900" dirty="0"/>
              <a:t> 삭제 할 수 있다</a:t>
            </a:r>
            <a:r>
              <a:rPr lang="en-US" altLang="ko-KR" sz="900" dirty="0"/>
              <a:t>. </a:t>
            </a:r>
            <a:r>
              <a:rPr lang="ko-KR" altLang="en-US" sz="900" dirty="0"/>
              <a:t>수정 삭제가 가능하니 사용시 주의해야 한다</a:t>
            </a:r>
            <a:r>
              <a:rPr lang="en-US" altLang="ko-KR" sz="900" dirty="0"/>
              <a:t>.</a:t>
            </a:r>
          </a:p>
          <a:p>
            <a:pPr marL="0" indent="0">
              <a:buNone/>
            </a:pPr>
            <a:endParaRPr lang="en-US" altLang="ko-KR" sz="900" dirty="0"/>
          </a:p>
          <a:p>
            <a:pPr marL="0" indent="0">
              <a:buNone/>
            </a:pPr>
            <a:endParaRPr lang="en-US" altLang="ko-KR" sz="9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552" y="4012862"/>
            <a:ext cx="6912768" cy="208043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744" y="1484785"/>
            <a:ext cx="6866284" cy="23654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51107" y="2420888"/>
            <a:ext cx="17104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/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TOPIC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목록 조회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51107" y="4746630"/>
            <a:ext cx="17104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/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TOPIC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상세 조회</a:t>
            </a:r>
          </a:p>
        </p:txBody>
      </p:sp>
    </p:spTree>
    <p:extLst>
      <p:ext uri="{BB962C8B-B14F-4D97-AF65-F5344CB8AC3E}">
        <p14:creationId xmlns:p14="http://schemas.microsoft.com/office/powerpoint/2010/main" val="2171750092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/>
          <p:cNvSpPr/>
          <p:nvPr/>
        </p:nvSpPr>
        <p:spPr>
          <a:xfrm>
            <a:off x="3800872" y="1844824"/>
            <a:ext cx="2448272" cy="388843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Ins="28800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7057373" y="1844824"/>
            <a:ext cx="2448272" cy="388843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Ins="28800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416496" y="1844824"/>
            <a:ext cx="2448272" cy="388843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Ins="28800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148" name="제목 1"/>
          <p:cNvSpPr>
            <a:spLocks noGrp="1"/>
          </p:cNvSpPr>
          <p:nvPr>
            <p:ph type="title"/>
          </p:nvPr>
        </p:nvSpPr>
        <p:spPr>
          <a:xfrm>
            <a:off x="344488" y="152400"/>
            <a:ext cx="9307512" cy="360363"/>
          </a:xfrm>
          <a:ln/>
        </p:spPr>
        <p:txBody>
          <a:bodyPr/>
          <a:lstStyle/>
          <a:p>
            <a:r>
              <a:rPr lang="en-US" altLang="ko-KR" dirty="0" smtClean="0"/>
              <a:t>3.2 </a:t>
            </a:r>
            <a:r>
              <a:rPr lang="en-US" altLang="ko-KR" dirty="0"/>
              <a:t>ELK</a:t>
            </a:r>
            <a:r>
              <a:rPr lang="ko-KR" altLang="en-US" dirty="0"/>
              <a:t>를 이용한 로그 수집</a:t>
            </a:r>
          </a:p>
        </p:txBody>
      </p:sp>
      <p:sp>
        <p:nvSpPr>
          <p:cNvPr id="6149" name="내용 개체 틀 2"/>
          <p:cNvSpPr>
            <a:spLocks noGrp="1"/>
          </p:cNvSpPr>
          <p:nvPr>
            <p:ph idx="1"/>
          </p:nvPr>
        </p:nvSpPr>
        <p:spPr>
          <a:xfrm>
            <a:off x="458788" y="836613"/>
            <a:ext cx="9193212" cy="576262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ko-KR" sz="1800" dirty="0"/>
              <a:t>KAFKA</a:t>
            </a:r>
            <a:r>
              <a:rPr lang="ko-KR" altLang="en-US" sz="1800" dirty="0"/>
              <a:t>와 </a:t>
            </a:r>
            <a:r>
              <a:rPr lang="en-US" altLang="ko-KR" sz="1800" dirty="0"/>
              <a:t>ELK</a:t>
            </a:r>
            <a:r>
              <a:rPr lang="ko-KR" altLang="en-US" sz="1800" dirty="0"/>
              <a:t>를 조합해서 파일에 저장되어 있는 로그 정보를 수집</a:t>
            </a:r>
            <a:endParaRPr lang="en-US" altLang="ko-KR" sz="1800" dirty="0"/>
          </a:p>
          <a:p>
            <a:pPr>
              <a:buFontTx/>
              <a:buChar char="•"/>
            </a:pPr>
            <a:r>
              <a:rPr lang="en-US" altLang="ko-KR" sz="1800" dirty="0"/>
              <a:t>3</a:t>
            </a:r>
            <a:r>
              <a:rPr lang="ko-KR" altLang="en-US" sz="1800" dirty="0"/>
              <a:t>개의 </a:t>
            </a:r>
            <a:r>
              <a:rPr lang="en-US" altLang="ko-KR" sz="1800" dirty="0" err="1"/>
              <a:t>docker</a:t>
            </a:r>
            <a:r>
              <a:rPr lang="en-US" altLang="ko-KR" sz="1800" dirty="0"/>
              <a:t> compose </a:t>
            </a:r>
            <a:r>
              <a:rPr lang="ko-KR" altLang="en-US" sz="1800" dirty="0"/>
              <a:t>파일을 생성해서 </a:t>
            </a:r>
            <a:r>
              <a:rPr lang="en-US" altLang="ko-KR" sz="1800" dirty="0"/>
              <a:t>Hands On</a:t>
            </a:r>
            <a:r>
              <a:rPr lang="ko-KR" altLang="en-US" sz="1800" dirty="0"/>
              <a:t>을 한다</a:t>
            </a:r>
            <a:r>
              <a:rPr lang="en-US" altLang="ko-KR" sz="1800" dirty="0"/>
              <a:t>.</a:t>
            </a:r>
          </a:p>
          <a:p>
            <a:pPr>
              <a:buFontTx/>
              <a:buChar char="•"/>
            </a:pPr>
            <a:endParaRPr lang="en-US" altLang="ko-KR" sz="18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</p:txBody>
      </p:sp>
      <p:sp>
        <p:nvSpPr>
          <p:cNvPr id="2" name="직사각형 1"/>
          <p:cNvSpPr/>
          <p:nvPr/>
        </p:nvSpPr>
        <p:spPr>
          <a:xfrm>
            <a:off x="7365064" y="2060896"/>
            <a:ext cx="1836000" cy="43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Ins="288000"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kibana</a:t>
            </a:r>
            <a:endParaRPr lang="ko-KR" altLang="en-US" dirty="0" err="1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365064" y="3537060"/>
            <a:ext cx="1836000" cy="43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Ins="28800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Elastic Search</a:t>
            </a:r>
            <a:endParaRPr lang="ko-KR" altLang="en-US" dirty="0" err="1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7365064" y="5013224"/>
            <a:ext cx="1836000" cy="43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Ins="28800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Log Stash</a:t>
            </a:r>
            <a:endParaRPr lang="ko-KR" altLang="en-US" dirty="0" err="1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704528" y="2060896"/>
            <a:ext cx="1836000" cy="43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Web Application</a:t>
            </a:r>
            <a:endParaRPr lang="ko-KR" altLang="en-US" dirty="0" err="1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704528" y="5013224"/>
            <a:ext cx="1836000" cy="43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Ins="28800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File Beats</a:t>
            </a:r>
            <a:endParaRPr lang="ko-KR" altLang="en-US" dirty="0" err="1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순서도: 문서 2"/>
          <p:cNvSpPr/>
          <p:nvPr/>
        </p:nvSpPr>
        <p:spPr>
          <a:xfrm>
            <a:off x="1190480" y="3285032"/>
            <a:ext cx="864096" cy="792088"/>
          </a:xfrm>
          <a:prstGeom prst="flowChartDocumen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Ins="28800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63721" y="4026857"/>
            <a:ext cx="11176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/>
            <a:r>
              <a:rPr lang="en-US" altLang="ko-KR" dirty="0" err="1">
                <a:latin typeface="맑은 고딕" pitchFamily="50" charset="-127"/>
                <a:ea typeface="맑은 고딕" pitchFamily="50" charset="-127"/>
              </a:rPr>
              <a:t>access.log</a:t>
            </a:r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4580" name="Picture 4" descr="kafk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40" b="17240"/>
          <a:stretch/>
        </p:blipFill>
        <p:spPr bwMode="auto">
          <a:xfrm>
            <a:off x="4104240" y="3069008"/>
            <a:ext cx="1892672" cy="124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직선 화살표 연결선 9"/>
          <p:cNvCxnSpPr>
            <a:stCxn id="8" idx="2"/>
            <a:endCxn id="3" idx="0"/>
          </p:cNvCxnSpPr>
          <p:nvPr/>
        </p:nvCxnSpPr>
        <p:spPr>
          <a:xfrm>
            <a:off x="1622528" y="2492896"/>
            <a:ext cx="0" cy="7921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>
            <a:stCxn id="4" idx="2"/>
            <a:endCxn id="9" idx="0"/>
          </p:cNvCxnSpPr>
          <p:nvPr/>
        </p:nvCxnSpPr>
        <p:spPr>
          <a:xfrm>
            <a:off x="1622528" y="4365411"/>
            <a:ext cx="0" cy="64781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>
            <a:stCxn id="9" idx="3"/>
            <a:endCxn id="24580" idx="1"/>
          </p:cNvCxnSpPr>
          <p:nvPr/>
        </p:nvCxnSpPr>
        <p:spPr>
          <a:xfrm flipV="1">
            <a:off x="2540528" y="3689040"/>
            <a:ext cx="1563712" cy="154018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>
            <a:stCxn id="24580" idx="3"/>
            <a:endCxn id="7" idx="1"/>
          </p:cNvCxnSpPr>
          <p:nvPr/>
        </p:nvCxnSpPr>
        <p:spPr>
          <a:xfrm>
            <a:off x="5996912" y="3689040"/>
            <a:ext cx="1368152" cy="154018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>
            <a:stCxn id="7" idx="0"/>
            <a:endCxn id="6" idx="2"/>
          </p:cNvCxnSpPr>
          <p:nvPr/>
        </p:nvCxnSpPr>
        <p:spPr>
          <a:xfrm flipV="1">
            <a:off x="8283064" y="3969060"/>
            <a:ext cx="0" cy="104416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>
            <a:stCxn id="6" idx="0"/>
            <a:endCxn id="2" idx="2"/>
          </p:cNvCxnSpPr>
          <p:nvPr/>
        </p:nvCxnSpPr>
        <p:spPr>
          <a:xfrm flipV="1">
            <a:off x="8283064" y="2492896"/>
            <a:ext cx="0" cy="104416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76536" y="5769260"/>
            <a:ext cx="17111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/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Log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생성 </a:t>
            </a:r>
            <a:r>
              <a:rPr lang="en-US" altLang="ko-KR" dirty="0" err="1">
                <a:latin typeface="맑은 고딕" pitchFamily="50" charset="-127"/>
                <a:ea typeface="맑은 고딕" pitchFamily="50" charset="-127"/>
              </a:rPr>
              <a:t>docker</a:t>
            </a:r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704070" y="5769260"/>
            <a:ext cx="12093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/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ELK </a:t>
            </a:r>
            <a:r>
              <a:rPr lang="en-US" altLang="ko-KR" dirty="0" err="1">
                <a:latin typeface="맑은 고딕" pitchFamily="50" charset="-127"/>
                <a:ea typeface="맑은 고딕" pitchFamily="50" charset="-127"/>
              </a:rPr>
              <a:t>docker</a:t>
            </a:r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016896" y="5769260"/>
            <a:ext cx="21021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/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Kafka Cluster </a:t>
            </a:r>
            <a:r>
              <a:rPr lang="en-US" altLang="ko-KR" dirty="0" err="1">
                <a:latin typeface="맑은 고딕" pitchFamily="50" charset="-127"/>
                <a:ea typeface="맑은 고딕" pitchFamily="50" charset="-127"/>
              </a:rPr>
              <a:t>docker</a:t>
            </a:r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4305080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제목 1"/>
          <p:cNvSpPr>
            <a:spLocks noGrp="1"/>
          </p:cNvSpPr>
          <p:nvPr>
            <p:ph type="title"/>
          </p:nvPr>
        </p:nvSpPr>
        <p:spPr>
          <a:xfrm>
            <a:off x="344488" y="152400"/>
            <a:ext cx="9307512" cy="360363"/>
          </a:xfrm>
          <a:ln/>
        </p:spPr>
        <p:txBody>
          <a:bodyPr/>
          <a:lstStyle/>
          <a:p>
            <a:r>
              <a:rPr lang="en-US" altLang="ko-KR" dirty="0" smtClean="0"/>
              <a:t>3.2 </a:t>
            </a:r>
            <a:r>
              <a:rPr lang="en-US" altLang="ko-KR" dirty="0"/>
              <a:t>ELK</a:t>
            </a:r>
            <a:r>
              <a:rPr lang="ko-KR" altLang="en-US" dirty="0"/>
              <a:t>를 이용한 로그 수집</a:t>
            </a:r>
          </a:p>
        </p:txBody>
      </p:sp>
      <p:sp>
        <p:nvSpPr>
          <p:cNvPr id="6149" name="내용 개체 틀 2"/>
          <p:cNvSpPr>
            <a:spLocks noGrp="1"/>
          </p:cNvSpPr>
          <p:nvPr>
            <p:ph idx="1"/>
          </p:nvPr>
        </p:nvSpPr>
        <p:spPr>
          <a:xfrm>
            <a:off x="458788" y="836613"/>
            <a:ext cx="9193212" cy="576262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ko-KR" sz="1800" dirty="0"/>
              <a:t>KAFKA Cluster Docker</a:t>
            </a:r>
            <a:r>
              <a:rPr lang="ko-KR" altLang="en-US" sz="1800" dirty="0"/>
              <a:t>를 먼저 실행 시킨다 </a:t>
            </a:r>
            <a:r>
              <a:rPr lang="en-US" altLang="ko-KR" sz="1800" dirty="0"/>
              <a:t>(</a:t>
            </a:r>
            <a:r>
              <a:rPr lang="ko-KR" altLang="en-US" sz="1800" dirty="0"/>
              <a:t>앞서 생성한 </a:t>
            </a:r>
            <a:r>
              <a:rPr lang="en-US" altLang="ko-KR" sz="1800" dirty="0"/>
              <a:t>compose </a:t>
            </a:r>
            <a:r>
              <a:rPr lang="ko-KR" altLang="en-US" sz="1800" dirty="0"/>
              <a:t>재사용</a:t>
            </a:r>
            <a:r>
              <a:rPr lang="en-US" altLang="ko-KR" sz="1800" dirty="0"/>
              <a:t>)</a:t>
            </a:r>
          </a:p>
          <a:p>
            <a:pPr>
              <a:buFontTx/>
              <a:buChar char="•"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# KAFKA Cluster + </a:t>
            </a:r>
            <a:r>
              <a:rPr lang="en-US" altLang="ko-KR" sz="1000" dirty="0" err="1"/>
              <a:t>AKHQ</a:t>
            </a:r>
            <a:r>
              <a:rPr lang="en-US" altLang="ko-KR" sz="1000" dirty="0"/>
              <a:t> </a:t>
            </a:r>
            <a:r>
              <a:rPr lang="en-US" altLang="ko-KR" sz="1000" dirty="0" err="1"/>
              <a:t>docker</a:t>
            </a:r>
            <a:r>
              <a:rPr lang="en-US" altLang="ko-KR" sz="1000" dirty="0"/>
              <a:t> </a:t>
            </a:r>
            <a:r>
              <a:rPr lang="ko-KR" altLang="en-US" sz="1000" dirty="0"/>
              <a:t>실행 </a:t>
            </a:r>
            <a:r>
              <a:rPr lang="en-US" altLang="ko-KR" sz="1000" dirty="0"/>
              <a:t>: </a:t>
            </a:r>
            <a:r>
              <a:rPr lang="en-US" altLang="ko-KR" sz="1000" dirty="0" err="1"/>
              <a:t>docker</a:t>
            </a:r>
            <a:r>
              <a:rPr lang="ko-KR" altLang="en-US" sz="1000" dirty="0"/>
              <a:t>를 </a:t>
            </a:r>
            <a:r>
              <a:rPr lang="ko-KR" altLang="en-US" sz="1000" dirty="0" err="1"/>
              <a:t>여러개</a:t>
            </a:r>
            <a:r>
              <a:rPr lang="ko-KR" altLang="en-US" sz="1000" dirty="0"/>
              <a:t> 실행해야 하는 관계로 </a:t>
            </a:r>
            <a:r>
              <a:rPr lang="en-US" altLang="ko-KR" sz="1000" dirty="0"/>
              <a:t>-d </a:t>
            </a:r>
            <a:r>
              <a:rPr lang="ko-KR" altLang="en-US" sz="1000" dirty="0"/>
              <a:t>옵션을 이용해서 </a:t>
            </a:r>
            <a:r>
              <a:rPr lang="en-US" altLang="ko-KR" sz="1000" dirty="0"/>
              <a:t>background</a:t>
            </a:r>
            <a:r>
              <a:rPr lang="ko-KR" altLang="en-US" sz="1000" dirty="0"/>
              <a:t>로 실행</a:t>
            </a: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# </a:t>
            </a:r>
            <a:r>
              <a:rPr lang="ko-KR" altLang="en-US" sz="1000" dirty="0"/>
              <a:t>실시간 로그를 보고 싶으면 여러 터미널을 열어서 </a:t>
            </a:r>
            <a:r>
              <a:rPr lang="en-US" altLang="ko-KR" sz="1000" dirty="0"/>
              <a:t>-d </a:t>
            </a:r>
            <a:r>
              <a:rPr lang="ko-KR" altLang="en-US" sz="1000" dirty="0"/>
              <a:t>없이 실행</a:t>
            </a: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cd /home/user/Desktop/materials </a:t>
            </a:r>
          </a:p>
          <a:p>
            <a:pPr marL="0" indent="0">
              <a:buNone/>
            </a:pPr>
            <a:r>
              <a:rPr lang="en-US" altLang="ko-KR" sz="1000" dirty="0" err="1"/>
              <a:t>sudo</a:t>
            </a:r>
            <a:r>
              <a:rPr lang="en-US" altLang="ko-KR" sz="1000" dirty="0"/>
              <a:t> </a:t>
            </a:r>
            <a:r>
              <a:rPr lang="en-US" altLang="ko-KR" sz="1000" dirty="0" err="1"/>
              <a:t>docker</a:t>
            </a:r>
            <a:r>
              <a:rPr lang="en-US" altLang="ko-KR" sz="1000" dirty="0"/>
              <a:t> compose -f </a:t>
            </a:r>
            <a:r>
              <a:rPr lang="en-US" altLang="ko-KR" sz="1000" dirty="0" err="1"/>
              <a:t>docker</a:t>
            </a:r>
            <a:r>
              <a:rPr lang="en-US" altLang="ko-KR" sz="1000" dirty="0"/>
              <a:t>-compose-</a:t>
            </a:r>
            <a:r>
              <a:rPr lang="en-US" altLang="ko-KR" sz="1000" dirty="0" err="1"/>
              <a:t>akhq.yml</a:t>
            </a:r>
            <a:r>
              <a:rPr lang="en-US" altLang="ko-KR" sz="1000" dirty="0"/>
              <a:t> up -d</a:t>
            </a:r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# </a:t>
            </a:r>
            <a:r>
              <a:rPr lang="ko-KR" altLang="en-US" sz="1000" dirty="0"/>
              <a:t>로그</a:t>
            </a:r>
            <a:r>
              <a:rPr lang="en-US" altLang="ko-KR" sz="1000" dirty="0"/>
              <a:t> </a:t>
            </a:r>
            <a:r>
              <a:rPr lang="ko-KR" altLang="en-US" sz="1000" dirty="0"/>
              <a:t>수집용 </a:t>
            </a:r>
            <a:r>
              <a:rPr lang="en-US" altLang="ko-KR" sz="1000" dirty="0"/>
              <a:t>TOPIC</a:t>
            </a:r>
            <a:r>
              <a:rPr lang="ko-KR" altLang="en-US" sz="1000" dirty="0"/>
              <a:t>을 생성한다</a:t>
            </a:r>
            <a:r>
              <a:rPr lang="en-US" altLang="ko-KR" sz="1000" dirty="0"/>
              <a:t>.</a:t>
            </a:r>
          </a:p>
          <a:p>
            <a:pPr marL="0" indent="0">
              <a:buNone/>
            </a:pPr>
            <a:r>
              <a:rPr lang="en-US" altLang="ko-KR" sz="1000" dirty="0"/>
              <a:t>cd /opt/</a:t>
            </a:r>
            <a:r>
              <a:rPr lang="en-US" altLang="ko-KR" sz="1000" dirty="0" err="1"/>
              <a:t>kafka</a:t>
            </a: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bin/</a:t>
            </a:r>
            <a:r>
              <a:rPr lang="en-US" altLang="ko-KR" sz="1000" dirty="0" err="1"/>
              <a:t>kafka-topics.sh</a:t>
            </a:r>
            <a:r>
              <a:rPr lang="en-US" altLang="ko-KR" sz="1000" dirty="0"/>
              <a:t> --create --partitions 2 --replication-factor 3 --topic </a:t>
            </a:r>
            <a:r>
              <a:rPr lang="en-US" altLang="ko-KR" sz="1000" dirty="0" err="1"/>
              <a:t>webapp</a:t>
            </a:r>
            <a:r>
              <a:rPr lang="en-US" altLang="ko-KR" sz="1000" dirty="0"/>
              <a:t>-logs --bootstrap-server </a:t>
            </a:r>
            <a:r>
              <a:rPr lang="en-US" altLang="ko-KR" sz="1000" dirty="0" err="1"/>
              <a:t>localhost:29092</a:t>
            </a: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# TOPIC </a:t>
            </a:r>
            <a:r>
              <a:rPr lang="ko-KR" altLang="en-US" sz="1000" dirty="0"/>
              <a:t>생성 결과 확인</a:t>
            </a: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bin/</a:t>
            </a:r>
            <a:r>
              <a:rPr lang="en-US" altLang="ko-KR" sz="1000" dirty="0" err="1"/>
              <a:t>kafka-topics.sh</a:t>
            </a:r>
            <a:r>
              <a:rPr lang="en-US" altLang="ko-KR" sz="1000" dirty="0"/>
              <a:t> --describe --topic </a:t>
            </a:r>
            <a:r>
              <a:rPr lang="en-US" altLang="ko-KR" sz="1000" dirty="0" err="1"/>
              <a:t>webapp</a:t>
            </a:r>
            <a:r>
              <a:rPr lang="en-US" altLang="ko-KR" sz="1000" dirty="0"/>
              <a:t>-logs --bootstrap-server </a:t>
            </a:r>
            <a:r>
              <a:rPr lang="en-US" altLang="ko-KR" sz="1000" dirty="0" err="1"/>
              <a:t>localhost:29092</a:t>
            </a: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# </a:t>
            </a:r>
            <a:r>
              <a:rPr lang="ko-KR" altLang="en-US" sz="1000" dirty="0"/>
              <a:t>아래와 같이 </a:t>
            </a:r>
            <a:r>
              <a:rPr lang="en-US" altLang="ko-KR" sz="1000" dirty="0"/>
              <a:t>topic</a:t>
            </a:r>
            <a:r>
              <a:rPr lang="ko-KR" altLang="en-US" sz="1000" dirty="0"/>
              <a:t>이 </a:t>
            </a:r>
            <a:r>
              <a:rPr lang="ko-KR" altLang="en-US" sz="1000" dirty="0" err="1"/>
              <a:t>새성된</a:t>
            </a:r>
            <a:r>
              <a:rPr lang="ko-KR" altLang="en-US" sz="1000" dirty="0"/>
              <a:t> 것을 볼 수 있다</a:t>
            </a:r>
            <a:r>
              <a:rPr lang="en-US" altLang="ko-KR" sz="1000" dirty="0"/>
              <a:t>.</a:t>
            </a:r>
          </a:p>
          <a:p>
            <a:pPr marL="0" indent="0">
              <a:buNone/>
            </a:pPr>
            <a:r>
              <a:rPr lang="en-US" altLang="ko-KR" sz="1000" dirty="0"/>
              <a:t># 2</a:t>
            </a:r>
            <a:r>
              <a:rPr lang="ko-KR" altLang="en-US" sz="1000" dirty="0"/>
              <a:t>개의 </a:t>
            </a:r>
            <a:r>
              <a:rPr lang="en-US" altLang="ko-KR" sz="1000" dirty="0" err="1"/>
              <a:t>Parition</a:t>
            </a:r>
            <a:r>
              <a:rPr lang="en-US" altLang="ko-KR" sz="1000" dirty="0"/>
              <a:t> 0</a:t>
            </a:r>
            <a:r>
              <a:rPr lang="ko-KR" altLang="en-US" sz="1000" dirty="0"/>
              <a:t>과 </a:t>
            </a:r>
            <a:r>
              <a:rPr lang="en-US" altLang="ko-KR" sz="1000" dirty="0"/>
              <a:t>Partition 1</a:t>
            </a:r>
            <a:r>
              <a:rPr lang="ko-KR" altLang="en-US" sz="1000" dirty="0"/>
              <a:t>이 생성되었고 </a:t>
            </a:r>
            <a:r>
              <a:rPr lang="en-US" altLang="ko-KR" sz="1000" dirty="0"/>
              <a:t>Replication facto</a:t>
            </a:r>
            <a:r>
              <a:rPr lang="ko-KR" altLang="en-US" sz="1000" dirty="0"/>
              <a:t>에 의해 </a:t>
            </a:r>
            <a:r>
              <a:rPr lang="en-US" altLang="ko-KR" sz="1000" dirty="0"/>
              <a:t>3</a:t>
            </a:r>
            <a:r>
              <a:rPr lang="ko-KR" altLang="en-US" sz="1000" dirty="0"/>
              <a:t>곳에 복제 되고 있음을 보인다</a:t>
            </a:r>
            <a:r>
              <a:rPr lang="en-US" altLang="ko-KR" sz="1000" dirty="0"/>
              <a:t>.</a:t>
            </a:r>
          </a:p>
          <a:p>
            <a:pPr marL="0" indent="0">
              <a:buNone/>
            </a:pPr>
            <a:endParaRPr lang="en-US" altLang="ko-KR" sz="1000" dirty="0"/>
          </a:p>
        </p:txBody>
      </p:sp>
      <p:sp>
        <p:nvSpPr>
          <p:cNvPr id="11" name="직사각형 10"/>
          <p:cNvSpPr/>
          <p:nvPr/>
        </p:nvSpPr>
        <p:spPr>
          <a:xfrm>
            <a:off x="488504" y="4005064"/>
            <a:ext cx="8769448" cy="86177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user@kafkaedu:/opt/kafka$ bin/kafka-topics.sh --describe --topic webapp-logs --bootstrap-server localhost:29092</a:t>
            </a:r>
          </a:p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Topic: webapp-logs	TopicId: Wau-uUR4SjWCvnz1gxzCnw	PartitionCount: 2	ReplicationFactor: 3	Configs: min.insync.replicas=1,cleanup.policy=delete,retention.ms=86400000</a:t>
            </a:r>
          </a:p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	Topic: webapp-logs	Partition: 0	Leader: 5	Replicas: 5,6,4	Isr: 4,5,6	Elr: 	LastKnownElr: </a:t>
            </a:r>
          </a:p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	Topic: webapp-logs	Partition: 1	Leader: 6	Replicas: 6,4,5	Isr: 4,5,6	Elr: 	LastKnownElr: </a:t>
            </a:r>
          </a:p>
        </p:txBody>
      </p:sp>
    </p:spTree>
    <p:extLst>
      <p:ext uri="{BB962C8B-B14F-4D97-AF65-F5344CB8AC3E}">
        <p14:creationId xmlns:p14="http://schemas.microsoft.com/office/powerpoint/2010/main" val="172190927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제목 1"/>
          <p:cNvSpPr>
            <a:spLocks noGrp="1"/>
          </p:cNvSpPr>
          <p:nvPr>
            <p:ph type="title"/>
          </p:nvPr>
        </p:nvSpPr>
        <p:spPr>
          <a:xfrm>
            <a:off x="344488" y="152400"/>
            <a:ext cx="9307512" cy="360363"/>
          </a:xfrm>
          <a:ln/>
        </p:spPr>
        <p:txBody>
          <a:bodyPr/>
          <a:lstStyle/>
          <a:p>
            <a:r>
              <a:rPr lang="en-US" altLang="ko-KR" dirty="0" smtClean="0"/>
              <a:t>3.2 </a:t>
            </a:r>
            <a:r>
              <a:rPr lang="en-US" altLang="ko-KR" dirty="0"/>
              <a:t>ELK</a:t>
            </a:r>
            <a:r>
              <a:rPr lang="ko-KR" altLang="en-US" dirty="0"/>
              <a:t>를 이용한 로그 수집</a:t>
            </a:r>
          </a:p>
        </p:txBody>
      </p:sp>
      <p:sp>
        <p:nvSpPr>
          <p:cNvPr id="6149" name="내용 개체 틀 2"/>
          <p:cNvSpPr>
            <a:spLocks noGrp="1"/>
          </p:cNvSpPr>
          <p:nvPr>
            <p:ph idx="1"/>
          </p:nvPr>
        </p:nvSpPr>
        <p:spPr>
          <a:xfrm>
            <a:off x="458788" y="836613"/>
            <a:ext cx="9193212" cy="576262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ko-KR" sz="1600" dirty="0"/>
              <a:t>ELK DOCKER </a:t>
            </a:r>
            <a:r>
              <a:rPr lang="ko-KR" altLang="en-US" sz="1600" dirty="0"/>
              <a:t>생성 및 실행</a:t>
            </a:r>
            <a:endParaRPr lang="en-US" altLang="ko-KR" sz="900" dirty="0"/>
          </a:p>
          <a:p>
            <a:pPr>
              <a:buFontTx/>
              <a:buChar char="•"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ELK </a:t>
            </a:r>
            <a:r>
              <a:rPr lang="ko-KR" altLang="en-US" sz="1000" dirty="0"/>
              <a:t>설치를 위한 </a:t>
            </a:r>
            <a:r>
              <a:rPr lang="en-US" altLang="ko-KR" sz="1000" dirty="0" err="1"/>
              <a:t>docker</a:t>
            </a:r>
            <a:r>
              <a:rPr lang="en-US" altLang="ko-KR" sz="1000" dirty="0"/>
              <a:t> compose</a:t>
            </a:r>
            <a:r>
              <a:rPr lang="ko-KR" altLang="en-US" sz="1000" dirty="0"/>
              <a:t>는 </a:t>
            </a:r>
            <a:r>
              <a:rPr lang="en-US" altLang="ko-KR" sz="1000" dirty="0"/>
              <a:t>https://</a:t>
            </a:r>
            <a:r>
              <a:rPr lang="en-US" altLang="ko-KR" sz="1000" dirty="0" err="1"/>
              <a:t>github.com</a:t>
            </a:r>
            <a:r>
              <a:rPr lang="en-US" altLang="ko-KR" sz="1000" dirty="0"/>
              <a:t>/</a:t>
            </a:r>
            <a:r>
              <a:rPr lang="en-US" altLang="ko-KR" sz="1000" dirty="0" err="1"/>
              <a:t>deviantony</a:t>
            </a:r>
            <a:r>
              <a:rPr lang="en-US" altLang="ko-KR" sz="1000" dirty="0"/>
              <a:t>/</a:t>
            </a:r>
            <a:r>
              <a:rPr lang="en-US" altLang="ko-KR" sz="1000" dirty="0" err="1"/>
              <a:t>docker</a:t>
            </a:r>
            <a:r>
              <a:rPr lang="en-US" altLang="ko-KR" sz="1000" dirty="0"/>
              <a:t>-elk </a:t>
            </a:r>
            <a:r>
              <a:rPr lang="ko-KR" altLang="en-US" sz="1000" dirty="0"/>
              <a:t>에서 제공되고 있지만 본 </a:t>
            </a:r>
            <a:r>
              <a:rPr lang="en-US" altLang="ko-KR" sz="1000" dirty="0"/>
              <a:t>Hands On Lab</a:t>
            </a:r>
            <a:r>
              <a:rPr lang="ko-KR" altLang="en-US" sz="1000" dirty="0"/>
              <a:t>에 맞추기 위해 수정하였다</a:t>
            </a:r>
            <a:r>
              <a:rPr lang="en-US" altLang="ko-KR" sz="1000" dirty="0"/>
              <a:t>.</a:t>
            </a:r>
          </a:p>
          <a:p>
            <a:pPr marL="0" indent="0">
              <a:buNone/>
            </a:pPr>
            <a:r>
              <a:rPr lang="ko-KR" altLang="en-US" sz="1000" dirty="0"/>
              <a:t>위치 </a:t>
            </a:r>
            <a:r>
              <a:rPr lang="en-US" altLang="ko-KR" sz="1000" dirty="0"/>
              <a:t>: /home/user/Desktop/materials/</a:t>
            </a:r>
          </a:p>
          <a:p>
            <a:pPr marL="0" indent="0">
              <a:buNone/>
            </a:pPr>
            <a:endParaRPr lang="en-US" altLang="ko-KR" sz="1000" dirty="0"/>
          </a:p>
          <a:p>
            <a:r>
              <a:rPr lang="en-US" altLang="ko-KR" sz="1600" dirty="0"/>
              <a:t>ELK DOCKER </a:t>
            </a:r>
            <a:r>
              <a:rPr lang="ko-KR" altLang="en-US" sz="1600" dirty="0"/>
              <a:t>의 </a:t>
            </a:r>
            <a:r>
              <a:rPr lang="en-US" altLang="ko-KR" sz="1600" dirty="0"/>
              <a:t>compose </a:t>
            </a:r>
            <a:r>
              <a:rPr lang="ko-KR" altLang="en-US" sz="1600" dirty="0"/>
              <a:t>파일 주요 수정 사항</a:t>
            </a:r>
            <a:endParaRPr lang="en-US" altLang="ko-KR" sz="1600" dirty="0"/>
          </a:p>
          <a:p>
            <a:pPr lvl="1"/>
            <a:r>
              <a:rPr lang="ko-KR" altLang="en-US" sz="1100" dirty="0"/>
              <a:t>상용 </a:t>
            </a:r>
            <a:r>
              <a:rPr lang="ko-KR" altLang="en-US" sz="1100" dirty="0" err="1"/>
              <a:t>라이센스</a:t>
            </a:r>
            <a:r>
              <a:rPr lang="ko-KR" altLang="en-US" sz="1100" dirty="0"/>
              <a:t> 제거 </a:t>
            </a:r>
            <a:r>
              <a:rPr lang="en-US" altLang="ko-KR" sz="1100" dirty="0"/>
              <a:t>: XPATH</a:t>
            </a:r>
            <a:r>
              <a:rPr lang="ko-KR" altLang="en-US" sz="1100" dirty="0"/>
              <a:t>는 상용 라이선스로 </a:t>
            </a:r>
            <a:r>
              <a:rPr lang="en-US" altLang="ko-KR" sz="1100" dirty="0"/>
              <a:t>15</a:t>
            </a:r>
            <a:r>
              <a:rPr lang="ko-KR" altLang="en-US" sz="1100" dirty="0"/>
              <a:t>만 사용 가능해서 제거 </a:t>
            </a:r>
            <a:r>
              <a:rPr lang="en-US" altLang="ko-KR" sz="1100" dirty="0"/>
              <a:t>-&gt; LOG</a:t>
            </a:r>
            <a:r>
              <a:rPr lang="ko-KR" altLang="en-US" sz="1100" dirty="0"/>
              <a:t>에 일부 </a:t>
            </a:r>
            <a:r>
              <a:rPr lang="en-US" altLang="ko-KR" sz="1100" dirty="0"/>
              <a:t>WARN </a:t>
            </a:r>
            <a:r>
              <a:rPr lang="ko-KR" altLang="en-US" sz="1100" dirty="0"/>
              <a:t>발생함</a:t>
            </a:r>
            <a:endParaRPr lang="en-US" altLang="ko-KR" sz="1100" dirty="0"/>
          </a:p>
          <a:p>
            <a:pPr lvl="1"/>
            <a:r>
              <a:rPr lang="en-US" altLang="ko-KR" sz="1200" dirty="0" err="1"/>
              <a:t>LOGSTASH</a:t>
            </a:r>
            <a:r>
              <a:rPr lang="ko-KR" altLang="en-US" sz="1200" dirty="0"/>
              <a:t>를 파일 </a:t>
            </a:r>
            <a:r>
              <a:rPr lang="en-US" altLang="ko-KR" sz="1200" dirty="0"/>
              <a:t>READ </a:t>
            </a:r>
            <a:r>
              <a:rPr lang="ko-KR" altLang="en-US" sz="1200" dirty="0"/>
              <a:t>에서 </a:t>
            </a:r>
            <a:r>
              <a:rPr lang="en-US" altLang="ko-KR" sz="1200" dirty="0"/>
              <a:t>KAFKA</a:t>
            </a:r>
            <a:r>
              <a:rPr lang="ko-KR" altLang="en-US" sz="1200" dirty="0"/>
              <a:t>의 </a:t>
            </a:r>
            <a:r>
              <a:rPr lang="en-US" altLang="ko-KR" sz="1200" dirty="0" err="1"/>
              <a:t>webapp</a:t>
            </a:r>
            <a:r>
              <a:rPr lang="en-US" altLang="ko-KR" sz="1200" dirty="0"/>
              <a:t>-logs TOPIC</a:t>
            </a:r>
            <a:r>
              <a:rPr lang="ko-KR" altLang="en-US" sz="1200" dirty="0"/>
              <a:t>을 읽도록 수정</a:t>
            </a:r>
            <a:endParaRPr lang="en-US" altLang="ko-KR" sz="1200" dirty="0"/>
          </a:p>
          <a:p>
            <a:pPr lvl="1"/>
            <a:r>
              <a:rPr lang="ko-KR" altLang="en-US" sz="1200" dirty="0"/>
              <a:t>다른 </a:t>
            </a:r>
            <a:r>
              <a:rPr lang="en-US" altLang="ko-KR" sz="1200" dirty="0"/>
              <a:t>DOCKER</a:t>
            </a:r>
            <a:r>
              <a:rPr lang="ko-KR" altLang="en-US" sz="1200" dirty="0"/>
              <a:t> </a:t>
            </a:r>
            <a:r>
              <a:rPr lang="en-US" altLang="ko-KR" sz="1200" dirty="0"/>
              <a:t>Container</a:t>
            </a:r>
            <a:r>
              <a:rPr lang="ko-KR" altLang="en-US" sz="1200" dirty="0"/>
              <a:t>와 통신을 위해 </a:t>
            </a:r>
            <a:r>
              <a:rPr lang="en-US" altLang="ko-KR" sz="1200" dirty="0"/>
              <a:t>network </a:t>
            </a:r>
            <a:r>
              <a:rPr lang="ko-KR" altLang="en-US" sz="1200" dirty="0"/>
              <a:t>정의를 </a:t>
            </a:r>
            <a:r>
              <a:rPr lang="en-US" altLang="ko-KR" sz="1200" dirty="0"/>
              <a:t>external </a:t>
            </a:r>
            <a:r>
              <a:rPr lang="ko-KR" altLang="en-US" sz="1200" dirty="0"/>
              <a:t>로 변경 </a:t>
            </a:r>
            <a:r>
              <a:rPr lang="en-US" altLang="ko-KR" sz="1200" dirty="0"/>
              <a:t>(</a:t>
            </a:r>
            <a:r>
              <a:rPr lang="en-US" altLang="ko-KR" sz="1200" dirty="0" err="1"/>
              <a:t>kafka_handson</a:t>
            </a:r>
            <a:r>
              <a:rPr lang="en-US" altLang="ko-KR" sz="1200" dirty="0"/>
              <a:t>)</a:t>
            </a:r>
          </a:p>
          <a:p>
            <a:pPr lvl="1"/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# DOCKER  ELK </a:t>
            </a:r>
            <a:r>
              <a:rPr lang="ko-KR" altLang="en-US" sz="1000" dirty="0"/>
              <a:t>로 이동 </a:t>
            </a: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cd /home/user/Desktop/materials/</a:t>
            </a:r>
            <a:r>
              <a:rPr lang="en-US" altLang="ko-KR" sz="1000" dirty="0" err="1"/>
              <a:t>docker</a:t>
            </a:r>
            <a:r>
              <a:rPr lang="en-US" altLang="ko-KR" sz="1000" dirty="0"/>
              <a:t>-elk</a:t>
            </a:r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# elk </a:t>
            </a:r>
            <a:r>
              <a:rPr lang="ko-KR" altLang="en-US" sz="1000" dirty="0"/>
              <a:t>실행</a:t>
            </a: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 err="1"/>
              <a:t>sudo</a:t>
            </a:r>
            <a:r>
              <a:rPr lang="en-US" altLang="ko-KR" sz="1000" dirty="0"/>
              <a:t> </a:t>
            </a:r>
            <a:r>
              <a:rPr lang="en-US" altLang="ko-KR" sz="1000" dirty="0" err="1"/>
              <a:t>docker</a:t>
            </a:r>
            <a:r>
              <a:rPr lang="en-US" altLang="ko-KR" sz="1000" dirty="0"/>
              <a:t> compose -f </a:t>
            </a:r>
            <a:r>
              <a:rPr lang="en-US" altLang="ko-KR" sz="1000" dirty="0" err="1"/>
              <a:t>docker</a:t>
            </a:r>
            <a:r>
              <a:rPr lang="en-US" altLang="ko-KR" sz="1000" dirty="0"/>
              <a:t>-compose-</a:t>
            </a:r>
            <a:r>
              <a:rPr lang="en-US" altLang="ko-KR" sz="1000" dirty="0" err="1"/>
              <a:t>kafka</a:t>
            </a:r>
            <a:r>
              <a:rPr lang="en-US" altLang="ko-KR" sz="1000" dirty="0"/>
              <a:t>-</a:t>
            </a:r>
            <a:r>
              <a:rPr lang="en-US" altLang="ko-KR" sz="1000" dirty="0" err="1"/>
              <a:t>elk.yml</a:t>
            </a:r>
            <a:r>
              <a:rPr lang="en-US" altLang="ko-KR" sz="1000" dirty="0"/>
              <a:t> up</a:t>
            </a:r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# elk </a:t>
            </a:r>
            <a:r>
              <a:rPr lang="ko-KR" altLang="en-US" sz="1000" dirty="0"/>
              <a:t>실행 결과 </a:t>
            </a:r>
            <a:r>
              <a:rPr lang="en-US" altLang="ko-KR" sz="1000" dirty="0"/>
              <a:t>+ </a:t>
            </a:r>
            <a:r>
              <a:rPr lang="ko-KR" altLang="en-US" sz="1000" dirty="0"/>
              <a:t>이전 </a:t>
            </a:r>
            <a:r>
              <a:rPr lang="en-US" altLang="ko-KR" sz="1000" dirty="0" err="1"/>
              <a:t>kafka</a:t>
            </a:r>
            <a:r>
              <a:rPr lang="en-US" altLang="ko-KR" sz="1000" dirty="0"/>
              <a:t> cluster </a:t>
            </a:r>
            <a:r>
              <a:rPr lang="ko-KR" altLang="en-US" sz="1000" dirty="0"/>
              <a:t>실행 포함</a:t>
            </a:r>
            <a:endParaRPr lang="en-US" altLang="ko-KR" sz="1000" dirty="0"/>
          </a:p>
        </p:txBody>
      </p:sp>
      <p:sp>
        <p:nvSpPr>
          <p:cNvPr id="2" name="직사각형 1"/>
          <p:cNvSpPr/>
          <p:nvPr/>
        </p:nvSpPr>
        <p:spPr>
          <a:xfrm>
            <a:off x="488504" y="4365104"/>
            <a:ext cx="9241122" cy="189282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user@kafkaedu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:~/Desktop/materials/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docker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-elk$ 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sudo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docker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ps</a:t>
            </a:r>
            <a:endParaRPr lang="en-US" altLang="ko-KR" sz="9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marL="0" indent="0">
              <a:buNone/>
            </a:pP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CONTAINER ID   IMAGE                      COMMAND                  CREATED        STATUS               NAMES</a:t>
            </a:r>
          </a:p>
          <a:p>
            <a:pPr marL="0" indent="0">
              <a:buNone/>
            </a:pP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add416f8364b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  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docker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-elk-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kibana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    "/bin/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tini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-- /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usr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/l…"   20 hours ago   Up 2 hours           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docker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-elk-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kibana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-1</a:t>
            </a:r>
          </a:p>
          <a:p>
            <a:pPr marL="0" indent="0">
              <a:buNone/>
            </a:pP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c52b3f6d97e9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  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docker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-elk-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logstash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  "/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usr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/local/bin/dock…"   20 hours ago   Up 2 hours           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docker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-elk-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logstash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-1</a:t>
            </a:r>
          </a:p>
          <a:p>
            <a:pPr marL="0" indent="0">
              <a:buNone/>
            </a:pP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4abafbd3834b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  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docker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-elk-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elasticsearch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  "/bin/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tini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-- /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usr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/l…"   20 hours ago   Up 2 hours           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docker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-elk-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elasticsearch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-1</a:t>
            </a:r>
          </a:p>
          <a:p>
            <a:pPr marL="0" indent="0">
              <a:buNone/>
            </a:pP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4e956bc239c8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  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tchiotludo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/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akhq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      "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docker-entrypoint.s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…"   21 hours ago   Up 2 hours (healthy) 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akhq</a:t>
            </a:r>
            <a:endParaRPr lang="en-US" altLang="ko-KR" sz="9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marL="0" indent="0">
              <a:buNone/>
            </a:pP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4a3e3a9e895c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  apache/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kafka:latest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  "/__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cacert_entrypoin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…"   21 hours ago   Up 2 hours           broker-2</a:t>
            </a:r>
          </a:p>
          <a:p>
            <a:pPr marL="0" indent="0">
              <a:buNone/>
            </a:pP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cd1ac0760e67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  apache/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kafka:latest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  "/__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cacert_entrypoin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…"   21 hours ago   Up 2 hours           broker-3</a:t>
            </a:r>
          </a:p>
          <a:p>
            <a:pPr marL="0" indent="0">
              <a:buNone/>
            </a:pP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a61709fdf5d2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  apache/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kafka:latest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  "/__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cacert_entrypoin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…"   21 hours ago   Up 2 hours           broker-1</a:t>
            </a:r>
          </a:p>
          <a:p>
            <a:pPr marL="0" indent="0">
              <a:buNone/>
            </a:pP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0f6ebe2dab14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  apache/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kafka:latest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  "/__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cacert_entrypoin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…"   21 hours ago   Up 2 hours           controller-3</a:t>
            </a:r>
          </a:p>
          <a:p>
            <a:pPr marL="0" indent="0">
              <a:buNone/>
            </a:pP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0a455ac32b52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  apache/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kafka:latest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  "/__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cacert_entrypoin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…"   21 hours ago   Up 2 hours           controller-2</a:t>
            </a:r>
          </a:p>
          <a:p>
            <a:pPr marL="0" indent="0">
              <a:buNone/>
            </a:pP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126a7195a490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  apache/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kafka:latest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  "/__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cacert_entrypoin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…"   21 hours ago   Up 2 hours           controller-1</a:t>
            </a:r>
          </a:p>
          <a:p>
            <a:pPr marL="0" indent="0">
              <a:buNone/>
            </a:pP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user@kafkaedu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:~/Desktop/materials/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docker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-elk$ 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518922" y="4689522"/>
            <a:ext cx="8814692" cy="432048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Ins="28800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7205184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제목 1"/>
          <p:cNvSpPr>
            <a:spLocks noGrp="1"/>
          </p:cNvSpPr>
          <p:nvPr>
            <p:ph type="title"/>
          </p:nvPr>
        </p:nvSpPr>
        <p:spPr>
          <a:xfrm>
            <a:off x="344488" y="152400"/>
            <a:ext cx="9307512" cy="360363"/>
          </a:xfrm>
          <a:ln/>
        </p:spPr>
        <p:txBody>
          <a:bodyPr/>
          <a:lstStyle/>
          <a:p>
            <a:r>
              <a:rPr lang="en-US" altLang="ko-KR" dirty="0" smtClean="0"/>
              <a:t>3.2 </a:t>
            </a:r>
            <a:r>
              <a:rPr lang="en-US" altLang="ko-KR" dirty="0"/>
              <a:t>ELK</a:t>
            </a:r>
            <a:r>
              <a:rPr lang="ko-KR" altLang="en-US" dirty="0"/>
              <a:t>를 이용한 로그 수집</a:t>
            </a:r>
          </a:p>
        </p:txBody>
      </p:sp>
      <p:sp>
        <p:nvSpPr>
          <p:cNvPr id="6149" name="내용 개체 틀 2"/>
          <p:cNvSpPr>
            <a:spLocks noGrp="1"/>
          </p:cNvSpPr>
          <p:nvPr>
            <p:ph idx="1"/>
          </p:nvPr>
        </p:nvSpPr>
        <p:spPr>
          <a:xfrm>
            <a:off x="458788" y="836613"/>
            <a:ext cx="9193212" cy="576262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ko-KR" sz="1600" dirty="0" err="1"/>
              <a:t>LOGSTASH</a:t>
            </a:r>
            <a:r>
              <a:rPr lang="en-US" altLang="ko-KR" sz="1600" dirty="0"/>
              <a:t> </a:t>
            </a:r>
            <a:r>
              <a:rPr lang="ko-KR" altLang="en-US" sz="1600" dirty="0"/>
              <a:t>변경 사항 </a:t>
            </a:r>
            <a:r>
              <a:rPr lang="en-US" altLang="ko-KR" sz="1600" dirty="0"/>
              <a:t>(</a:t>
            </a:r>
            <a:r>
              <a:rPr lang="ko-KR" altLang="en-US" sz="1600" dirty="0"/>
              <a:t>사전 가상 </a:t>
            </a:r>
            <a:r>
              <a:rPr lang="ko-KR" altLang="en-US" sz="1600" dirty="0" err="1"/>
              <a:t>머신에</a:t>
            </a:r>
            <a:r>
              <a:rPr lang="ko-KR" altLang="en-US" sz="1600" dirty="0"/>
              <a:t> 변경 사항 반영되어 있음</a:t>
            </a:r>
            <a:r>
              <a:rPr lang="en-US" altLang="ko-KR" sz="1600" dirty="0"/>
              <a:t>)</a:t>
            </a:r>
          </a:p>
          <a:p>
            <a:pPr marL="0" indent="0">
              <a:buNone/>
            </a:pPr>
            <a:endParaRPr lang="en-US" altLang="ko-KR" sz="1000" dirty="0"/>
          </a:p>
          <a:p>
            <a:pPr lvl="1"/>
            <a:r>
              <a:rPr lang="en-US" altLang="ko-KR" sz="1000" dirty="0" err="1"/>
              <a:t>LOGSTASH</a:t>
            </a:r>
            <a:r>
              <a:rPr lang="ko-KR" altLang="en-US" sz="1000" dirty="0"/>
              <a:t>는 기본적으로 파일을 읽어서 </a:t>
            </a:r>
            <a:r>
              <a:rPr lang="en-US" altLang="ko-KR" sz="1000" dirty="0" err="1"/>
              <a:t>ELASTICSEARCH</a:t>
            </a:r>
            <a:r>
              <a:rPr lang="ko-KR" altLang="en-US" sz="1000" dirty="0"/>
              <a:t>에 정보를 전달하도록 설정되어 있음</a:t>
            </a:r>
            <a:endParaRPr lang="en-US" altLang="ko-KR" sz="1000" dirty="0"/>
          </a:p>
          <a:p>
            <a:pPr lvl="1"/>
            <a:r>
              <a:rPr lang="ko-KR" altLang="en-US" sz="1000" dirty="0"/>
              <a:t>이를 </a:t>
            </a:r>
            <a:r>
              <a:rPr lang="en-US" altLang="ko-KR" sz="1000" dirty="0"/>
              <a:t>KAFKA TOPIC</a:t>
            </a:r>
            <a:r>
              <a:rPr lang="ko-KR" altLang="en-US" sz="1000" dirty="0"/>
              <a:t>을 읽어서 </a:t>
            </a:r>
            <a:r>
              <a:rPr lang="en-US" altLang="ko-KR" sz="1000" dirty="0" err="1"/>
              <a:t>ELASTICSEARCH</a:t>
            </a:r>
            <a:r>
              <a:rPr lang="ko-KR" altLang="en-US" sz="1000" dirty="0"/>
              <a:t>로 전송하도록 설정 변경 필요</a:t>
            </a:r>
            <a:endParaRPr lang="en-US" altLang="ko-KR" sz="1000" dirty="0"/>
          </a:p>
          <a:p>
            <a:pPr lvl="1"/>
            <a:r>
              <a:rPr lang="ko-KR" altLang="en-US" sz="1000" dirty="0"/>
              <a:t>설정 파일 위치 및 내용</a:t>
            </a:r>
            <a:endParaRPr lang="en-US" altLang="ko-KR" sz="1000" dirty="0"/>
          </a:p>
          <a:p>
            <a:pPr lvl="1"/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cd /home/user/Desktop/materials/</a:t>
            </a:r>
            <a:r>
              <a:rPr lang="en-US" altLang="ko-KR" sz="1000" dirty="0" err="1"/>
              <a:t>docker</a:t>
            </a:r>
            <a:r>
              <a:rPr lang="en-US" altLang="ko-KR" sz="1000" dirty="0"/>
              <a:t>-elk/</a:t>
            </a:r>
            <a:r>
              <a:rPr lang="en-US" altLang="ko-KR" sz="1000" dirty="0" err="1"/>
              <a:t>logstash</a:t>
            </a:r>
            <a:r>
              <a:rPr lang="en-US" altLang="ko-KR" sz="1000" dirty="0"/>
              <a:t>/pipeline</a:t>
            </a:r>
          </a:p>
          <a:p>
            <a:pPr marL="0" indent="0">
              <a:buNone/>
            </a:pPr>
            <a:r>
              <a:rPr lang="en-US" altLang="ko-KR" sz="1000" dirty="0"/>
              <a:t>vi </a:t>
            </a:r>
            <a:r>
              <a:rPr lang="en-US" altLang="ko-KR" sz="1000" dirty="0" err="1"/>
              <a:t>logstash.conf</a:t>
            </a: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# </a:t>
            </a:r>
            <a:r>
              <a:rPr lang="en-US" altLang="ko-KR" sz="1000" dirty="0" err="1"/>
              <a:t>conf</a:t>
            </a:r>
            <a:r>
              <a:rPr lang="en-US" altLang="ko-KR" sz="1000" dirty="0"/>
              <a:t> </a:t>
            </a:r>
            <a:r>
              <a:rPr lang="ko-KR" altLang="en-US" sz="1000" dirty="0"/>
              <a:t>파일 </a:t>
            </a:r>
            <a:r>
              <a:rPr lang="ko-KR" altLang="en-US" sz="1000" dirty="0" err="1"/>
              <a:t>수정시</a:t>
            </a:r>
            <a:r>
              <a:rPr lang="ko-KR" altLang="en-US" sz="1000" dirty="0"/>
              <a:t> </a:t>
            </a:r>
            <a:r>
              <a:rPr lang="en-US" altLang="ko-KR" sz="1000" dirty="0" err="1"/>
              <a:t>logstash</a:t>
            </a:r>
            <a:r>
              <a:rPr lang="en-US" altLang="ko-KR" sz="1000" dirty="0"/>
              <a:t> </a:t>
            </a:r>
            <a:r>
              <a:rPr lang="ko-KR" altLang="en-US" sz="1000" dirty="0" err="1"/>
              <a:t>재기동</a:t>
            </a:r>
            <a:r>
              <a:rPr lang="ko-KR" altLang="en-US" sz="1000" dirty="0"/>
              <a:t> 필요</a:t>
            </a: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 err="1"/>
              <a:t>sudo</a:t>
            </a:r>
            <a:r>
              <a:rPr lang="en-US" altLang="ko-KR" sz="1000" dirty="0"/>
              <a:t> </a:t>
            </a:r>
            <a:r>
              <a:rPr lang="en-US" altLang="ko-KR" sz="1000" dirty="0" err="1"/>
              <a:t>docker</a:t>
            </a:r>
            <a:r>
              <a:rPr lang="en-US" altLang="ko-KR" sz="1000" dirty="0"/>
              <a:t> container restart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docker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-elk-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logstash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-1</a:t>
            </a:r>
            <a:endParaRPr lang="en-US" altLang="ko-KR" sz="1000" dirty="0"/>
          </a:p>
        </p:txBody>
      </p:sp>
      <p:sp>
        <p:nvSpPr>
          <p:cNvPr id="4" name="직사각형 3"/>
          <p:cNvSpPr/>
          <p:nvPr/>
        </p:nvSpPr>
        <p:spPr>
          <a:xfrm>
            <a:off x="4520952" y="2128495"/>
            <a:ext cx="4953000" cy="424731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## 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kafka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bootstrap server </a:t>
            </a:r>
            <a:r>
              <a:rPr lang="ko-KR" altLang="en-US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정보와 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consumer 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group_id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, topics </a:t>
            </a:r>
            <a:r>
              <a:rPr lang="ko-KR" altLang="en-US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정보 지정</a:t>
            </a:r>
            <a:endParaRPr lang="en-US" altLang="ko-KR" sz="9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ko-KR" altLang="en-US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input {</a:t>
            </a:r>
          </a:p>
          <a:p>
            <a:r>
              <a:rPr lang="ko-KR" altLang="en-US" sz="9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kafka {</a:t>
            </a:r>
          </a:p>
          <a:p>
            <a:r>
              <a:rPr lang="ko-KR" altLang="en-US" sz="9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bootstrap_servers =&gt; "broker-1:19092,broker-2:19092,broker-3:19092"</a:t>
            </a:r>
          </a:p>
          <a:p>
            <a:r>
              <a:rPr lang="ko-KR" altLang="en-US" sz="9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group_id =&gt; "logstash"</a:t>
            </a:r>
          </a:p>
          <a:p>
            <a:r>
              <a:rPr lang="ko-KR" altLang="en-US" sz="9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topics =&gt; [ "webapp-logs" ]</a:t>
            </a:r>
          </a:p>
          <a:p>
            <a:r>
              <a:rPr lang="ko-KR" altLang="en-US" sz="9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consumer_threads =&gt; 1</a:t>
            </a:r>
          </a:p>
          <a:p>
            <a:r>
              <a:rPr lang="ko-KR" altLang="en-US" sz="9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codec =&gt; json{}</a:t>
            </a:r>
          </a:p>
          <a:p>
            <a:r>
              <a:rPr lang="ko-KR" altLang="en-US" sz="9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}</a:t>
            </a:r>
          </a:p>
          <a:p>
            <a:r>
              <a:rPr lang="ko-KR" altLang="en-US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9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ko-KR" altLang="en-US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## Add your filters / logstash plugins configuration here</a:t>
            </a:r>
            <a:endParaRPr lang="en-US" altLang="ko-KR" sz="9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## 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logstash</a:t>
            </a:r>
            <a:r>
              <a:rPr lang="ko-KR" altLang="en-US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에 사전 정의 되어 있는 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APACHELOG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ko-KR" altLang="en-US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분석 기능 지정</a:t>
            </a:r>
          </a:p>
          <a:p>
            <a:r>
              <a:rPr lang="ko-KR" altLang="en-US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filter {</a:t>
            </a:r>
          </a:p>
          <a:p>
            <a:r>
              <a:rPr lang="ko-KR" altLang="en-US" sz="9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grok {</a:t>
            </a:r>
          </a:p>
          <a:p>
            <a:r>
              <a:rPr lang="ko-KR" altLang="en-US" sz="9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match =&gt; {</a:t>
            </a:r>
          </a:p>
          <a:p>
            <a:r>
              <a:rPr lang="ko-KR" altLang="en-US" sz="9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        "message" =&gt; "%{COMBINEDAPACHELOG}"</a:t>
            </a:r>
          </a:p>
          <a:p>
            <a:r>
              <a:rPr lang="ko-KR" altLang="en-US" sz="9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}</a:t>
            </a:r>
          </a:p>
          <a:p>
            <a:r>
              <a:rPr lang="ko-KR" altLang="en-US" sz="9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remove_field =&gt; "message"</a:t>
            </a:r>
          </a:p>
          <a:p>
            <a:r>
              <a:rPr lang="ko-KR" altLang="en-US" sz="9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}</a:t>
            </a:r>
          </a:p>
          <a:p>
            <a:r>
              <a:rPr lang="ko-KR" altLang="en-US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9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ko-KR" altLang="en-US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output {</a:t>
            </a:r>
          </a:p>
          <a:p>
            <a:r>
              <a:rPr lang="ko-KR" altLang="en-US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  elasticsearch {</a:t>
            </a:r>
          </a:p>
          <a:p>
            <a:r>
              <a:rPr lang="ko-KR" altLang="en-US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          hosts =&gt; "elasticsearch:9200"</a:t>
            </a:r>
          </a:p>
          <a:p>
            <a:r>
              <a:rPr lang="ko-KR" altLang="en-US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          user =&gt; "logstash_internal"</a:t>
            </a:r>
          </a:p>
          <a:p>
            <a:r>
              <a:rPr lang="ko-KR" altLang="en-US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	password =&gt; "${LOGSTASH_INTERNAL_PASSWORD}"</a:t>
            </a:r>
          </a:p>
          <a:p>
            <a:r>
              <a:rPr lang="ko-KR" altLang="en-US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          ecs_compatibility =&gt; disabled</a:t>
            </a:r>
          </a:p>
          <a:p>
            <a:r>
              <a:rPr lang="ko-KR" altLang="en-US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  }</a:t>
            </a:r>
          </a:p>
          <a:p>
            <a:r>
              <a:rPr lang="ko-KR" altLang="en-US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1562657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제목 1"/>
          <p:cNvSpPr>
            <a:spLocks noGrp="1"/>
          </p:cNvSpPr>
          <p:nvPr>
            <p:ph type="title"/>
          </p:nvPr>
        </p:nvSpPr>
        <p:spPr>
          <a:xfrm>
            <a:off x="344488" y="152400"/>
            <a:ext cx="9307512" cy="360363"/>
          </a:xfrm>
          <a:ln/>
        </p:spPr>
        <p:txBody>
          <a:bodyPr/>
          <a:lstStyle/>
          <a:p>
            <a:r>
              <a:rPr lang="en-US" altLang="ko-KR" dirty="0" smtClean="0"/>
              <a:t>3.3 </a:t>
            </a:r>
            <a:r>
              <a:rPr lang="en-US" altLang="ko-KR" dirty="0" err="1" smtClean="0"/>
              <a:t>FileBeats</a:t>
            </a:r>
            <a:r>
              <a:rPr lang="ko-KR" altLang="en-US" dirty="0" smtClean="0"/>
              <a:t>를 이용한 로그 생성</a:t>
            </a:r>
            <a:endParaRPr lang="ko-KR" altLang="en-US" dirty="0"/>
          </a:p>
        </p:txBody>
      </p:sp>
      <p:sp>
        <p:nvSpPr>
          <p:cNvPr id="6149" name="내용 개체 틀 2"/>
          <p:cNvSpPr>
            <a:spLocks noGrp="1"/>
          </p:cNvSpPr>
          <p:nvPr>
            <p:ph idx="1"/>
          </p:nvPr>
        </p:nvSpPr>
        <p:spPr>
          <a:xfrm>
            <a:off x="458788" y="836613"/>
            <a:ext cx="9193212" cy="576262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ko-KR" sz="1600" dirty="0"/>
              <a:t>Apache Log </a:t>
            </a:r>
            <a:r>
              <a:rPr lang="ko-KR" altLang="en-US" sz="1600" dirty="0"/>
              <a:t>파일 생성</a:t>
            </a:r>
            <a:endParaRPr lang="en-US" altLang="ko-KR" sz="1000" dirty="0"/>
          </a:p>
          <a:p>
            <a:pPr lvl="1"/>
            <a:r>
              <a:rPr lang="ko-KR" altLang="en-US" sz="1000" dirty="0"/>
              <a:t>가상의 </a:t>
            </a:r>
            <a:r>
              <a:rPr lang="en-US" altLang="ko-KR" sz="1000" dirty="0"/>
              <a:t>Apache Web Server</a:t>
            </a:r>
            <a:r>
              <a:rPr lang="ko-KR" altLang="en-US" sz="1000" dirty="0"/>
              <a:t>의 </a:t>
            </a:r>
            <a:r>
              <a:rPr lang="en-US" altLang="ko-KR" sz="1000" dirty="0"/>
              <a:t>dummy access </a:t>
            </a:r>
            <a:r>
              <a:rPr lang="ko-KR" altLang="en-US" sz="1000" dirty="0"/>
              <a:t>파일을 생성하는 프로그램을 이용해서 로그 발생 시킴</a:t>
            </a:r>
            <a:endParaRPr lang="en-US" altLang="ko-KR" sz="1000" dirty="0"/>
          </a:p>
          <a:p>
            <a:pPr lvl="1"/>
            <a:r>
              <a:rPr lang="ko-KR" altLang="en-US" sz="1000" dirty="0"/>
              <a:t>해당 파일을 </a:t>
            </a:r>
            <a:r>
              <a:rPr lang="en-US" altLang="ko-KR" sz="1000" dirty="0" err="1"/>
              <a:t>FileBeats</a:t>
            </a:r>
            <a:r>
              <a:rPr lang="ko-KR" altLang="en-US" sz="1000" dirty="0"/>
              <a:t>를 이용해서 </a:t>
            </a:r>
            <a:r>
              <a:rPr lang="en-US" altLang="ko-KR" sz="1000" dirty="0"/>
              <a:t>Kafka Topic</a:t>
            </a:r>
            <a:r>
              <a:rPr lang="ko-KR" altLang="en-US" sz="1000" dirty="0"/>
              <a:t>에 </a:t>
            </a:r>
            <a:r>
              <a:rPr lang="ko-KR" altLang="en-US" sz="1000" dirty="0" err="1"/>
              <a:t>메세지</a:t>
            </a:r>
            <a:r>
              <a:rPr lang="ko-KR" altLang="en-US" sz="1000" dirty="0"/>
              <a:t> 전송 </a:t>
            </a:r>
            <a:r>
              <a:rPr lang="en-US" altLang="ko-KR" sz="1000" dirty="0"/>
              <a:t>: </a:t>
            </a:r>
            <a:r>
              <a:rPr lang="en-US" altLang="ko-KR" sz="1000" dirty="0" err="1"/>
              <a:t>FileBeat</a:t>
            </a:r>
            <a:r>
              <a:rPr lang="ko-KR" altLang="en-US" sz="1000" dirty="0"/>
              <a:t>가 </a:t>
            </a:r>
            <a:r>
              <a:rPr lang="en-US" altLang="ko-KR" sz="1000" dirty="0"/>
              <a:t>Producer </a:t>
            </a:r>
            <a:r>
              <a:rPr lang="ko-KR" altLang="en-US" sz="1000" dirty="0"/>
              <a:t>역할 수행</a:t>
            </a:r>
            <a:endParaRPr lang="en-US" altLang="ko-KR" sz="1000" dirty="0"/>
          </a:p>
          <a:p>
            <a:pPr lvl="1"/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# </a:t>
            </a:r>
            <a:r>
              <a:rPr lang="ko-KR" altLang="en-US" sz="1000" dirty="0"/>
              <a:t>위치 이동</a:t>
            </a: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cd /home/user/Desktop/materials/</a:t>
            </a:r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# apache log </a:t>
            </a:r>
            <a:r>
              <a:rPr lang="ko-KR" altLang="en-US" sz="1000" dirty="0"/>
              <a:t>파일 생성 및 </a:t>
            </a:r>
            <a:r>
              <a:rPr lang="en-US" altLang="ko-KR" sz="1000" dirty="0" err="1"/>
              <a:t>filebeat</a:t>
            </a:r>
            <a:r>
              <a:rPr lang="en-US" altLang="ko-KR" sz="1000" dirty="0"/>
              <a:t> </a:t>
            </a:r>
            <a:r>
              <a:rPr lang="ko-KR" altLang="en-US" sz="1000" dirty="0"/>
              <a:t>처리하는 </a:t>
            </a:r>
            <a:r>
              <a:rPr lang="en-US" altLang="ko-KR" sz="1000" dirty="0" err="1"/>
              <a:t>docker</a:t>
            </a:r>
            <a:r>
              <a:rPr lang="en-US" altLang="ko-KR" sz="1000" dirty="0"/>
              <a:t> </a:t>
            </a:r>
            <a:r>
              <a:rPr lang="ko-KR" altLang="en-US" sz="1000" dirty="0"/>
              <a:t>실행</a:t>
            </a: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 err="1"/>
              <a:t>sudo</a:t>
            </a:r>
            <a:r>
              <a:rPr lang="en-US" altLang="ko-KR" sz="1000" dirty="0"/>
              <a:t> </a:t>
            </a:r>
            <a:r>
              <a:rPr lang="en-US" altLang="ko-KR" sz="1000" dirty="0" err="1"/>
              <a:t>docker</a:t>
            </a:r>
            <a:r>
              <a:rPr lang="en-US" altLang="ko-KR" sz="1000" dirty="0"/>
              <a:t> compose -f </a:t>
            </a:r>
            <a:r>
              <a:rPr lang="en-US" altLang="ko-KR" sz="1000" dirty="0" err="1"/>
              <a:t>docker</a:t>
            </a:r>
            <a:r>
              <a:rPr lang="en-US" altLang="ko-KR" sz="1000" dirty="0"/>
              <a:t>-compose-data-pipeline-</a:t>
            </a:r>
            <a:r>
              <a:rPr lang="en-US" altLang="ko-KR" sz="1000" dirty="0" err="1"/>
              <a:t>application.yml</a:t>
            </a:r>
            <a:r>
              <a:rPr lang="en-US" altLang="ko-KR" sz="1000" dirty="0"/>
              <a:t> up</a:t>
            </a:r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# </a:t>
            </a:r>
            <a:r>
              <a:rPr lang="ko-KR" altLang="en-US" sz="1000" dirty="0"/>
              <a:t>실행 결과</a:t>
            </a: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 err="1"/>
              <a:t>sudo</a:t>
            </a:r>
            <a:r>
              <a:rPr lang="en-US" altLang="ko-KR" sz="1000" dirty="0"/>
              <a:t> </a:t>
            </a:r>
            <a:r>
              <a:rPr lang="en-US" altLang="ko-KR" sz="1000" dirty="0" err="1"/>
              <a:t>docker</a:t>
            </a:r>
            <a:r>
              <a:rPr lang="en-US" altLang="ko-KR" sz="1000" dirty="0"/>
              <a:t> </a:t>
            </a:r>
            <a:r>
              <a:rPr lang="en-US" altLang="ko-KR" sz="1000" dirty="0" err="1"/>
              <a:t>ps</a:t>
            </a:r>
            <a:r>
              <a:rPr lang="en-US" altLang="ko-KR" sz="1000" dirty="0"/>
              <a:t> --format "table {{.ID}}\t{{.Image}}\t{{.Status}}\t{{.Names}}"</a:t>
            </a:r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# </a:t>
            </a:r>
            <a:r>
              <a:rPr lang="en-US" altLang="ko-KR" sz="1000" dirty="0" err="1"/>
              <a:t>docker</a:t>
            </a:r>
            <a:r>
              <a:rPr lang="en-US" altLang="ko-KR" sz="1000" dirty="0"/>
              <a:t> container </a:t>
            </a:r>
            <a:r>
              <a:rPr lang="ko-KR" altLang="en-US" sz="1000" dirty="0"/>
              <a:t>내부에 </a:t>
            </a:r>
            <a:r>
              <a:rPr lang="en-US" altLang="ko-KR" sz="1000" dirty="0"/>
              <a:t>login </a:t>
            </a:r>
            <a:r>
              <a:rPr lang="ko-KR" altLang="en-US" sz="1000" dirty="0"/>
              <a:t>해서 </a:t>
            </a:r>
            <a:r>
              <a:rPr lang="en-US" altLang="ko-KR" sz="1000" dirty="0" err="1"/>
              <a:t>FileBeats</a:t>
            </a:r>
            <a:r>
              <a:rPr lang="en-US" altLang="ko-KR" sz="1000" dirty="0"/>
              <a:t> </a:t>
            </a:r>
            <a:r>
              <a:rPr lang="ko-KR" altLang="en-US" sz="1000" dirty="0"/>
              <a:t>설정을 수정해야 한다</a:t>
            </a:r>
            <a:r>
              <a:rPr lang="en-US" altLang="ko-KR" sz="1000" dirty="0"/>
              <a:t>.</a:t>
            </a:r>
          </a:p>
          <a:p>
            <a:pPr marL="0" indent="0">
              <a:buNone/>
            </a:pPr>
            <a:r>
              <a:rPr lang="en-US" altLang="ko-KR" sz="1000" dirty="0" err="1"/>
              <a:t>sudo</a:t>
            </a:r>
            <a:r>
              <a:rPr lang="en-US" altLang="ko-KR" sz="1000" dirty="0"/>
              <a:t> </a:t>
            </a:r>
            <a:r>
              <a:rPr lang="en-US" altLang="ko-KR" sz="1000" dirty="0" err="1"/>
              <a:t>docker</a:t>
            </a:r>
            <a:r>
              <a:rPr lang="en-US" altLang="ko-KR" sz="1000" dirty="0"/>
              <a:t> exec -it </a:t>
            </a:r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apache-app-server1 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/bin/bash</a:t>
            </a:r>
            <a:endParaRPr lang="ko-KR" altLang="en-US" sz="10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</p:txBody>
      </p:sp>
      <p:sp>
        <p:nvSpPr>
          <p:cNvPr id="2" name="직사각형 1"/>
          <p:cNvSpPr/>
          <p:nvPr/>
        </p:nvSpPr>
        <p:spPr>
          <a:xfrm>
            <a:off x="458788" y="3270463"/>
            <a:ext cx="9193212" cy="224676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user@kafkaedu:~/Desktop/materials$ sudo docker ps --format "table {{.ID}}\t{{.Image}}\t{{.Status}}\t{{.Names}}"</a:t>
            </a:r>
          </a:p>
          <a:p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CONTAINER ID   IMAGE                      STATUS                 NAMES</a:t>
            </a:r>
          </a:p>
          <a:p>
            <a:r>
              <a:rPr lang="ko-KR" altLang="en-US" sz="10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5aae71cbf628   rockylinux:8.9             Up 8 minutes           apache-app-server1</a:t>
            </a:r>
          </a:p>
          <a:p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add416f8364b   docker-elk-kibana          Up 3 hours             docker-elk-kibana-1</a:t>
            </a:r>
          </a:p>
          <a:p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c52b3f6d97e9   docker-elk-logstash        Up 18 minutes          docker-elk-logstash-1</a:t>
            </a:r>
          </a:p>
          <a:p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4abafbd3834b   docker-elk-elasticsearch   Up 3 hours             docker-elk-elasticsearch-1</a:t>
            </a:r>
          </a:p>
          <a:p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4e956bc239c8   tchiotludo/akhq            Up 3 hours (healthy)   akhq</a:t>
            </a:r>
          </a:p>
          <a:p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4a3e3a9e895c   apache/kafka:latest        Up 3 hours             broker-2</a:t>
            </a:r>
          </a:p>
          <a:p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cd1ac0760e67   apache/kafka:latest        Up 3 hours             broker-3</a:t>
            </a:r>
          </a:p>
          <a:p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a61709fdf5d2   apache/kafka:latest        Up 3 hours             broker-1</a:t>
            </a:r>
          </a:p>
          <a:p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0f6ebe2dab14   apache/kafka:latest        Up 3 hours             controller-3</a:t>
            </a:r>
          </a:p>
          <a:p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0a455ac32b52   apache/kafka:latest        Up 3 hours             controller-2</a:t>
            </a:r>
          </a:p>
          <a:p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126a7195a490   apache/kafka:latest        Up 3 hours             controller-1</a:t>
            </a:r>
          </a:p>
          <a:p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user@kafkaedu:~/Desktop/materials$ </a:t>
            </a:r>
          </a:p>
        </p:txBody>
      </p:sp>
    </p:spTree>
    <p:extLst>
      <p:ext uri="{BB962C8B-B14F-4D97-AF65-F5344CB8AC3E}">
        <p14:creationId xmlns:p14="http://schemas.microsoft.com/office/powerpoint/2010/main" val="1180384323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제목 1"/>
          <p:cNvSpPr>
            <a:spLocks noGrp="1"/>
          </p:cNvSpPr>
          <p:nvPr>
            <p:ph type="title"/>
          </p:nvPr>
        </p:nvSpPr>
        <p:spPr>
          <a:xfrm>
            <a:off x="344488" y="152400"/>
            <a:ext cx="9307512" cy="360363"/>
          </a:xfrm>
          <a:ln/>
        </p:spPr>
        <p:txBody>
          <a:bodyPr/>
          <a:lstStyle/>
          <a:p>
            <a:r>
              <a:rPr lang="en-US" altLang="ko-KR" dirty="0"/>
              <a:t>3.3 </a:t>
            </a:r>
            <a:r>
              <a:rPr lang="en-US" altLang="ko-KR" dirty="0" err="1"/>
              <a:t>FileBeats</a:t>
            </a:r>
            <a:r>
              <a:rPr lang="ko-KR" altLang="en-US" dirty="0"/>
              <a:t>를 이용한 로그 생성</a:t>
            </a:r>
          </a:p>
        </p:txBody>
      </p:sp>
      <p:sp>
        <p:nvSpPr>
          <p:cNvPr id="6149" name="내용 개체 틀 2"/>
          <p:cNvSpPr>
            <a:spLocks noGrp="1"/>
          </p:cNvSpPr>
          <p:nvPr>
            <p:ph idx="1"/>
          </p:nvPr>
        </p:nvSpPr>
        <p:spPr>
          <a:xfrm>
            <a:off x="458788" y="836613"/>
            <a:ext cx="9193212" cy="576262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ko-KR" sz="1600" dirty="0"/>
              <a:t>Apache Log </a:t>
            </a:r>
            <a:r>
              <a:rPr lang="ko-KR" altLang="en-US" sz="1600" dirty="0"/>
              <a:t>파일 생성</a:t>
            </a:r>
            <a:endParaRPr lang="en-US" altLang="ko-KR" sz="1000" dirty="0"/>
          </a:p>
          <a:p>
            <a:pPr lvl="1"/>
            <a:r>
              <a:rPr lang="ko-KR" altLang="en-US" sz="1000" dirty="0"/>
              <a:t>앞 페이지에서 생성한 </a:t>
            </a:r>
            <a:r>
              <a:rPr lang="en-US" altLang="ko-KR" sz="1000" dirty="0"/>
              <a:t>apache-app-</a:t>
            </a:r>
            <a:r>
              <a:rPr lang="en-US" altLang="ko-KR" sz="1000" dirty="0" err="1"/>
              <a:t>server1</a:t>
            </a:r>
            <a:r>
              <a:rPr lang="ko-KR" altLang="en-US" sz="1000" dirty="0"/>
              <a:t>에 </a:t>
            </a:r>
            <a:r>
              <a:rPr lang="en-US" altLang="ko-KR" sz="1000" dirty="0"/>
              <a:t>login </a:t>
            </a:r>
            <a:r>
              <a:rPr lang="ko-KR" altLang="en-US" sz="1000" dirty="0"/>
              <a:t>에서 </a:t>
            </a:r>
            <a:r>
              <a:rPr lang="en-US" altLang="ko-KR" sz="1000" dirty="0"/>
              <a:t>access </a:t>
            </a:r>
            <a:r>
              <a:rPr lang="ko-KR" altLang="en-US" sz="1000" dirty="0"/>
              <a:t>로그를 확인하고 </a:t>
            </a:r>
            <a:r>
              <a:rPr lang="en-US" altLang="ko-KR" sz="1000" dirty="0" err="1"/>
              <a:t>FileBeat</a:t>
            </a:r>
            <a:r>
              <a:rPr lang="ko-KR" altLang="en-US" sz="1000" dirty="0"/>
              <a:t>를 실행</a:t>
            </a: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# </a:t>
            </a:r>
            <a:r>
              <a:rPr lang="en-US" altLang="ko-KR" sz="1000" dirty="0" err="1"/>
              <a:t>docker</a:t>
            </a:r>
            <a:r>
              <a:rPr lang="en-US" altLang="ko-KR" sz="1000" dirty="0"/>
              <a:t> container </a:t>
            </a:r>
            <a:r>
              <a:rPr lang="ko-KR" altLang="en-US" sz="1000" dirty="0"/>
              <a:t>내부에 </a:t>
            </a:r>
            <a:r>
              <a:rPr lang="en-US" altLang="ko-KR" sz="1000" dirty="0"/>
              <a:t>login </a:t>
            </a:r>
            <a:r>
              <a:rPr lang="ko-KR" altLang="en-US" sz="1000" dirty="0"/>
              <a:t>해서 </a:t>
            </a:r>
            <a:r>
              <a:rPr lang="en-US" altLang="ko-KR" sz="1000" dirty="0" err="1"/>
              <a:t>FileBeats</a:t>
            </a:r>
            <a:r>
              <a:rPr lang="en-US" altLang="ko-KR" sz="1000" dirty="0"/>
              <a:t> </a:t>
            </a:r>
            <a:r>
              <a:rPr lang="ko-KR" altLang="en-US" sz="1000" dirty="0"/>
              <a:t>설정을 수정해야 한다</a:t>
            </a:r>
            <a:r>
              <a:rPr lang="en-US" altLang="ko-KR" sz="1000" dirty="0"/>
              <a:t>.</a:t>
            </a:r>
          </a:p>
          <a:p>
            <a:pPr marL="0" indent="0">
              <a:buNone/>
            </a:pPr>
            <a:r>
              <a:rPr lang="en-US" altLang="ko-KR" sz="1000" dirty="0" err="1"/>
              <a:t>sudo</a:t>
            </a:r>
            <a:r>
              <a:rPr lang="en-US" altLang="ko-KR" sz="1000" dirty="0"/>
              <a:t> </a:t>
            </a:r>
            <a:r>
              <a:rPr lang="en-US" altLang="ko-KR" sz="1000" dirty="0" err="1"/>
              <a:t>docker</a:t>
            </a:r>
            <a:r>
              <a:rPr lang="en-US" altLang="ko-KR" sz="1000" dirty="0"/>
              <a:t> exec -it </a:t>
            </a:r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apache-app-server1 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/bin/bash</a:t>
            </a:r>
            <a:endParaRPr lang="ko-KR" altLang="en-US" sz="10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-&gt; apache-app-</a:t>
            </a:r>
            <a:r>
              <a:rPr lang="en-US" altLang="ko-KR" sz="1000" dirty="0" err="1"/>
              <a:t>server1</a:t>
            </a:r>
            <a:r>
              <a:rPr lang="ko-KR" altLang="en-US" sz="1000" dirty="0"/>
              <a:t>의 </a:t>
            </a:r>
            <a:r>
              <a:rPr lang="en-US" altLang="ko-KR" sz="1000" dirty="0"/>
              <a:t>rocky </a:t>
            </a:r>
            <a:r>
              <a:rPr lang="en-US" altLang="ko-KR" sz="1000" dirty="0" err="1"/>
              <a:t>linux</a:t>
            </a:r>
            <a:r>
              <a:rPr lang="ko-KR" altLang="en-US" sz="1000" dirty="0"/>
              <a:t>에 접속된다</a:t>
            </a:r>
            <a:r>
              <a:rPr lang="en-US" altLang="ko-KR" sz="1000" dirty="0"/>
              <a:t>.</a:t>
            </a:r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# access </a:t>
            </a:r>
            <a:r>
              <a:rPr lang="ko-KR" altLang="en-US" sz="1000" dirty="0"/>
              <a:t>로그 생성되는 것 확인</a:t>
            </a: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cd /</a:t>
            </a:r>
            <a:r>
              <a:rPr lang="en-US" altLang="ko-KR" sz="1000" dirty="0" err="1"/>
              <a:t>log_generator</a:t>
            </a: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tail -f </a:t>
            </a:r>
            <a:r>
              <a:rPr lang="en-US" altLang="ko-KR" sz="1000" dirty="0" err="1"/>
              <a:t>access_log</a:t>
            </a:r>
            <a:r>
              <a:rPr lang="en-US" altLang="ko-KR" sz="1000" dirty="0"/>
              <a:t>*.log</a:t>
            </a:r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# </a:t>
            </a:r>
            <a:r>
              <a:rPr lang="en-US" altLang="ko-KR" sz="1000" dirty="0" err="1"/>
              <a:t>FileBeats</a:t>
            </a:r>
            <a:r>
              <a:rPr lang="en-US" altLang="ko-KR" sz="1000" dirty="0"/>
              <a:t> </a:t>
            </a:r>
            <a:r>
              <a:rPr lang="ko-KR" altLang="en-US" sz="1000" dirty="0"/>
              <a:t>설정 파일 수정 </a:t>
            </a:r>
            <a:r>
              <a:rPr lang="en-US" altLang="ko-KR" sz="1000" dirty="0"/>
              <a:t>(</a:t>
            </a:r>
            <a:r>
              <a:rPr lang="ko-KR" altLang="en-US" sz="1000" dirty="0"/>
              <a:t>오른쪽과 같이 수정한다</a:t>
            </a:r>
            <a:r>
              <a:rPr lang="en-US" altLang="ko-KR" sz="1000" dirty="0"/>
              <a:t>)</a:t>
            </a:r>
          </a:p>
          <a:p>
            <a:pPr marL="0" indent="0">
              <a:buNone/>
            </a:pPr>
            <a:r>
              <a:rPr lang="en-US" altLang="ko-KR" sz="1000" dirty="0"/>
              <a:t>cd </a:t>
            </a:r>
            <a:r>
              <a:rPr lang="en-US" altLang="ko-KR" sz="1000" dirty="0" err="1"/>
              <a:t>filebeat</a:t>
            </a:r>
            <a:r>
              <a:rPr lang="en-US" altLang="ko-KR" sz="1000" dirty="0"/>
              <a:t>-7.15.1-</a:t>
            </a:r>
            <a:r>
              <a:rPr lang="en-US" altLang="ko-KR" sz="1000" dirty="0" err="1"/>
              <a:t>linux</a:t>
            </a:r>
            <a:r>
              <a:rPr lang="en-US" altLang="ko-KR" sz="1000" dirty="0"/>
              <a:t>-</a:t>
            </a:r>
            <a:r>
              <a:rPr lang="en-US" altLang="ko-KR" sz="1000" dirty="0" err="1"/>
              <a:t>x86_64</a:t>
            </a: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vi </a:t>
            </a:r>
            <a:r>
              <a:rPr lang="en-US" altLang="ko-KR" sz="1000" dirty="0" err="1"/>
              <a:t>filebeat.yml</a:t>
            </a: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# </a:t>
            </a:r>
            <a:r>
              <a:rPr lang="ko-KR" altLang="en-US" sz="1000" dirty="0"/>
              <a:t>수정 완료 후</a:t>
            </a:r>
            <a:r>
              <a:rPr lang="en-US" altLang="ko-KR" sz="1000" dirty="0"/>
              <a:t> </a:t>
            </a:r>
            <a:r>
              <a:rPr lang="en-US" altLang="ko-KR" sz="1000" dirty="0" err="1"/>
              <a:t>filebeat</a:t>
            </a:r>
            <a:r>
              <a:rPr lang="en-US" altLang="ko-KR" sz="1000" dirty="0"/>
              <a:t> </a:t>
            </a:r>
            <a:r>
              <a:rPr lang="ko-KR" altLang="en-US" sz="1000" dirty="0"/>
              <a:t>실행</a:t>
            </a: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./</a:t>
            </a:r>
            <a:r>
              <a:rPr lang="en-US" altLang="ko-KR" sz="1000" dirty="0" err="1"/>
              <a:t>filebeat</a:t>
            </a: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## </a:t>
            </a:r>
            <a:r>
              <a:rPr lang="ko-KR" altLang="en-US" sz="1000" dirty="0"/>
              <a:t>참고 </a:t>
            </a:r>
            <a:r>
              <a:rPr lang="en-US" altLang="ko-KR" sz="1000" dirty="0" err="1"/>
              <a:t>filebeat.yml</a:t>
            </a:r>
            <a:r>
              <a:rPr lang="en-US" altLang="ko-KR" sz="1000" dirty="0"/>
              <a:t> </a:t>
            </a:r>
            <a:r>
              <a:rPr lang="ko-KR" altLang="en-US" sz="1000" dirty="0"/>
              <a:t>샘플을 아래 위치에 저장해 놓았음</a:t>
            </a: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    /home/user/Desktop/materials/</a:t>
            </a:r>
            <a:r>
              <a:rPr lang="en-US" altLang="ko-KR" sz="1000" dirty="0" err="1"/>
              <a:t>filebeat.yml</a:t>
            </a: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b="1" dirty="0">
                <a:solidFill>
                  <a:srgbClr val="FF0000"/>
                </a:solidFill>
              </a:rPr>
              <a:t># </a:t>
            </a:r>
            <a:r>
              <a:rPr lang="ko-KR" altLang="en-US" sz="1000" b="1" dirty="0">
                <a:solidFill>
                  <a:srgbClr val="FF0000"/>
                </a:solidFill>
              </a:rPr>
              <a:t>주의 사항 </a:t>
            </a:r>
            <a:r>
              <a:rPr lang="en-US" altLang="ko-KR" sz="1000" b="1" dirty="0">
                <a:solidFill>
                  <a:srgbClr val="FF0000"/>
                </a:solidFill>
              </a:rPr>
              <a:t>: </a:t>
            </a:r>
            <a:r>
              <a:rPr lang="ko-KR" altLang="en-US" sz="1000" b="1" dirty="0">
                <a:solidFill>
                  <a:srgbClr val="FF0000"/>
                </a:solidFill>
              </a:rPr>
              <a:t>테스트 완료 후 해야 할일</a:t>
            </a:r>
            <a:endParaRPr lang="en-US" altLang="ko-KR" sz="1000" b="1" dirty="0">
              <a:solidFill>
                <a:srgbClr val="FF0000"/>
              </a:solidFill>
            </a:endParaRPr>
          </a:p>
          <a:p>
            <a:pPr>
              <a:buFontTx/>
              <a:buChar char="-"/>
            </a:pPr>
            <a:r>
              <a:rPr lang="ko-KR" altLang="en-US" sz="1000" b="1" dirty="0">
                <a:solidFill>
                  <a:srgbClr val="FF0000"/>
                </a:solidFill>
              </a:rPr>
              <a:t>로그 파일이 많이 생성되기에 데이터 흐름을 이해 한 이후 </a:t>
            </a:r>
            <a:r>
              <a:rPr lang="en-US" altLang="ko-KR" sz="1000" b="1" dirty="0" err="1">
                <a:solidFill>
                  <a:srgbClr val="FF0000"/>
                </a:solidFill>
              </a:rPr>
              <a:t>filebeat</a:t>
            </a:r>
            <a:r>
              <a:rPr lang="en-US" altLang="ko-KR" sz="1000" b="1" dirty="0">
                <a:solidFill>
                  <a:srgbClr val="FF0000"/>
                </a:solidFill>
              </a:rPr>
              <a:t> </a:t>
            </a:r>
            <a:r>
              <a:rPr lang="ko-KR" altLang="en-US" sz="1000" b="1" dirty="0">
                <a:solidFill>
                  <a:srgbClr val="FF0000"/>
                </a:solidFill>
              </a:rPr>
              <a:t>종료 권장</a:t>
            </a:r>
            <a:endParaRPr lang="en-US" altLang="ko-KR" sz="1000" b="1" dirty="0">
              <a:solidFill>
                <a:srgbClr val="FF0000"/>
              </a:solidFill>
            </a:endParaRPr>
          </a:p>
          <a:p>
            <a:pPr>
              <a:buFontTx/>
              <a:buChar char="-"/>
            </a:pPr>
            <a:r>
              <a:rPr lang="en-US" altLang="ko-KR" sz="1000" b="1" dirty="0">
                <a:solidFill>
                  <a:srgbClr val="FF0000"/>
                </a:solidFill>
              </a:rPr>
              <a:t>apache-app-</a:t>
            </a:r>
            <a:r>
              <a:rPr lang="en-US" altLang="ko-KR" sz="1000" b="1" dirty="0" err="1">
                <a:solidFill>
                  <a:srgbClr val="FF0000"/>
                </a:solidFill>
              </a:rPr>
              <a:t>server1</a:t>
            </a:r>
            <a:r>
              <a:rPr lang="en-US" altLang="ko-KR" sz="1000" b="1" dirty="0">
                <a:solidFill>
                  <a:srgbClr val="FF0000"/>
                </a:solidFill>
              </a:rPr>
              <a:t> </a:t>
            </a:r>
            <a:r>
              <a:rPr lang="en-US" altLang="ko-KR" sz="1000" b="1" dirty="0" err="1">
                <a:solidFill>
                  <a:srgbClr val="FF0000"/>
                </a:solidFill>
              </a:rPr>
              <a:t>docker</a:t>
            </a:r>
            <a:r>
              <a:rPr lang="en-US" altLang="ko-KR" sz="1000" b="1" dirty="0">
                <a:solidFill>
                  <a:srgbClr val="FF0000"/>
                </a:solidFill>
              </a:rPr>
              <a:t> </a:t>
            </a:r>
            <a:r>
              <a:rPr lang="ko-KR" altLang="en-US" sz="1000" b="1" dirty="0">
                <a:solidFill>
                  <a:srgbClr val="FF0000"/>
                </a:solidFill>
              </a:rPr>
              <a:t>자체를 종료 권장</a:t>
            </a:r>
            <a:endParaRPr lang="en-US" altLang="ko-KR" sz="10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ko-KR" sz="10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</p:txBody>
      </p:sp>
      <p:sp>
        <p:nvSpPr>
          <p:cNvPr id="3" name="직사각형 2"/>
          <p:cNvSpPr/>
          <p:nvPr/>
        </p:nvSpPr>
        <p:spPr>
          <a:xfrm>
            <a:off x="4752528" y="1412776"/>
            <a:ext cx="4953000" cy="317009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ko-KR" altLang="en-US" sz="800" dirty="0">
                <a:latin typeface="돋움체" panose="020B0609000101010101" pitchFamily="49" charset="-127"/>
                <a:ea typeface="돋움체" panose="020B0609000101010101" pitchFamily="49" charset="-127"/>
              </a:rPr>
              <a:t># ============================== Filebeat inputs ===============================</a:t>
            </a:r>
          </a:p>
          <a:p>
            <a:endParaRPr lang="ko-KR" altLang="en-US" sz="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ko-KR" altLang="en-US" sz="8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filebeat.inputs:</a:t>
            </a:r>
          </a:p>
          <a:p>
            <a:endParaRPr lang="ko-KR" altLang="en-US" sz="800" dirty="0">
              <a:solidFill>
                <a:srgbClr val="FF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ko-KR" altLang="en-US" sz="8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- type: log</a:t>
            </a:r>
          </a:p>
          <a:p>
            <a:endParaRPr lang="ko-KR" altLang="en-US" sz="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ko-KR" altLang="en-US" sz="800" dirty="0">
                <a:latin typeface="돋움체" panose="020B0609000101010101" pitchFamily="49" charset="-127"/>
                <a:ea typeface="돋움체" panose="020B0609000101010101" pitchFamily="49" charset="-127"/>
              </a:rPr>
              <a:t>  # Change to true to enable this input configuration.</a:t>
            </a:r>
          </a:p>
          <a:p>
            <a:r>
              <a:rPr lang="ko-KR" altLang="en-US" sz="8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enabled: true</a:t>
            </a:r>
          </a:p>
          <a:p>
            <a:endParaRPr lang="ko-KR" altLang="en-US" sz="800" dirty="0">
              <a:solidFill>
                <a:srgbClr val="FF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ko-KR" altLang="en-US" sz="8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paths:</a:t>
            </a:r>
          </a:p>
          <a:p>
            <a:r>
              <a:rPr lang="ko-KR" altLang="en-US" sz="8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- /log_generator/access*.log</a:t>
            </a:r>
          </a:p>
          <a:p>
            <a:endParaRPr lang="en-US" altLang="ko-KR" sz="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800" dirty="0">
                <a:latin typeface="돋움체" panose="020B0609000101010101" pitchFamily="49" charset="-127"/>
                <a:ea typeface="돋움체" panose="020B0609000101010101" pitchFamily="49" charset="-127"/>
              </a:rPr>
              <a:t>...</a:t>
            </a:r>
          </a:p>
          <a:p>
            <a:endParaRPr lang="ko-KR" altLang="en-US" sz="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ko-KR" altLang="en-US" sz="800" dirty="0">
                <a:latin typeface="돋움체" panose="020B0609000101010101" pitchFamily="49" charset="-127"/>
                <a:ea typeface="돋움체" panose="020B0609000101010101" pitchFamily="49" charset="-127"/>
              </a:rPr>
              <a:t># ================================== Outputs ===================================</a:t>
            </a:r>
          </a:p>
          <a:p>
            <a:endParaRPr lang="ko-KR" altLang="en-US" sz="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ko-KR" altLang="en-US" sz="800" dirty="0">
                <a:latin typeface="돋움체" panose="020B0609000101010101" pitchFamily="49" charset="-127"/>
                <a:ea typeface="돋움체" panose="020B0609000101010101" pitchFamily="49" charset="-127"/>
              </a:rPr>
              <a:t># Configure what output to use when sending the data collected by the beat.</a:t>
            </a:r>
          </a:p>
          <a:p>
            <a:endParaRPr lang="ko-KR" altLang="en-US" sz="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ko-KR" altLang="en-US" sz="800" dirty="0">
                <a:latin typeface="돋움체" panose="020B0609000101010101" pitchFamily="49" charset="-127"/>
                <a:ea typeface="돋움체" panose="020B0609000101010101" pitchFamily="49" charset="-127"/>
              </a:rPr>
              <a:t># ---------------------------- Elasticsearch Output ----------------------------</a:t>
            </a:r>
          </a:p>
          <a:p>
            <a:r>
              <a:rPr lang="ko-KR" altLang="en-US" sz="8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output.kafka:</a:t>
            </a:r>
          </a:p>
          <a:p>
            <a:r>
              <a:rPr lang="ko-KR" altLang="en-US" sz="8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hosts: ["broker-1:19092", "broker-2:19092", "broker-3:19092"]</a:t>
            </a:r>
          </a:p>
          <a:p>
            <a:r>
              <a:rPr lang="ko-KR" altLang="en-US" sz="8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topic: "webapp-logs"</a:t>
            </a:r>
          </a:p>
          <a:p>
            <a:r>
              <a:rPr lang="ko-KR" altLang="en-US" sz="8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compression: gzip</a:t>
            </a:r>
            <a:endParaRPr lang="en-US" altLang="ko-KR" sz="800" dirty="0">
              <a:solidFill>
                <a:srgbClr val="FF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endParaRPr lang="en-US" altLang="ko-KR" sz="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800" dirty="0">
                <a:latin typeface="돋움체" panose="020B0609000101010101" pitchFamily="49" charset="-127"/>
                <a:ea typeface="돋움체" panose="020B0609000101010101" pitchFamily="49" charset="-127"/>
              </a:rPr>
              <a:t>...</a:t>
            </a:r>
            <a:endParaRPr lang="ko-KR" altLang="en-US" sz="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6491942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제목 1"/>
          <p:cNvSpPr>
            <a:spLocks noGrp="1"/>
          </p:cNvSpPr>
          <p:nvPr>
            <p:ph type="title"/>
          </p:nvPr>
        </p:nvSpPr>
        <p:spPr>
          <a:xfrm>
            <a:off x="344488" y="152400"/>
            <a:ext cx="9307512" cy="360363"/>
          </a:xfrm>
          <a:ln/>
        </p:spPr>
        <p:txBody>
          <a:bodyPr/>
          <a:lstStyle/>
          <a:p>
            <a:r>
              <a:rPr lang="en-US" altLang="ko-KR" dirty="0"/>
              <a:t>3.3 </a:t>
            </a:r>
            <a:r>
              <a:rPr lang="en-US" altLang="ko-KR" dirty="0" err="1"/>
              <a:t>FileBeats</a:t>
            </a:r>
            <a:r>
              <a:rPr lang="ko-KR" altLang="en-US" dirty="0"/>
              <a:t>를 이용한 로그 생성</a:t>
            </a:r>
          </a:p>
        </p:txBody>
      </p:sp>
      <p:sp>
        <p:nvSpPr>
          <p:cNvPr id="6149" name="내용 개체 틀 2"/>
          <p:cNvSpPr>
            <a:spLocks noGrp="1"/>
          </p:cNvSpPr>
          <p:nvPr>
            <p:ph idx="1"/>
          </p:nvPr>
        </p:nvSpPr>
        <p:spPr>
          <a:xfrm>
            <a:off x="458788" y="836613"/>
            <a:ext cx="9193212" cy="576262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ko-KR" sz="1800" dirty="0" err="1"/>
              <a:t>AKHQ</a:t>
            </a:r>
            <a:r>
              <a:rPr lang="ko-KR" altLang="en-US" sz="1800" dirty="0"/>
              <a:t>를 실행시켜 </a:t>
            </a:r>
            <a:r>
              <a:rPr lang="en-US" altLang="ko-KR" sz="1800" dirty="0"/>
              <a:t>TOPIC</a:t>
            </a:r>
            <a:r>
              <a:rPr lang="ko-KR" altLang="en-US" sz="1800" dirty="0"/>
              <a:t>의 </a:t>
            </a:r>
            <a:r>
              <a:rPr lang="en-US" altLang="ko-KR" sz="1800" dirty="0"/>
              <a:t>DATA </a:t>
            </a:r>
            <a:r>
              <a:rPr lang="ko-KR" altLang="en-US" sz="1800" dirty="0"/>
              <a:t>상태를 확인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 rotWithShape="1">
          <a:blip r:embed="rId3"/>
          <a:srcRect t="9329" b="14268"/>
          <a:stretch/>
        </p:blipFill>
        <p:spPr>
          <a:xfrm>
            <a:off x="776536" y="3129935"/>
            <a:ext cx="6804225" cy="325139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4"/>
          <a:srcRect t="9501" b="54080"/>
          <a:stretch/>
        </p:blipFill>
        <p:spPr>
          <a:xfrm>
            <a:off x="776536" y="1268760"/>
            <a:ext cx="6789252" cy="15527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6536" y="2852936"/>
            <a:ext cx="51419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/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topic 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정보의 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count, size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가 늘어나고 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Consumer Group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의 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LAG 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값이 증가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35776" y="5949280"/>
            <a:ext cx="20162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TOPIC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에 저장된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Apache Log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가 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json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형태로 저장됨</a:t>
            </a:r>
          </a:p>
        </p:txBody>
      </p:sp>
    </p:spTree>
    <p:extLst>
      <p:ext uri="{BB962C8B-B14F-4D97-AF65-F5344CB8AC3E}">
        <p14:creationId xmlns:p14="http://schemas.microsoft.com/office/powerpoint/2010/main" val="4252167560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제목 1"/>
          <p:cNvSpPr>
            <a:spLocks noGrp="1"/>
          </p:cNvSpPr>
          <p:nvPr>
            <p:ph type="title"/>
          </p:nvPr>
        </p:nvSpPr>
        <p:spPr>
          <a:xfrm>
            <a:off x="344488" y="152400"/>
            <a:ext cx="9307512" cy="360363"/>
          </a:xfrm>
          <a:ln/>
        </p:spPr>
        <p:txBody>
          <a:bodyPr/>
          <a:lstStyle/>
          <a:p>
            <a:r>
              <a:rPr lang="en-US" altLang="ko-KR" dirty="0"/>
              <a:t>3.3 </a:t>
            </a:r>
            <a:r>
              <a:rPr lang="en-US" altLang="ko-KR" dirty="0" err="1"/>
              <a:t>FileBeats</a:t>
            </a:r>
            <a:r>
              <a:rPr lang="ko-KR" altLang="en-US" dirty="0"/>
              <a:t>를 이용한 로그 생성</a:t>
            </a:r>
          </a:p>
        </p:txBody>
      </p:sp>
      <p:sp>
        <p:nvSpPr>
          <p:cNvPr id="6149" name="내용 개체 틀 2"/>
          <p:cNvSpPr>
            <a:spLocks noGrp="1"/>
          </p:cNvSpPr>
          <p:nvPr>
            <p:ph idx="1"/>
          </p:nvPr>
        </p:nvSpPr>
        <p:spPr>
          <a:xfrm>
            <a:off x="458788" y="836613"/>
            <a:ext cx="9193212" cy="576262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ko-KR" sz="1800" dirty="0"/>
              <a:t>Google </a:t>
            </a:r>
            <a:r>
              <a:rPr lang="en-US" altLang="ko-KR" sz="1800" dirty="0" err="1"/>
              <a:t>Chrom</a:t>
            </a:r>
            <a:r>
              <a:rPr lang="ko-KR" altLang="en-US" sz="1800" dirty="0"/>
              <a:t>의 </a:t>
            </a:r>
            <a:r>
              <a:rPr lang="en-US" altLang="ko-KR" sz="1800" dirty="0"/>
              <a:t>Elastic Search Head </a:t>
            </a:r>
            <a:r>
              <a:rPr lang="ko-KR" altLang="en-US" sz="1800" dirty="0"/>
              <a:t>확장 설치 후 </a:t>
            </a:r>
            <a:r>
              <a:rPr lang="en-US" altLang="ko-KR" sz="1800" dirty="0"/>
              <a:t>elastic search </a:t>
            </a:r>
            <a:r>
              <a:rPr lang="ko-KR" altLang="en-US" sz="1800" dirty="0"/>
              <a:t>데이터 확인</a:t>
            </a:r>
            <a:endParaRPr lang="en-US" altLang="ko-KR" sz="1800" dirty="0"/>
          </a:p>
          <a:p>
            <a:pPr>
              <a:buFontTx/>
              <a:buChar char="•"/>
            </a:pPr>
            <a:r>
              <a:rPr lang="en-US" altLang="ko-KR" sz="1800" dirty="0"/>
              <a:t>Apache Log</a:t>
            </a:r>
            <a:r>
              <a:rPr lang="ko-KR" altLang="en-US" sz="1800" dirty="0"/>
              <a:t>가 </a:t>
            </a:r>
            <a:r>
              <a:rPr lang="en-US" altLang="ko-KR" sz="1800" dirty="0" err="1"/>
              <a:t>logstash</a:t>
            </a:r>
            <a:r>
              <a:rPr lang="en-US" altLang="ko-KR" sz="1800" dirty="0"/>
              <a:t> </a:t>
            </a:r>
            <a:r>
              <a:rPr lang="ko-KR" altLang="en-US" sz="1800" dirty="0"/>
              <a:t>항목으로 저장된 것 확인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44" y="1628800"/>
            <a:ext cx="8049456" cy="465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039293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제목 1"/>
          <p:cNvSpPr>
            <a:spLocks noGrp="1"/>
          </p:cNvSpPr>
          <p:nvPr>
            <p:ph type="title"/>
          </p:nvPr>
        </p:nvSpPr>
        <p:spPr>
          <a:xfrm>
            <a:off x="344488" y="152400"/>
            <a:ext cx="9307512" cy="360363"/>
          </a:xfrm>
          <a:ln/>
        </p:spPr>
        <p:txBody>
          <a:bodyPr/>
          <a:lstStyle/>
          <a:p>
            <a:r>
              <a:rPr lang="en-US" altLang="ko-KR" dirty="0"/>
              <a:t>3.3 </a:t>
            </a:r>
            <a:r>
              <a:rPr lang="en-US" altLang="ko-KR" dirty="0" err="1"/>
              <a:t>FileBeats</a:t>
            </a:r>
            <a:r>
              <a:rPr lang="ko-KR" altLang="en-US" dirty="0"/>
              <a:t>를 이용한 로그 생성</a:t>
            </a:r>
          </a:p>
        </p:txBody>
      </p:sp>
      <p:sp>
        <p:nvSpPr>
          <p:cNvPr id="6149" name="내용 개체 틀 2"/>
          <p:cNvSpPr>
            <a:spLocks noGrp="1"/>
          </p:cNvSpPr>
          <p:nvPr>
            <p:ph idx="1"/>
          </p:nvPr>
        </p:nvSpPr>
        <p:spPr>
          <a:xfrm>
            <a:off x="458788" y="836613"/>
            <a:ext cx="9193212" cy="576262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ko-KR" sz="1800" dirty="0"/>
              <a:t>Google </a:t>
            </a:r>
            <a:r>
              <a:rPr lang="en-US" altLang="ko-KR" sz="1800" dirty="0" err="1"/>
              <a:t>Chrom</a:t>
            </a:r>
            <a:r>
              <a:rPr lang="ko-KR" altLang="en-US" sz="1800" dirty="0"/>
              <a:t>의 </a:t>
            </a:r>
            <a:r>
              <a:rPr lang="en-US" altLang="ko-KR" sz="1800" dirty="0"/>
              <a:t>Elastic Search Head </a:t>
            </a:r>
            <a:r>
              <a:rPr lang="ko-KR" altLang="en-US" sz="1800" dirty="0"/>
              <a:t>확장 설치 후 </a:t>
            </a:r>
            <a:r>
              <a:rPr lang="en-US" altLang="ko-KR" sz="1800" dirty="0"/>
              <a:t>elastic search </a:t>
            </a:r>
            <a:r>
              <a:rPr lang="ko-KR" altLang="en-US" sz="1800" dirty="0"/>
              <a:t>데이터 확인</a:t>
            </a:r>
            <a:endParaRPr lang="en-US" altLang="ko-KR" sz="1800" dirty="0"/>
          </a:p>
          <a:p>
            <a:pPr>
              <a:buFontTx/>
              <a:buChar char="•"/>
            </a:pPr>
            <a:r>
              <a:rPr lang="en-US" altLang="ko-KR" sz="1800" dirty="0"/>
              <a:t>Apache Log</a:t>
            </a:r>
            <a:r>
              <a:rPr lang="ko-KR" altLang="en-US" sz="1800" dirty="0"/>
              <a:t>가 </a:t>
            </a:r>
            <a:r>
              <a:rPr lang="en-US" altLang="ko-KR" sz="1800" dirty="0" err="1"/>
              <a:t>logstash</a:t>
            </a:r>
            <a:r>
              <a:rPr lang="en-US" altLang="ko-KR" sz="1800" dirty="0"/>
              <a:t> </a:t>
            </a:r>
            <a:r>
              <a:rPr lang="ko-KR" altLang="en-US" sz="1800" dirty="0"/>
              <a:t>항목으로 저장된 것 확인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44" y="1628800"/>
            <a:ext cx="8049456" cy="465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28620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제목 1"/>
          <p:cNvSpPr>
            <a:spLocks noGrp="1"/>
          </p:cNvSpPr>
          <p:nvPr>
            <p:ph type="title"/>
          </p:nvPr>
        </p:nvSpPr>
        <p:spPr>
          <a:xfrm>
            <a:off x="344488" y="152400"/>
            <a:ext cx="9307512" cy="360363"/>
          </a:xfrm>
          <a:ln/>
        </p:spPr>
        <p:txBody>
          <a:bodyPr/>
          <a:lstStyle/>
          <a:p>
            <a:r>
              <a:rPr lang="en-US" altLang="ko-KR" dirty="0"/>
              <a:t>3.3 </a:t>
            </a:r>
            <a:r>
              <a:rPr lang="en-US" altLang="ko-KR" dirty="0" err="1"/>
              <a:t>FileBeats</a:t>
            </a:r>
            <a:r>
              <a:rPr lang="ko-KR" altLang="en-US" dirty="0"/>
              <a:t>를 이용한 로그 생성</a:t>
            </a:r>
          </a:p>
        </p:txBody>
      </p:sp>
      <p:sp>
        <p:nvSpPr>
          <p:cNvPr id="6149" name="내용 개체 틀 2"/>
          <p:cNvSpPr>
            <a:spLocks noGrp="1"/>
          </p:cNvSpPr>
          <p:nvPr>
            <p:ph idx="1"/>
          </p:nvPr>
        </p:nvSpPr>
        <p:spPr>
          <a:xfrm>
            <a:off x="458788" y="836613"/>
            <a:ext cx="9193212" cy="576262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ko-KR" sz="1800" dirty="0" err="1"/>
              <a:t>KIBANA</a:t>
            </a:r>
            <a:r>
              <a:rPr lang="ko-KR" altLang="en-US" sz="1800" dirty="0"/>
              <a:t>의 </a:t>
            </a:r>
            <a:r>
              <a:rPr lang="en-US" altLang="ko-KR" sz="1800" dirty="0"/>
              <a:t>"</a:t>
            </a:r>
            <a:r>
              <a:rPr lang="en-US" altLang="ko-KR" sz="1800" dirty="0" err="1"/>
              <a:t>Analystic</a:t>
            </a:r>
            <a:r>
              <a:rPr lang="en-US" altLang="ko-KR" sz="1800" dirty="0"/>
              <a:t> -&gt; Discover"</a:t>
            </a:r>
            <a:r>
              <a:rPr lang="ko-KR" altLang="en-US" sz="1800" dirty="0"/>
              <a:t>를 통해 </a:t>
            </a:r>
            <a:r>
              <a:rPr lang="en-US" altLang="ko-KR" sz="1800" dirty="0"/>
              <a:t>Apache Log </a:t>
            </a:r>
            <a:r>
              <a:rPr lang="ko-KR" altLang="en-US" sz="1800" dirty="0"/>
              <a:t>확인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296" y="1268760"/>
            <a:ext cx="8040104" cy="5053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047559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4"/>
          <p:cNvGrpSpPr>
            <a:grpSpLocks/>
          </p:cNvGrpSpPr>
          <p:nvPr/>
        </p:nvGrpSpPr>
        <p:grpSpPr bwMode="auto">
          <a:xfrm>
            <a:off x="-15875" y="1905000"/>
            <a:ext cx="9399588" cy="533400"/>
            <a:chOff x="0" y="768"/>
            <a:chExt cx="3870" cy="480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5126" name="Rectangle 5"/>
            <p:cNvSpPr>
              <a:spLocks noChangeArrowheads="1"/>
            </p:cNvSpPr>
            <p:nvPr/>
          </p:nvSpPr>
          <p:spPr bwMode="auto">
            <a:xfrm>
              <a:off x="0" y="768"/>
              <a:ext cx="3630" cy="48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defRPr kumimoji="1" sz="2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ko-KR" altLang="en-US" sz="1600">
                <a:solidFill>
                  <a:schemeClr val="bg1"/>
                </a:solidFill>
                <a:latin typeface="HY울릉도M" pitchFamily="18" charset="-127"/>
                <a:ea typeface="HY울릉도M" pitchFamily="18" charset="-127"/>
              </a:endParaRPr>
            </a:p>
          </p:txBody>
        </p:sp>
        <p:sp>
          <p:nvSpPr>
            <p:cNvPr id="5127" name="AutoShape 6"/>
            <p:cNvSpPr>
              <a:spLocks noChangeArrowheads="1"/>
            </p:cNvSpPr>
            <p:nvPr/>
          </p:nvSpPr>
          <p:spPr bwMode="auto">
            <a:xfrm>
              <a:off x="2640" y="768"/>
              <a:ext cx="1230" cy="48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defRPr kumimoji="1" sz="2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ko-KR" altLang="en-US" sz="1600">
                <a:solidFill>
                  <a:schemeClr val="bg1"/>
                </a:solidFill>
                <a:latin typeface="HY울릉도M" pitchFamily="18" charset="-127"/>
                <a:ea typeface="HY울릉도M" pitchFamily="18" charset="-127"/>
              </a:endParaRPr>
            </a:p>
          </p:txBody>
        </p:sp>
      </p:grpSp>
      <p:sp>
        <p:nvSpPr>
          <p:cNvPr id="5123" name="AutoShape 7"/>
          <p:cNvSpPr>
            <a:spLocks noChangeArrowheads="1"/>
          </p:cNvSpPr>
          <p:nvPr/>
        </p:nvSpPr>
        <p:spPr bwMode="auto">
          <a:xfrm>
            <a:off x="3490913" y="1943100"/>
            <a:ext cx="3749675" cy="457200"/>
          </a:xfrm>
          <a:prstGeom prst="bevel">
            <a:avLst>
              <a:gd name="adj" fmla="val 125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</a:pPr>
            <a:r>
              <a:rPr kumimoji="0" lang="en-US" altLang="ko-KR" sz="3200" b="1" dirty="0">
                <a:solidFill>
                  <a:schemeClr val="bg1"/>
                </a:solidFill>
              </a:rPr>
              <a:t>Spring Boot </a:t>
            </a:r>
            <a:r>
              <a:rPr kumimoji="0" lang="ko-KR" altLang="en-US" sz="3200" b="1" dirty="0">
                <a:solidFill>
                  <a:schemeClr val="bg1"/>
                </a:solidFill>
              </a:rPr>
              <a:t>연동</a:t>
            </a:r>
            <a:endParaRPr kumimoji="0" lang="en-US" altLang="ko-KR" sz="3200" b="1" dirty="0">
              <a:solidFill>
                <a:schemeClr val="bg1"/>
              </a:solidFill>
            </a:endParaRPr>
          </a:p>
        </p:txBody>
      </p:sp>
      <p:sp>
        <p:nvSpPr>
          <p:cNvPr id="5124" name="Rectangle 8"/>
          <p:cNvSpPr>
            <a:spLocks noChangeArrowheads="1"/>
          </p:cNvSpPr>
          <p:nvPr/>
        </p:nvSpPr>
        <p:spPr bwMode="auto">
          <a:xfrm>
            <a:off x="1577975" y="1219200"/>
            <a:ext cx="1377950" cy="2057400"/>
          </a:xfrm>
          <a:prstGeom prst="rect">
            <a:avLst/>
          </a:prstGeom>
          <a:noFill/>
          <a:ln>
            <a:noFill/>
          </a:ln>
          <a:effectLst>
            <a:outerShdw dist="71842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en-US" altLang="ko-KR" sz="14000" i="1" dirty="0">
                <a:solidFill>
                  <a:srgbClr val="FF0000"/>
                </a:solidFill>
                <a:latin typeface="Arial Black" pitchFamily="34" charset="0"/>
                <a:ea typeface="HY견고딕" pitchFamily="18" charset="-127"/>
              </a:rPr>
              <a:t>4</a:t>
            </a:r>
          </a:p>
        </p:txBody>
      </p:sp>
      <p:sp>
        <p:nvSpPr>
          <p:cNvPr id="5125" name="Text Box 9"/>
          <p:cNvSpPr txBox="1">
            <a:spLocks noChangeArrowheads="1"/>
          </p:cNvSpPr>
          <p:nvPr/>
        </p:nvSpPr>
        <p:spPr bwMode="auto">
          <a:xfrm>
            <a:off x="3414713" y="2667000"/>
            <a:ext cx="6237287" cy="448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lvl="1" eaLnBrk="1" latinLnBrk="0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kumimoji="0" lang="en-US" altLang="ko-KR" b="1" dirty="0"/>
              <a:t>5.1</a:t>
            </a:r>
            <a:endParaRPr kumimoji="0"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446149380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제목 1"/>
          <p:cNvSpPr>
            <a:spLocks noGrp="1"/>
          </p:cNvSpPr>
          <p:nvPr>
            <p:ph type="title"/>
          </p:nvPr>
        </p:nvSpPr>
        <p:spPr>
          <a:xfrm>
            <a:off x="344488" y="152400"/>
            <a:ext cx="9307512" cy="360363"/>
          </a:xfrm>
          <a:ln/>
        </p:spPr>
        <p:txBody>
          <a:bodyPr/>
          <a:lstStyle/>
          <a:p>
            <a:r>
              <a:rPr lang="en-US" altLang="ko-KR" dirty="0"/>
              <a:t>4.1 </a:t>
            </a:r>
            <a:r>
              <a:rPr lang="ko-KR" altLang="en-US" dirty="0"/>
              <a:t>사전 준비</a:t>
            </a:r>
          </a:p>
        </p:txBody>
      </p:sp>
      <p:sp>
        <p:nvSpPr>
          <p:cNvPr id="6149" name="내용 개체 틀 2"/>
          <p:cNvSpPr>
            <a:spLocks noGrp="1"/>
          </p:cNvSpPr>
          <p:nvPr>
            <p:ph idx="1"/>
          </p:nvPr>
        </p:nvSpPr>
        <p:spPr>
          <a:xfrm>
            <a:off x="458788" y="836613"/>
            <a:ext cx="9193212" cy="576262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ko-KR" sz="1800" dirty="0"/>
              <a:t>Java </a:t>
            </a:r>
            <a:r>
              <a:rPr lang="ko-KR" altLang="en-US" sz="1800" dirty="0"/>
              <a:t>기반의 </a:t>
            </a:r>
            <a:r>
              <a:rPr lang="en-US" altLang="ko-KR" sz="1800" dirty="0"/>
              <a:t>Spring Framework</a:t>
            </a:r>
            <a:r>
              <a:rPr lang="ko-KR" altLang="en-US" sz="1800" dirty="0"/>
              <a:t>과 </a:t>
            </a:r>
            <a:r>
              <a:rPr lang="en-US" altLang="ko-KR" sz="1800" dirty="0"/>
              <a:t>Kafka </a:t>
            </a:r>
            <a:r>
              <a:rPr lang="ko-KR" altLang="en-US" sz="1800" dirty="0"/>
              <a:t>연동에 대해서 이해</a:t>
            </a:r>
            <a:endParaRPr lang="en-US" altLang="ko-KR" sz="1800" dirty="0"/>
          </a:p>
          <a:p>
            <a:pPr>
              <a:buFontTx/>
              <a:buChar char="•"/>
            </a:pPr>
            <a:r>
              <a:rPr lang="en-US" altLang="ko-KR" sz="1800" dirty="0"/>
              <a:t>Event </a:t>
            </a:r>
            <a:r>
              <a:rPr lang="ko-KR" altLang="en-US" sz="1800" dirty="0"/>
              <a:t>기반의 </a:t>
            </a:r>
            <a:r>
              <a:rPr lang="en-US" altLang="ko-KR" sz="1800" dirty="0"/>
              <a:t>Producer / Consumer </a:t>
            </a:r>
            <a:r>
              <a:rPr lang="ko-KR" altLang="en-US" sz="1800" dirty="0"/>
              <a:t>개발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1) DOCKER CONTAINER Lab</a:t>
            </a:r>
            <a:r>
              <a:rPr lang="ko-KR" altLang="en-US" sz="1000" dirty="0"/>
              <a:t>을 위해 정리</a:t>
            </a: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# </a:t>
            </a:r>
            <a:r>
              <a:rPr lang="en-US" altLang="ko-KR" sz="1000" dirty="0" err="1"/>
              <a:t>docker</a:t>
            </a:r>
            <a:r>
              <a:rPr lang="en-US" altLang="ko-KR" sz="1000" dirty="0"/>
              <a:t> container </a:t>
            </a:r>
            <a:r>
              <a:rPr lang="ko-KR" altLang="en-US" sz="1000" dirty="0"/>
              <a:t>일부 종료</a:t>
            </a: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# </a:t>
            </a:r>
            <a:r>
              <a:rPr lang="ko-KR" altLang="en-US" sz="1000" dirty="0"/>
              <a:t>앞선 </a:t>
            </a:r>
            <a:r>
              <a:rPr lang="en-US" altLang="ko-KR" sz="1000" dirty="0"/>
              <a:t>LAB</a:t>
            </a:r>
            <a:r>
              <a:rPr lang="ko-KR" altLang="en-US" sz="1000" dirty="0"/>
              <a:t>에서 진행한 </a:t>
            </a:r>
            <a:r>
              <a:rPr lang="en-US" altLang="ko-KR" sz="1000" dirty="0"/>
              <a:t>apache app</a:t>
            </a:r>
            <a:r>
              <a:rPr lang="ko-KR" altLang="en-US" sz="1000" dirty="0"/>
              <a:t>와 </a:t>
            </a:r>
            <a:r>
              <a:rPr lang="en-US" altLang="ko-KR" sz="1000" dirty="0"/>
              <a:t>ELK</a:t>
            </a:r>
            <a:r>
              <a:rPr lang="ko-KR" altLang="en-US" sz="1000" dirty="0"/>
              <a:t>는 본 </a:t>
            </a:r>
            <a:r>
              <a:rPr lang="en-US" altLang="ko-KR" sz="1000" dirty="0"/>
              <a:t>LAB</a:t>
            </a:r>
            <a:r>
              <a:rPr lang="ko-KR" altLang="en-US" sz="1000" dirty="0"/>
              <a:t>에서는 불필요해서 기동하지 않는다</a:t>
            </a:r>
            <a:r>
              <a:rPr lang="en-US" altLang="ko-KR" sz="1000" dirty="0"/>
              <a:t>. </a:t>
            </a:r>
            <a:r>
              <a:rPr lang="ko-KR" altLang="en-US" sz="1000" dirty="0"/>
              <a:t>기동 되었다면 종료 시킨다</a:t>
            </a:r>
            <a:r>
              <a:rPr lang="en-US" altLang="ko-KR" sz="1000" dirty="0"/>
              <a:t>.</a:t>
            </a:r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# </a:t>
            </a:r>
            <a:r>
              <a:rPr lang="ko-KR" altLang="en-US" sz="1000" dirty="0"/>
              <a:t>현재 실행 중이 </a:t>
            </a:r>
            <a:r>
              <a:rPr lang="en-US" altLang="ko-KR" sz="1000" dirty="0" err="1"/>
              <a:t>docker</a:t>
            </a:r>
            <a:r>
              <a:rPr lang="en-US" altLang="ko-KR" sz="1000" dirty="0"/>
              <a:t> container</a:t>
            </a:r>
            <a:r>
              <a:rPr lang="ko-KR" altLang="en-US" sz="1000" dirty="0"/>
              <a:t>를 확인한다</a:t>
            </a:r>
            <a:r>
              <a:rPr lang="en-US" altLang="ko-KR" sz="1000" dirty="0"/>
              <a:t>.</a:t>
            </a:r>
          </a:p>
          <a:p>
            <a:pPr marL="0" indent="0">
              <a:buNone/>
            </a:pPr>
            <a:r>
              <a:rPr lang="en-US" altLang="ko-KR" sz="1000" dirty="0" err="1"/>
              <a:t>sudo</a:t>
            </a:r>
            <a:r>
              <a:rPr lang="en-US" altLang="ko-KR" sz="1000" dirty="0"/>
              <a:t> </a:t>
            </a:r>
            <a:r>
              <a:rPr lang="en-US" altLang="ko-KR" sz="1000" dirty="0" err="1"/>
              <a:t>docker</a:t>
            </a:r>
            <a:r>
              <a:rPr lang="en-US" altLang="ko-KR" sz="1000" dirty="0"/>
              <a:t> </a:t>
            </a:r>
            <a:r>
              <a:rPr lang="en-US" altLang="ko-KR" sz="1000" dirty="0" err="1"/>
              <a:t>ps</a:t>
            </a: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# </a:t>
            </a:r>
            <a:r>
              <a:rPr lang="ko-KR" altLang="en-US" sz="1000" dirty="0"/>
              <a:t>모든 </a:t>
            </a:r>
            <a:r>
              <a:rPr lang="en-US" altLang="ko-KR" sz="1000" dirty="0" err="1"/>
              <a:t>docker</a:t>
            </a:r>
            <a:r>
              <a:rPr lang="en-US" altLang="ko-KR" sz="1000" dirty="0"/>
              <a:t> container </a:t>
            </a:r>
            <a:r>
              <a:rPr lang="ko-KR" altLang="en-US" sz="1000" dirty="0"/>
              <a:t>종료</a:t>
            </a: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 err="1"/>
              <a:t>sudo</a:t>
            </a:r>
            <a:r>
              <a:rPr lang="en-US" altLang="ko-KR" sz="1000" dirty="0"/>
              <a:t> </a:t>
            </a:r>
            <a:r>
              <a:rPr lang="sv-SE" altLang="ko-KR" sz="1000" dirty="0"/>
              <a:t>docker stop $(sudo docker ps -aq)</a:t>
            </a:r>
          </a:p>
          <a:p>
            <a:pPr marL="0" indent="0">
              <a:buNone/>
            </a:pPr>
            <a:endParaRPr lang="sv-SE" altLang="ko-KR" sz="1000" dirty="0"/>
          </a:p>
          <a:p>
            <a:pPr marL="0" indent="0">
              <a:buNone/>
            </a:pPr>
            <a:r>
              <a:rPr lang="sv-SE" altLang="ko-KR" sz="1000" dirty="0"/>
              <a:t># </a:t>
            </a:r>
            <a:r>
              <a:rPr lang="en-US" altLang="ko-KR" sz="1000" dirty="0"/>
              <a:t>Apache Kafka Cluster </a:t>
            </a:r>
            <a:r>
              <a:rPr lang="ko-KR" altLang="en-US" sz="1000" dirty="0"/>
              <a:t>실행</a:t>
            </a: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cd /home/user/Desktop/materials</a:t>
            </a:r>
          </a:p>
          <a:p>
            <a:pPr marL="0" indent="0">
              <a:buNone/>
            </a:pPr>
            <a:r>
              <a:rPr lang="en-US" altLang="ko-KR" sz="1000" dirty="0" err="1"/>
              <a:t>sudo</a:t>
            </a:r>
            <a:r>
              <a:rPr lang="en-US" altLang="ko-KR" sz="1000" dirty="0"/>
              <a:t> </a:t>
            </a:r>
            <a:r>
              <a:rPr lang="en-US" altLang="ko-KR" sz="1000" dirty="0" err="1"/>
              <a:t>docker</a:t>
            </a:r>
            <a:r>
              <a:rPr lang="en-US" altLang="ko-KR" sz="1000" dirty="0"/>
              <a:t> compose -f </a:t>
            </a:r>
            <a:r>
              <a:rPr lang="en-US" altLang="ko-KR" sz="1000" dirty="0" err="1"/>
              <a:t>docker</a:t>
            </a:r>
            <a:r>
              <a:rPr lang="en-US" altLang="ko-KR" sz="1000" dirty="0"/>
              <a:t>-compose-</a:t>
            </a:r>
            <a:r>
              <a:rPr lang="en-US" altLang="ko-KR" sz="1000" dirty="0" err="1"/>
              <a:t>akhq.yml</a:t>
            </a:r>
            <a:r>
              <a:rPr lang="en-US" altLang="ko-KR" sz="1000" dirty="0"/>
              <a:t> up -d</a:t>
            </a:r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# topic </a:t>
            </a:r>
            <a:r>
              <a:rPr lang="ko-KR" altLang="en-US" sz="1000" dirty="0"/>
              <a:t>생성 </a:t>
            </a:r>
            <a:r>
              <a:rPr lang="en-US" altLang="ko-KR" sz="1000" dirty="0"/>
              <a:t>: CLI</a:t>
            </a:r>
            <a:r>
              <a:rPr lang="ko-KR" altLang="en-US" sz="1000" dirty="0"/>
              <a:t>를 이용해도 되고 앞서 배운 </a:t>
            </a:r>
            <a:r>
              <a:rPr lang="en-US" altLang="ko-KR" sz="1000" dirty="0" err="1"/>
              <a:t>AKHQ</a:t>
            </a:r>
            <a:r>
              <a:rPr lang="ko-KR" altLang="en-US" sz="1000" dirty="0"/>
              <a:t>를 이용해도 된다</a:t>
            </a:r>
            <a:r>
              <a:rPr lang="en-US" altLang="ko-KR" sz="1000" dirty="0"/>
              <a:t>.</a:t>
            </a:r>
          </a:p>
          <a:p>
            <a:pPr marL="0" indent="0">
              <a:buNone/>
            </a:pPr>
            <a:r>
              <a:rPr lang="en-US" altLang="ko-KR" sz="1000" dirty="0"/>
              <a:t>cd /opt/</a:t>
            </a:r>
            <a:r>
              <a:rPr lang="en-US" altLang="ko-KR" sz="1000" dirty="0" err="1"/>
              <a:t>kafka</a:t>
            </a: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>
                <a:solidFill>
                  <a:srgbClr val="FF0000"/>
                </a:solidFill>
              </a:rPr>
              <a:t>bin/</a:t>
            </a:r>
            <a:r>
              <a:rPr lang="en-US" altLang="ko-KR" sz="1000" dirty="0" err="1">
                <a:solidFill>
                  <a:srgbClr val="FF0000"/>
                </a:solidFill>
              </a:rPr>
              <a:t>kafka-topics.sh</a:t>
            </a:r>
            <a:r>
              <a:rPr lang="en-US" altLang="ko-KR" sz="1000" dirty="0">
                <a:solidFill>
                  <a:srgbClr val="FF0000"/>
                </a:solidFill>
              </a:rPr>
              <a:t> --create --partitions 1 --replication-factor 3 --topic </a:t>
            </a:r>
            <a:r>
              <a:rPr lang="en-US" altLang="ko-KR" sz="1000" dirty="0" err="1">
                <a:solidFill>
                  <a:srgbClr val="FF0000"/>
                </a:solidFill>
              </a:rPr>
              <a:t>spring_kafka</a:t>
            </a:r>
            <a:r>
              <a:rPr lang="en-US" altLang="ko-KR" sz="1000" dirty="0">
                <a:solidFill>
                  <a:srgbClr val="FF0000"/>
                </a:solidFill>
              </a:rPr>
              <a:t> --bootstrap-server </a:t>
            </a:r>
            <a:r>
              <a:rPr lang="en-US" altLang="ko-KR" sz="1000" dirty="0" err="1">
                <a:solidFill>
                  <a:srgbClr val="FF0000"/>
                </a:solidFill>
              </a:rPr>
              <a:t>localhost:29092</a:t>
            </a:r>
            <a:endParaRPr lang="en-US" altLang="ko-KR" sz="10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</p:txBody>
      </p:sp>
      <p:sp>
        <p:nvSpPr>
          <p:cNvPr id="2" name="직사각형 1"/>
          <p:cNvSpPr/>
          <p:nvPr/>
        </p:nvSpPr>
        <p:spPr>
          <a:xfrm>
            <a:off x="452032" y="5108991"/>
            <a:ext cx="9193212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800" dirty="0">
                <a:latin typeface="돋움체" panose="020B0609000101010101" pitchFamily="49" charset="-127"/>
                <a:ea typeface="돋움체" panose="020B0609000101010101" pitchFamily="49" charset="-127"/>
              </a:rPr>
              <a:t>user@kafkaedu:~/Desktop/materials$ sudo docker ps</a:t>
            </a:r>
          </a:p>
          <a:p>
            <a:r>
              <a:rPr lang="ko-KR" altLang="en-US" sz="800" dirty="0">
                <a:latin typeface="돋움체" panose="020B0609000101010101" pitchFamily="49" charset="-127"/>
                <a:ea typeface="돋움체" panose="020B0609000101010101" pitchFamily="49" charset="-127"/>
              </a:rPr>
              <a:t>CONTAINER ID   IMAGE                 COMMAND                  CREATED        STATUS                        PORTS                                           NAMES</a:t>
            </a:r>
          </a:p>
          <a:p>
            <a:r>
              <a:rPr lang="ko-KR" altLang="en-US" sz="800" dirty="0">
                <a:latin typeface="돋움체" panose="020B0609000101010101" pitchFamily="49" charset="-127"/>
                <a:ea typeface="돋움체" panose="020B0609000101010101" pitchFamily="49" charset="-127"/>
              </a:rPr>
              <a:t>4e956bc239c8   tchiotludo/akhq       "docker-entrypoint.s…"   27 hours ago   Up About a minute (healthy)   0.0.0.0:8080-&gt;8080/tcp, [::]:8080-&gt;8080/tcp     akhq</a:t>
            </a:r>
          </a:p>
          <a:p>
            <a:r>
              <a:rPr lang="ko-KR" altLang="en-US" sz="800" dirty="0">
                <a:latin typeface="돋움체" panose="020B0609000101010101" pitchFamily="49" charset="-127"/>
                <a:ea typeface="돋움체" panose="020B0609000101010101" pitchFamily="49" charset="-127"/>
              </a:rPr>
              <a:t>4a3e3a9e895c   apache/kafka:latest   "/__cacert_entrypoin…"   27 hours ago   Up About a minute             0.0.0.0:39092-&gt;9092/tcp, [::]:39092-&gt;9092/tcp   broker-2</a:t>
            </a:r>
          </a:p>
          <a:p>
            <a:r>
              <a:rPr lang="ko-KR" altLang="en-US" sz="800" dirty="0">
                <a:latin typeface="돋움체" panose="020B0609000101010101" pitchFamily="49" charset="-127"/>
                <a:ea typeface="돋움체" panose="020B0609000101010101" pitchFamily="49" charset="-127"/>
              </a:rPr>
              <a:t>cd1ac0760e67   apache/kafka:latest   "/__cacert_entrypoin…"   27 hours ago   Up About a minute             0.0.0.0:49092-&gt;9092/tcp, [::]:49092-&gt;9092/tcp   broker-3</a:t>
            </a:r>
          </a:p>
          <a:p>
            <a:r>
              <a:rPr lang="ko-KR" altLang="en-US" sz="800" dirty="0">
                <a:latin typeface="돋움체" panose="020B0609000101010101" pitchFamily="49" charset="-127"/>
                <a:ea typeface="돋움체" panose="020B0609000101010101" pitchFamily="49" charset="-127"/>
              </a:rPr>
              <a:t>a61709fdf5d2   apache/kafka:latest   "/__cacert_entrypoin…"   27 hours ago   Up About a minute             0.0.0.0:29092-&gt;9092/tcp, [::]:29092-&gt;9092/tcp   broker-1</a:t>
            </a:r>
          </a:p>
          <a:p>
            <a:r>
              <a:rPr lang="ko-KR" altLang="en-US" sz="800" dirty="0">
                <a:latin typeface="돋움체" panose="020B0609000101010101" pitchFamily="49" charset="-127"/>
                <a:ea typeface="돋움체" panose="020B0609000101010101" pitchFamily="49" charset="-127"/>
              </a:rPr>
              <a:t>0f6ebe2dab14   apache/kafka:latest   "/__cacert_entrypoin…"   27 hours ago   Up About a minute             9092/tcp                                        controller-3</a:t>
            </a:r>
          </a:p>
          <a:p>
            <a:r>
              <a:rPr lang="ko-KR" altLang="en-US" sz="800" dirty="0">
                <a:latin typeface="돋움체" panose="020B0609000101010101" pitchFamily="49" charset="-127"/>
                <a:ea typeface="돋움체" panose="020B0609000101010101" pitchFamily="49" charset="-127"/>
              </a:rPr>
              <a:t>0a455ac32b52   apache/kafka:latest   "/__cacert_entrypoin…"   27 hours ago   Up About a minute             9092/tcp                                        controller-2</a:t>
            </a:r>
          </a:p>
          <a:p>
            <a:r>
              <a:rPr lang="ko-KR" altLang="en-US" sz="800" dirty="0">
                <a:latin typeface="돋움체" panose="020B0609000101010101" pitchFamily="49" charset="-127"/>
                <a:ea typeface="돋움체" panose="020B0609000101010101" pitchFamily="49" charset="-127"/>
              </a:rPr>
              <a:t>126a7195a490   apache/kafka:latest   "/__cacert_entrypoin…"   27 hours ago   Up About a minute             9092/tcp                                        controller-1</a:t>
            </a:r>
          </a:p>
        </p:txBody>
      </p:sp>
    </p:spTree>
    <p:extLst>
      <p:ext uri="{BB962C8B-B14F-4D97-AF65-F5344CB8AC3E}">
        <p14:creationId xmlns:p14="http://schemas.microsoft.com/office/powerpoint/2010/main" val="3340734271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92" t="5249" r="4031" b="6551"/>
          <a:stretch/>
        </p:blipFill>
        <p:spPr>
          <a:xfrm>
            <a:off x="1805996" y="4059323"/>
            <a:ext cx="3698318" cy="2563485"/>
          </a:xfrm>
          <a:prstGeom prst="rect">
            <a:avLst/>
          </a:prstGeom>
        </p:spPr>
      </p:pic>
      <p:sp>
        <p:nvSpPr>
          <p:cNvPr id="6148" name="제목 1"/>
          <p:cNvSpPr>
            <a:spLocks noGrp="1"/>
          </p:cNvSpPr>
          <p:nvPr>
            <p:ph type="title"/>
          </p:nvPr>
        </p:nvSpPr>
        <p:spPr>
          <a:xfrm>
            <a:off x="344488" y="152400"/>
            <a:ext cx="9307512" cy="360363"/>
          </a:xfrm>
          <a:ln/>
        </p:spPr>
        <p:txBody>
          <a:bodyPr/>
          <a:lstStyle/>
          <a:p>
            <a:r>
              <a:rPr lang="en-US" altLang="ko-KR" dirty="0"/>
              <a:t>4.2 </a:t>
            </a:r>
            <a:r>
              <a:rPr lang="en-US" altLang="ko-KR" dirty="0" err="1"/>
              <a:t>STS</a:t>
            </a:r>
            <a:r>
              <a:rPr lang="ko-KR" altLang="en-US" dirty="0"/>
              <a:t>에 소스 코드 열기</a:t>
            </a:r>
          </a:p>
        </p:txBody>
      </p:sp>
      <p:sp>
        <p:nvSpPr>
          <p:cNvPr id="6149" name="내용 개체 틀 2"/>
          <p:cNvSpPr>
            <a:spLocks noGrp="1"/>
          </p:cNvSpPr>
          <p:nvPr>
            <p:ph idx="1"/>
          </p:nvPr>
        </p:nvSpPr>
        <p:spPr>
          <a:xfrm>
            <a:off x="458788" y="836613"/>
            <a:ext cx="9193212" cy="576262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ko-KR" sz="1800" dirty="0"/>
              <a:t>Spring Boot</a:t>
            </a:r>
            <a:r>
              <a:rPr lang="ko-KR" altLang="en-US" sz="1800" dirty="0"/>
              <a:t>를 </a:t>
            </a:r>
            <a:r>
              <a:rPr lang="en-US" altLang="ko-KR" sz="1800" dirty="0"/>
              <a:t>Spring Tool Suite</a:t>
            </a:r>
            <a:r>
              <a:rPr lang="ko-KR" altLang="en-US" sz="1800" dirty="0"/>
              <a:t>를 이용해서 개발 </a:t>
            </a:r>
            <a:r>
              <a:rPr lang="en-US" altLang="ko-KR" sz="1800" dirty="0"/>
              <a:t>(</a:t>
            </a:r>
            <a:r>
              <a:rPr lang="ko-KR" altLang="en-US" sz="1800" dirty="0"/>
              <a:t>사전에 </a:t>
            </a:r>
            <a:r>
              <a:rPr lang="ko-KR" altLang="en-US" sz="1800" dirty="0" err="1"/>
              <a:t>가상머신에</a:t>
            </a:r>
            <a:r>
              <a:rPr lang="ko-KR" altLang="en-US" sz="1800" dirty="0"/>
              <a:t> 반영 완료함</a:t>
            </a:r>
            <a:r>
              <a:rPr lang="en-US" altLang="ko-KR" sz="1800" dirty="0"/>
              <a:t>)</a:t>
            </a: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5" t="4995" r="78431" b="42558"/>
          <a:stretch/>
        </p:blipFill>
        <p:spPr>
          <a:xfrm>
            <a:off x="583020" y="1196752"/>
            <a:ext cx="720081" cy="1512168"/>
          </a:xfrm>
          <a:prstGeom prst="rect">
            <a:avLst/>
          </a:prstGeom>
        </p:spPr>
      </p:pic>
      <p:sp>
        <p:nvSpPr>
          <p:cNvPr id="15" name="직사각형 14"/>
          <p:cNvSpPr/>
          <p:nvPr/>
        </p:nvSpPr>
        <p:spPr>
          <a:xfrm>
            <a:off x="730944" y="2137256"/>
            <a:ext cx="493897" cy="427647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Ins="28800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6" name="직선 화살표 연결선 15"/>
          <p:cNvCxnSpPr>
            <a:stCxn id="15" idx="3"/>
            <a:endCxn id="17" idx="1"/>
          </p:cNvCxnSpPr>
          <p:nvPr/>
        </p:nvCxnSpPr>
        <p:spPr>
          <a:xfrm>
            <a:off x="1224841" y="2351080"/>
            <a:ext cx="582315" cy="141817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7" t="4197" r="3038" b="5894"/>
          <a:stretch/>
        </p:blipFill>
        <p:spPr>
          <a:xfrm>
            <a:off x="1807156" y="1196752"/>
            <a:ext cx="3744416" cy="259228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72422" y="2756827"/>
            <a:ext cx="10467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바탕 화면에서 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STS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실행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5634" y="3757867"/>
            <a:ext cx="10467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STS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실행</a:t>
            </a: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4" t="5250" r="3966" b="6551"/>
          <a:stretch/>
        </p:blipFill>
        <p:spPr>
          <a:xfrm>
            <a:off x="5839604" y="1221411"/>
            <a:ext cx="3693330" cy="254296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731592" y="3716056"/>
            <a:ext cx="41764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File -&gt; Import -&gt; General -&gt; Existing Projects into workspace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선택</a:t>
            </a:r>
          </a:p>
        </p:txBody>
      </p:sp>
      <p:cxnSp>
        <p:nvCxnSpPr>
          <p:cNvPr id="26" name="직선 화살표 연결선 15"/>
          <p:cNvCxnSpPr>
            <a:stCxn id="17" idx="3"/>
            <a:endCxn id="24" idx="1"/>
          </p:cNvCxnSpPr>
          <p:nvPr/>
        </p:nvCxnSpPr>
        <p:spPr>
          <a:xfrm flipV="1">
            <a:off x="5551572" y="2492896"/>
            <a:ext cx="288032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15"/>
          <p:cNvCxnSpPr>
            <a:stCxn id="24" idx="1"/>
            <a:endCxn id="2" idx="0"/>
          </p:cNvCxnSpPr>
          <p:nvPr/>
        </p:nvCxnSpPr>
        <p:spPr>
          <a:xfrm flipH="1">
            <a:off x="3655155" y="2492896"/>
            <a:ext cx="2184449" cy="15664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839604" y="4869160"/>
            <a:ext cx="38659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Select root directory : /home/user/Desktop/materials/eclipse-workspace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입력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Projects : 3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개 프로젝트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check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Finish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버튼 클릭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# Project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목록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kafka_consumer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: Kafka Consumer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예제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kafka_producer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: Kafka Producer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예제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kafka_streams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: Kafka Streams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예제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2782336" y="4653136"/>
            <a:ext cx="1882632" cy="862143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Ins="28800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8520690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제목 1"/>
          <p:cNvSpPr>
            <a:spLocks noGrp="1"/>
          </p:cNvSpPr>
          <p:nvPr>
            <p:ph type="title"/>
          </p:nvPr>
        </p:nvSpPr>
        <p:spPr>
          <a:xfrm>
            <a:off x="344488" y="152400"/>
            <a:ext cx="9307512" cy="360363"/>
          </a:xfrm>
          <a:ln/>
        </p:spPr>
        <p:txBody>
          <a:bodyPr/>
          <a:lstStyle/>
          <a:p>
            <a:r>
              <a:rPr lang="en-US" altLang="ko-KR" dirty="0"/>
              <a:t>4.2 </a:t>
            </a:r>
            <a:r>
              <a:rPr lang="en-US" altLang="ko-KR" dirty="0" err="1"/>
              <a:t>STS</a:t>
            </a:r>
            <a:r>
              <a:rPr lang="ko-KR" altLang="en-US" dirty="0"/>
              <a:t>에 소스 코드 열기</a:t>
            </a:r>
          </a:p>
        </p:txBody>
      </p:sp>
      <p:sp>
        <p:nvSpPr>
          <p:cNvPr id="6149" name="내용 개체 틀 2"/>
          <p:cNvSpPr>
            <a:spLocks noGrp="1"/>
          </p:cNvSpPr>
          <p:nvPr>
            <p:ph idx="1"/>
          </p:nvPr>
        </p:nvSpPr>
        <p:spPr>
          <a:xfrm>
            <a:off x="458788" y="836613"/>
            <a:ext cx="9193212" cy="576262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ko-KR" sz="1800" dirty="0" err="1"/>
              <a:t>Kafka_Consumer</a:t>
            </a:r>
            <a:r>
              <a:rPr lang="en-US" altLang="ko-KR" sz="1800" dirty="0"/>
              <a:t>, </a:t>
            </a:r>
            <a:r>
              <a:rPr lang="en-US" altLang="ko-KR" sz="1800" dirty="0" err="1"/>
              <a:t>Kafka_Producer</a:t>
            </a:r>
            <a:r>
              <a:rPr lang="en-US" altLang="ko-KR" sz="1800" dirty="0"/>
              <a:t> </a:t>
            </a:r>
            <a:r>
              <a:rPr lang="ko-KR" altLang="en-US" sz="1800" dirty="0"/>
              <a:t>프로젝트에 </a:t>
            </a:r>
            <a:r>
              <a:rPr lang="en-US" altLang="ko-KR" sz="1800" dirty="0"/>
              <a:t>Kafka</a:t>
            </a:r>
            <a:r>
              <a:rPr lang="ko-KR" altLang="en-US" sz="1800" dirty="0"/>
              <a:t>와 연계할 수 있는 자바 소스 코드가 포함되어 있음 </a:t>
            </a:r>
            <a:r>
              <a:rPr lang="en-US" altLang="ko-KR" sz="1800" dirty="0"/>
              <a:t>(</a:t>
            </a:r>
            <a:r>
              <a:rPr lang="ko-KR" altLang="en-US" sz="1800" dirty="0"/>
              <a:t>소스 코드 설명은 생략</a:t>
            </a:r>
            <a:r>
              <a:rPr lang="en-US" altLang="ko-KR" sz="1800" dirty="0"/>
              <a:t>)</a:t>
            </a:r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1. </a:t>
            </a:r>
            <a:r>
              <a:rPr lang="en-US" altLang="ko-KR" sz="1000" dirty="0" err="1"/>
              <a:t>kafka_consumer</a:t>
            </a:r>
            <a:r>
              <a:rPr lang="en-US" altLang="ko-KR" sz="1000" dirty="0"/>
              <a:t> </a:t>
            </a:r>
            <a:r>
              <a:rPr lang="ko-KR" altLang="en-US" sz="1000" dirty="0"/>
              <a:t>프로젝트에서 마우스 </a:t>
            </a:r>
            <a:r>
              <a:rPr lang="ko-KR" altLang="en-US" sz="1000" dirty="0" err="1"/>
              <a:t>우클릭</a:t>
            </a:r>
            <a:r>
              <a:rPr lang="ko-KR" altLang="en-US" sz="1000" dirty="0"/>
              <a:t> </a:t>
            </a:r>
            <a:r>
              <a:rPr lang="en-US" altLang="ko-KR" sz="1000" dirty="0"/>
              <a:t>-&gt; Run As -&gt; Spring Boot App </a:t>
            </a:r>
            <a:r>
              <a:rPr lang="ko-KR" altLang="en-US" sz="1000" dirty="0"/>
              <a:t>명령으로 </a:t>
            </a:r>
            <a:r>
              <a:rPr lang="en-US" altLang="ko-KR" sz="1000" dirty="0"/>
              <a:t>Consumer </a:t>
            </a:r>
            <a:r>
              <a:rPr lang="ko-KR" altLang="en-US" sz="1000" dirty="0"/>
              <a:t>실행</a:t>
            </a: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2. </a:t>
            </a:r>
            <a:r>
              <a:rPr lang="en-US" altLang="ko-KR" sz="1000" dirty="0" err="1"/>
              <a:t>kafka_producer</a:t>
            </a:r>
            <a:r>
              <a:rPr lang="en-US" altLang="ko-KR" sz="1000" dirty="0"/>
              <a:t> </a:t>
            </a:r>
            <a:r>
              <a:rPr lang="ko-KR" altLang="en-US" sz="1000" dirty="0"/>
              <a:t>프로젝트에서 마우스 </a:t>
            </a:r>
            <a:r>
              <a:rPr lang="ko-KR" altLang="en-US" sz="1000" dirty="0" err="1"/>
              <a:t>우클릭</a:t>
            </a:r>
            <a:r>
              <a:rPr lang="ko-KR" altLang="en-US" sz="1000" dirty="0"/>
              <a:t> </a:t>
            </a:r>
            <a:r>
              <a:rPr lang="en-US" altLang="ko-KR" sz="1000" dirty="0"/>
              <a:t>-&gt; Run As -&gt; Spring Boot App </a:t>
            </a:r>
            <a:r>
              <a:rPr lang="ko-KR" altLang="en-US" sz="1000" dirty="0"/>
              <a:t>명령으로 </a:t>
            </a:r>
            <a:r>
              <a:rPr lang="en-US" altLang="ko-KR" sz="1000" dirty="0"/>
              <a:t>Consumer </a:t>
            </a:r>
            <a:r>
              <a:rPr lang="ko-KR" altLang="en-US" sz="1000" dirty="0"/>
              <a:t>실행</a:t>
            </a: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3" t="5051" r="4421" b="6750"/>
          <a:stretch/>
        </p:blipFill>
        <p:spPr>
          <a:xfrm>
            <a:off x="3348677" y="2060848"/>
            <a:ext cx="6500867" cy="451299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94" t="14301" r="49245" b="57350"/>
          <a:stretch/>
        </p:blipFill>
        <p:spPr>
          <a:xfrm>
            <a:off x="200472" y="2060848"/>
            <a:ext cx="2592288" cy="1272578"/>
          </a:xfrm>
          <a:prstGeom prst="rect">
            <a:avLst/>
          </a:prstGeom>
        </p:spPr>
      </p:pic>
      <p:cxnSp>
        <p:nvCxnSpPr>
          <p:cNvPr id="19" name="직선 화살표 연결선 15"/>
          <p:cNvCxnSpPr>
            <a:stCxn id="22" idx="3"/>
            <a:endCxn id="28" idx="1"/>
          </p:cNvCxnSpPr>
          <p:nvPr/>
        </p:nvCxnSpPr>
        <p:spPr>
          <a:xfrm>
            <a:off x="1613276" y="2959336"/>
            <a:ext cx="4131812" cy="313396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101108" y="2785519"/>
            <a:ext cx="1512168" cy="347633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Ins="28800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5745088" y="6021288"/>
            <a:ext cx="1152128" cy="144016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Ins="28800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49361048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제목 1"/>
          <p:cNvSpPr>
            <a:spLocks noGrp="1"/>
          </p:cNvSpPr>
          <p:nvPr>
            <p:ph type="title"/>
          </p:nvPr>
        </p:nvSpPr>
        <p:spPr>
          <a:xfrm>
            <a:off x="344488" y="152400"/>
            <a:ext cx="9307512" cy="360363"/>
          </a:xfrm>
          <a:ln/>
        </p:spPr>
        <p:txBody>
          <a:bodyPr/>
          <a:lstStyle/>
          <a:p>
            <a:r>
              <a:rPr lang="en-US" altLang="ko-KR" dirty="0"/>
              <a:t>4.2 </a:t>
            </a:r>
            <a:r>
              <a:rPr lang="en-US" altLang="ko-KR" dirty="0" err="1"/>
              <a:t>STS</a:t>
            </a:r>
            <a:r>
              <a:rPr lang="ko-KR" altLang="en-US" dirty="0"/>
              <a:t>에 소스 코드 열기</a:t>
            </a:r>
          </a:p>
        </p:txBody>
      </p:sp>
      <p:sp>
        <p:nvSpPr>
          <p:cNvPr id="6149" name="내용 개체 틀 2"/>
          <p:cNvSpPr>
            <a:spLocks noGrp="1"/>
          </p:cNvSpPr>
          <p:nvPr>
            <p:ph idx="1"/>
          </p:nvPr>
        </p:nvSpPr>
        <p:spPr>
          <a:xfrm>
            <a:off x="458788" y="836613"/>
            <a:ext cx="9193212" cy="576262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ko-KR" sz="1800" dirty="0" err="1"/>
              <a:t>Kafka_Consumer</a:t>
            </a:r>
            <a:r>
              <a:rPr lang="en-US" altLang="ko-KR" sz="1800" dirty="0"/>
              <a:t>, </a:t>
            </a:r>
            <a:r>
              <a:rPr lang="en-US" altLang="ko-KR" sz="1800" dirty="0" err="1"/>
              <a:t>Kafka_Producer</a:t>
            </a:r>
            <a:r>
              <a:rPr lang="en-US" altLang="ko-KR" sz="1800" dirty="0"/>
              <a:t> </a:t>
            </a:r>
            <a:r>
              <a:rPr lang="ko-KR" altLang="en-US" sz="1800" dirty="0"/>
              <a:t>프로젝트에 </a:t>
            </a:r>
            <a:r>
              <a:rPr lang="en-US" altLang="ko-KR" sz="1800" dirty="0"/>
              <a:t>Kafka</a:t>
            </a:r>
            <a:r>
              <a:rPr lang="ko-KR" altLang="en-US" sz="1800" dirty="0"/>
              <a:t>와 연계할 수 있는 자바 소스 코드가 포함되어 있음 </a:t>
            </a:r>
            <a:r>
              <a:rPr lang="en-US" altLang="ko-KR" sz="1800" dirty="0"/>
              <a:t>(</a:t>
            </a:r>
            <a:r>
              <a:rPr lang="ko-KR" altLang="en-US" sz="1800" dirty="0"/>
              <a:t>소스 코드 설명은 생략</a:t>
            </a:r>
            <a:r>
              <a:rPr lang="en-US" altLang="ko-KR" sz="1800" dirty="0"/>
              <a:t>)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488503" y="1484784"/>
            <a:ext cx="5033166" cy="3495254"/>
            <a:chOff x="56456" y="1988121"/>
            <a:chExt cx="6419210" cy="4393207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78" t="5250" r="4031" b="6153"/>
            <a:stretch/>
          </p:blipFill>
          <p:spPr>
            <a:xfrm>
              <a:off x="56456" y="1988121"/>
              <a:ext cx="6351952" cy="4393207"/>
            </a:xfrm>
            <a:prstGeom prst="rect">
              <a:avLst/>
            </a:prstGeom>
          </p:spPr>
        </p:pic>
        <p:sp>
          <p:nvSpPr>
            <p:cNvPr id="10" name="직사각형 9"/>
            <p:cNvSpPr/>
            <p:nvPr/>
          </p:nvSpPr>
          <p:spPr>
            <a:xfrm>
              <a:off x="1435106" y="3501009"/>
              <a:ext cx="5040560" cy="259228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rIns="288000" rtlCol="0" anchor="ctr"/>
            <a:lstStyle/>
            <a:p>
              <a:pPr algn="ctr"/>
              <a:endParaRPr lang="ko-KR" altLang="en-US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4"/>
          <a:srcRect t="10035" b="47818"/>
          <a:stretch/>
        </p:blipFill>
        <p:spPr>
          <a:xfrm>
            <a:off x="474352" y="5085184"/>
            <a:ext cx="5184576" cy="1287680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5817096" y="2848919"/>
            <a:ext cx="401540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Producer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 </a:t>
            </a:r>
            <a:r>
              <a:rPr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메세지를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전송하고 있고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그 내용을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Consumer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 받아서 </a:t>
            </a:r>
            <a:r>
              <a:rPr lang="en-US" altLang="ko-KR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SYSOUT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으로 출력하고 있다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5817096" y="5517232"/>
            <a:ext cx="401540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err="1">
                <a:latin typeface="맑은 고딕" panose="020B0503020000020004" pitchFamily="50" charset="-127"/>
                <a:ea typeface="맑은 고딕" panose="020B0503020000020004" pitchFamily="50" charset="-127"/>
              </a:rPr>
              <a:t>AKHQ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에서 </a:t>
            </a:r>
            <a:r>
              <a:rPr lang="en-US" altLang="ko-KR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kafka_spring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토피의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데이터 건수와 크기가 늘어난 것을 확인할 수 있다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704527" y="5805264"/>
            <a:ext cx="4922573" cy="27790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Ins="28800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6826644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제목 1"/>
          <p:cNvSpPr>
            <a:spLocks noGrp="1"/>
          </p:cNvSpPr>
          <p:nvPr>
            <p:ph type="title"/>
          </p:nvPr>
        </p:nvSpPr>
        <p:spPr>
          <a:xfrm>
            <a:off x="344488" y="152400"/>
            <a:ext cx="9307512" cy="360363"/>
          </a:xfrm>
          <a:ln/>
        </p:spPr>
        <p:txBody>
          <a:bodyPr/>
          <a:lstStyle/>
          <a:p>
            <a:r>
              <a:rPr lang="en-US" altLang="ko-KR" dirty="0"/>
              <a:t>4.2 </a:t>
            </a:r>
            <a:r>
              <a:rPr lang="en-US" altLang="ko-KR" dirty="0" err="1"/>
              <a:t>STS</a:t>
            </a:r>
            <a:r>
              <a:rPr lang="ko-KR" altLang="en-US" dirty="0"/>
              <a:t>에 소스 코드 열기</a:t>
            </a:r>
          </a:p>
        </p:txBody>
      </p:sp>
      <p:sp>
        <p:nvSpPr>
          <p:cNvPr id="6149" name="내용 개체 틀 2"/>
          <p:cNvSpPr>
            <a:spLocks noGrp="1"/>
          </p:cNvSpPr>
          <p:nvPr>
            <p:ph idx="1"/>
          </p:nvPr>
        </p:nvSpPr>
        <p:spPr>
          <a:xfrm>
            <a:off x="458788" y="836613"/>
            <a:ext cx="9193212" cy="576262"/>
          </a:xfrm>
        </p:spPr>
        <p:txBody>
          <a:bodyPr/>
          <a:lstStyle/>
          <a:p>
            <a:pPr>
              <a:buFontTx/>
              <a:buChar char="•"/>
            </a:pPr>
            <a:r>
              <a:rPr lang="ko-KR" altLang="en-US" sz="1800" dirty="0"/>
              <a:t>관련 소스 코드는 </a:t>
            </a:r>
            <a:r>
              <a:rPr lang="en-US" altLang="ko-KR" sz="1800" dirty="0"/>
              <a:t>Producer</a:t>
            </a:r>
            <a:r>
              <a:rPr lang="ko-KR" altLang="en-US" sz="1800" dirty="0"/>
              <a:t>는 </a:t>
            </a:r>
            <a:r>
              <a:rPr lang="en-US" altLang="ko-KR" sz="1800" dirty="0" err="1"/>
              <a:t>KafkaProducer</a:t>
            </a:r>
            <a:r>
              <a:rPr lang="en-US" altLang="ko-KR" sz="1800" dirty="0"/>
              <a:t>, Consumer</a:t>
            </a:r>
            <a:r>
              <a:rPr lang="ko-KR" altLang="en-US" sz="1800" dirty="0"/>
              <a:t>는 </a:t>
            </a:r>
            <a:r>
              <a:rPr lang="en-US" altLang="ko-KR" sz="1800" dirty="0" err="1"/>
              <a:t>KafkaConsumer</a:t>
            </a:r>
            <a:r>
              <a:rPr lang="ko-KR" altLang="en-US" sz="1800" dirty="0"/>
              <a:t>에 있다</a:t>
            </a:r>
            <a:r>
              <a:rPr lang="en-US" altLang="ko-KR" sz="1800" dirty="0"/>
              <a:t>.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5" t="4851" r="3905" b="5900"/>
          <a:stretch/>
        </p:blipFill>
        <p:spPr>
          <a:xfrm>
            <a:off x="848544" y="1244562"/>
            <a:ext cx="7992888" cy="5568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01310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제목 1"/>
          <p:cNvSpPr>
            <a:spLocks noGrp="1"/>
          </p:cNvSpPr>
          <p:nvPr>
            <p:ph type="title"/>
          </p:nvPr>
        </p:nvSpPr>
        <p:spPr>
          <a:xfrm>
            <a:off x="344488" y="152400"/>
            <a:ext cx="9307512" cy="360363"/>
          </a:xfrm>
          <a:ln/>
        </p:spPr>
        <p:txBody>
          <a:bodyPr/>
          <a:lstStyle/>
          <a:p>
            <a:r>
              <a:rPr lang="en-US" altLang="ko-KR" dirty="0"/>
              <a:t>4.2 </a:t>
            </a:r>
            <a:r>
              <a:rPr lang="en-US" altLang="ko-KR" dirty="0" err="1"/>
              <a:t>STS</a:t>
            </a:r>
            <a:r>
              <a:rPr lang="ko-KR" altLang="en-US" dirty="0"/>
              <a:t>에 소스 코드 열기</a:t>
            </a:r>
          </a:p>
        </p:txBody>
      </p:sp>
      <p:sp>
        <p:nvSpPr>
          <p:cNvPr id="6149" name="내용 개체 틀 2"/>
          <p:cNvSpPr>
            <a:spLocks noGrp="1"/>
          </p:cNvSpPr>
          <p:nvPr>
            <p:ph idx="1"/>
          </p:nvPr>
        </p:nvSpPr>
        <p:spPr>
          <a:xfrm>
            <a:off x="458788" y="836613"/>
            <a:ext cx="9193212" cy="576262"/>
          </a:xfrm>
        </p:spPr>
        <p:txBody>
          <a:bodyPr/>
          <a:lstStyle/>
          <a:p>
            <a:pPr>
              <a:buFontTx/>
              <a:buChar char="•"/>
            </a:pPr>
            <a:r>
              <a:rPr lang="ko-KR" altLang="en-US" sz="1800" dirty="0"/>
              <a:t>관련 소스 코드는 </a:t>
            </a:r>
            <a:r>
              <a:rPr lang="en-US" altLang="ko-KR" sz="1800" dirty="0"/>
              <a:t>Producer</a:t>
            </a:r>
            <a:r>
              <a:rPr lang="ko-KR" altLang="en-US" sz="1800" dirty="0"/>
              <a:t>는 </a:t>
            </a:r>
            <a:r>
              <a:rPr lang="en-US" altLang="ko-KR" sz="1800" dirty="0" err="1"/>
              <a:t>KafkaProducer</a:t>
            </a:r>
            <a:r>
              <a:rPr lang="en-US" altLang="ko-KR" sz="1800" dirty="0"/>
              <a:t>, Consumer</a:t>
            </a:r>
            <a:r>
              <a:rPr lang="ko-KR" altLang="en-US" sz="1800" dirty="0"/>
              <a:t>는 </a:t>
            </a:r>
            <a:r>
              <a:rPr lang="en-US" altLang="ko-KR" sz="1800" dirty="0" err="1"/>
              <a:t>KafkaConsumer</a:t>
            </a:r>
            <a:r>
              <a:rPr lang="ko-KR" altLang="en-US" sz="1800" dirty="0"/>
              <a:t>에 있다</a:t>
            </a:r>
            <a:r>
              <a:rPr lang="en-US" altLang="ko-KR" sz="1800" dirty="0"/>
              <a:t>.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5" t="4851" r="3905" b="5900"/>
          <a:stretch/>
        </p:blipFill>
        <p:spPr>
          <a:xfrm>
            <a:off x="848544" y="1244562"/>
            <a:ext cx="7992888" cy="5568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353717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제목 1"/>
          <p:cNvSpPr>
            <a:spLocks noGrp="1"/>
          </p:cNvSpPr>
          <p:nvPr>
            <p:ph type="title"/>
          </p:nvPr>
        </p:nvSpPr>
        <p:spPr>
          <a:xfrm>
            <a:off x="344488" y="152400"/>
            <a:ext cx="9307512" cy="360363"/>
          </a:xfrm>
          <a:ln/>
        </p:spPr>
        <p:txBody>
          <a:bodyPr/>
          <a:lstStyle/>
          <a:p>
            <a:r>
              <a:rPr lang="en-US" altLang="ko-KR" dirty="0"/>
              <a:t>4.3 Stream </a:t>
            </a:r>
            <a:r>
              <a:rPr lang="ko-KR" altLang="en-US" dirty="0"/>
              <a:t>이해 및 연동</a:t>
            </a:r>
          </a:p>
        </p:txBody>
      </p:sp>
      <p:sp>
        <p:nvSpPr>
          <p:cNvPr id="6149" name="내용 개체 틀 2"/>
          <p:cNvSpPr>
            <a:spLocks noGrp="1"/>
          </p:cNvSpPr>
          <p:nvPr>
            <p:ph idx="1"/>
          </p:nvPr>
        </p:nvSpPr>
        <p:spPr>
          <a:xfrm>
            <a:off x="458788" y="836613"/>
            <a:ext cx="9193212" cy="576262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ko-KR" sz="1800" dirty="0"/>
              <a:t>Kafka Streams</a:t>
            </a:r>
            <a:r>
              <a:rPr lang="ko-KR" altLang="en-US" sz="1800" dirty="0"/>
              <a:t>는 </a:t>
            </a:r>
            <a:r>
              <a:rPr lang="en-US" altLang="ko-KR" sz="1800" dirty="0"/>
              <a:t>TOPIC</a:t>
            </a:r>
            <a:r>
              <a:rPr lang="ko-KR" altLang="en-US" sz="1800" dirty="0"/>
              <a:t>을 실시간으로 읽고 변환해서 다른 </a:t>
            </a:r>
            <a:r>
              <a:rPr lang="en-US" altLang="ko-KR" sz="1800" dirty="0"/>
              <a:t>TOPIC</a:t>
            </a:r>
            <a:r>
              <a:rPr lang="ko-KR" altLang="en-US" sz="1800" dirty="0"/>
              <a:t>에 적재</a:t>
            </a:r>
            <a:endParaRPr lang="en-US" altLang="ko-KR" sz="1800" dirty="0"/>
          </a:p>
          <a:p>
            <a:pPr>
              <a:buFontTx/>
              <a:buChar char="•"/>
            </a:pPr>
            <a:r>
              <a:rPr lang="en-US" altLang="ko-KR" sz="1800" dirty="0"/>
              <a:t>Kafka</a:t>
            </a:r>
            <a:r>
              <a:rPr lang="ko-KR" altLang="en-US" sz="1800" dirty="0"/>
              <a:t>에 추가적인 설정은 필요 없고 개발하는 </a:t>
            </a:r>
            <a:r>
              <a:rPr lang="en-US" altLang="ko-KR" sz="1800" dirty="0"/>
              <a:t>Library </a:t>
            </a:r>
            <a:r>
              <a:rPr lang="ko-KR" altLang="en-US" sz="1800" dirty="0"/>
              <a:t>임</a:t>
            </a:r>
            <a:endParaRPr lang="en-US" altLang="ko-KR" sz="18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rcRect l="1672" t="6985" r="413"/>
          <a:stretch/>
        </p:blipFill>
        <p:spPr>
          <a:xfrm>
            <a:off x="704528" y="1929254"/>
            <a:ext cx="8136904" cy="185978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4"/>
          <a:srcRect l="998" t="6897" r="817"/>
          <a:stretch/>
        </p:blipFill>
        <p:spPr>
          <a:xfrm>
            <a:off x="642609" y="4149080"/>
            <a:ext cx="8198823" cy="18760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4401" y="3789040"/>
            <a:ext cx="42485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/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Producer / Consumer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를 이용한 데이터 변환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528" y="6021288"/>
            <a:ext cx="29799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/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Streams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를 이용한 데이터 변환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4736976" y="1889692"/>
            <a:ext cx="1800000" cy="1944000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Ins="28800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4958824" y="4092484"/>
            <a:ext cx="2658471" cy="1944000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Ins="28800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꺾인 연결선 10"/>
          <p:cNvCxnSpPr>
            <a:stCxn id="8" idx="2"/>
            <a:endCxn id="12" idx="0"/>
          </p:cNvCxnSpPr>
          <p:nvPr/>
        </p:nvCxnSpPr>
        <p:spPr>
          <a:xfrm rot="16200000" flipH="1">
            <a:off x="5833122" y="3637546"/>
            <a:ext cx="258792" cy="651084"/>
          </a:xfrm>
          <a:prstGeom prst="bentConnector3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689304" y="4149080"/>
            <a:ext cx="21602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388" indent="-179388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Producer/Consumer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가 하나로 존재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병렬 처리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배치 처리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등이 가능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소스 코드 구조가 간단</a:t>
            </a:r>
          </a:p>
        </p:txBody>
      </p:sp>
    </p:spTree>
    <p:extLst>
      <p:ext uri="{BB962C8B-B14F-4D97-AF65-F5344CB8AC3E}">
        <p14:creationId xmlns:p14="http://schemas.microsoft.com/office/powerpoint/2010/main" val="1249952494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제목 1"/>
          <p:cNvSpPr>
            <a:spLocks noGrp="1"/>
          </p:cNvSpPr>
          <p:nvPr>
            <p:ph type="title"/>
          </p:nvPr>
        </p:nvSpPr>
        <p:spPr>
          <a:xfrm>
            <a:off x="344488" y="152400"/>
            <a:ext cx="9307512" cy="360363"/>
          </a:xfrm>
          <a:ln/>
        </p:spPr>
        <p:txBody>
          <a:bodyPr/>
          <a:lstStyle/>
          <a:p>
            <a:r>
              <a:rPr lang="en-US" altLang="ko-KR" dirty="0"/>
              <a:t>4.3 Stream </a:t>
            </a:r>
            <a:r>
              <a:rPr lang="ko-KR" altLang="en-US" dirty="0"/>
              <a:t>이해 및 연동</a:t>
            </a:r>
          </a:p>
        </p:txBody>
      </p:sp>
      <p:sp>
        <p:nvSpPr>
          <p:cNvPr id="6149" name="내용 개체 틀 2"/>
          <p:cNvSpPr>
            <a:spLocks noGrp="1"/>
          </p:cNvSpPr>
          <p:nvPr>
            <p:ph idx="1"/>
          </p:nvPr>
        </p:nvSpPr>
        <p:spPr>
          <a:xfrm>
            <a:off x="458788" y="836613"/>
            <a:ext cx="9193212" cy="576262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ko-KR" sz="1800" dirty="0"/>
              <a:t>Producer</a:t>
            </a:r>
            <a:r>
              <a:rPr lang="ko-KR" altLang="en-US" sz="1800" dirty="0"/>
              <a:t>에서 영어 문장을 입력하면 </a:t>
            </a:r>
            <a:r>
              <a:rPr lang="en-US" altLang="ko-KR" sz="1800" dirty="0"/>
              <a:t>Stream </a:t>
            </a:r>
            <a:r>
              <a:rPr lang="ko-KR" altLang="en-US" sz="1800" dirty="0"/>
              <a:t>에서 </a:t>
            </a:r>
            <a:r>
              <a:rPr lang="en-US" altLang="ko-KR" sz="1800" dirty="0" err="1"/>
              <a:t>KTable</a:t>
            </a:r>
            <a:r>
              <a:rPr lang="ko-KR" altLang="en-US" sz="1800" dirty="0"/>
              <a:t>에 </a:t>
            </a:r>
            <a:r>
              <a:rPr lang="ko-KR" altLang="en-US" sz="1800" dirty="0" err="1"/>
              <a:t>저장후</a:t>
            </a:r>
            <a:r>
              <a:rPr lang="ko-KR" altLang="en-US" sz="1800" dirty="0"/>
              <a:t> 동일한 단어가 </a:t>
            </a:r>
            <a:r>
              <a:rPr lang="ko-KR" altLang="en-US" sz="1800" dirty="0" err="1"/>
              <a:t>몇번</a:t>
            </a:r>
            <a:r>
              <a:rPr lang="ko-KR" altLang="en-US" sz="1800" dirty="0"/>
              <a:t> 반복되어 있는지 </a:t>
            </a:r>
            <a:r>
              <a:rPr lang="en-US" altLang="ko-KR" sz="1800" dirty="0"/>
              <a:t>Consumer</a:t>
            </a:r>
            <a:r>
              <a:rPr lang="ko-KR" altLang="en-US" sz="1800" dirty="0"/>
              <a:t>에서 </a:t>
            </a:r>
            <a:r>
              <a:rPr lang="ko-KR" altLang="en-US" sz="1800" dirty="0" err="1"/>
              <a:t>읽어들이는</a:t>
            </a:r>
            <a:r>
              <a:rPr lang="ko-KR" altLang="en-US" sz="1800" dirty="0"/>
              <a:t> 예제 실습</a:t>
            </a:r>
            <a:endParaRPr lang="en-US" altLang="ko-KR" sz="1800" dirty="0"/>
          </a:p>
          <a:p>
            <a:pPr>
              <a:buFontTx/>
              <a:buChar char="•"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# Kafka Topic 2</a:t>
            </a:r>
            <a:r>
              <a:rPr lang="ko-KR" altLang="en-US" sz="1000" dirty="0"/>
              <a:t>개 생성 </a:t>
            </a:r>
            <a:r>
              <a:rPr lang="en-US" altLang="ko-KR" sz="1000" dirty="0"/>
              <a:t>: input</a:t>
            </a:r>
            <a:r>
              <a:rPr lang="ko-KR" altLang="en-US" sz="1000" dirty="0"/>
              <a:t>용</a:t>
            </a:r>
            <a:r>
              <a:rPr lang="en-US" altLang="ko-KR" sz="1000" dirty="0"/>
              <a:t>, output </a:t>
            </a:r>
            <a:r>
              <a:rPr lang="ko-KR" altLang="en-US" sz="1000" dirty="0"/>
              <a:t>용 </a:t>
            </a:r>
            <a:r>
              <a:rPr lang="en-US" altLang="ko-KR" sz="1000" dirty="0"/>
              <a:t>-&gt; Streams</a:t>
            </a:r>
            <a:r>
              <a:rPr lang="ko-KR" altLang="en-US" sz="1000" dirty="0"/>
              <a:t>를 테스트하기 위해서는 최소 </a:t>
            </a:r>
            <a:r>
              <a:rPr lang="en-US" altLang="ko-KR" sz="1000" dirty="0"/>
              <a:t>2</a:t>
            </a:r>
            <a:r>
              <a:rPr lang="ko-KR" altLang="en-US" sz="1000" dirty="0"/>
              <a:t>개의 </a:t>
            </a:r>
            <a:r>
              <a:rPr lang="en-US" altLang="ko-KR" sz="1000" dirty="0"/>
              <a:t>Topic</a:t>
            </a:r>
            <a:r>
              <a:rPr lang="ko-KR" altLang="en-US" sz="1000" dirty="0"/>
              <a:t>이 필요하다</a:t>
            </a:r>
            <a:r>
              <a:rPr lang="en-US" altLang="ko-KR" sz="1000" dirty="0"/>
              <a:t>.</a:t>
            </a:r>
          </a:p>
          <a:p>
            <a:pPr marL="0" indent="0">
              <a:buNone/>
            </a:pPr>
            <a:r>
              <a:rPr lang="en-US" altLang="ko-KR" sz="1000" dirty="0"/>
              <a:t>cd /opt/</a:t>
            </a:r>
            <a:r>
              <a:rPr lang="en-US" altLang="ko-KR" sz="1000" dirty="0" err="1"/>
              <a:t>kafka</a:t>
            </a: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bin/</a:t>
            </a:r>
            <a:r>
              <a:rPr lang="en-US" altLang="ko-KR" sz="1000" dirty="0" err="1"/>
              <a:t>kafka-topics.sh</a:t>
            </a:r>
            <a:r>
              <a:rPr lang="en-US" altLang="ko-KR" sz="1000" dirty="0"/>
              <a:t> --create \</a:t>
            </a:r>
          </a:p>
          <a:p>
            <a:pPr marL="0" indent="0">
              <a:buNone/>
            </a:pPr>
            <a:r>
              <a:rPr lang="en-US" altLang="ko-KR" sz="1000" dirty="0"/>
              <a:t>    --bootstrap-server </a:t>
            </a:r>
            <a:r>
              <a:rPr lang="en-US" altLang="ko-KR" sz="1000" dirty="0" err="1"/>
              <a:t>localhost:29092</a:t>
            </a:r>
            <a:r>
              <a:rPr lang="en-US" altLang="ko-KR" sz="1000" dirty="0"/>
              <a:t> \</a:t>
            </a:r>
          </a:p>
          <a:p>
            <a:pPr marL="0" indent="0">
              <a:buNone/>
            </a:pPr>
            <a:r>
              <a:rPr lang="en-US" altLang="ko-KR" sz="1000" dirty="0"/>
              <a:t>    --replication-factor 1 --partitions 1 \</a:t>
            </a:r>
          </a:p>
          <a:p>
            <a:pPr marL="0" indent="0">
              <a:buNone/>
            </a:pPr>
            <a:r>
              <a:rPr lang="en-US" altLang="ko-KR" sz="1000" dirty="0"/>
              <a:t>    --topic streams-plaintext-input</a:t>
            </a:r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bin/</a:t>
            </a:r>
            <a:r>
              <a:rPr lang="en-US" altLang="ko-KR" sz="1000" dirty="0" err="1"/>
              <a:t>kafka-topics.sh</a:t>
            </a:r>
            <a:r>
              <a:rPr lang="en-US" altLang="ko-KR" sz="1000" dirty="0"/>
              <a:t> --create \</a:t>
            </a:r>
          </a:p>
          <a:p>
            <a:pPr marL="0" indent="0">
              <a:buNone/>
            </a:pPr>
            <a:r>
              <a:rPr lang="en-US" altLang="ko-KR" sz="1000" dirty="0"/>
              <a:t>    --bootstrap-server </a:t>
            </a:r>
            <a:r>
              <a:rPr lang="en-US" altLang="ko-KR" sz="1000" dirty="0" err="1"/>
              <a:t>localhost:29092</a:t>
            </a:r>
            <a:r>
              <a:rPr lang="en-US" altLang="ko-KR" sz="1000" dirty="0"/>
              <a:t> \</a:t>
            </a:r>
          </a:p>
          <a:p>
            <a:pPr marL="0" indent="0">
              <a:buNone/>
            </a:pPr>
            <a:r>
              <a:rPr lang="en-US" altLang="ko-KR" sz="1000" dirty="0"/>
              <a:t>    --replication-factor 1 --partitions 1 \</a:t>
            </a:r>
          </a:p>
          <a:p>
            <a:pPr marL="0" indent="0">
              <a:buNone/>
            </a:pPr>
            <a:r>
              <a:rPr lang="en-US" altLang="ko-KR" sz="1000" dirty="0"/>
              <a:t>    --topic streams-</a:t>
            </a:r>
            <a:r>
              <a:rPr lang="en-US" altLang="ko-KR" sz="1000" dirty="0" err="1"/>
              <a:t>wordcount</a:t>
            </a:r>
            <a:r>
              <a:rPr lang="en-US" altLang="ko-KR" sz="1000" dirty="0"/>
              <a:t>-output \</a:t>
            </a:r>
          </a:p>
          <a:p>
            <a:pPr marL="0" indent="0">
              <a:buNone/>
            </a:pPr>
            <a:r>
              <a:rPr lang="en-US" altLang="ko-KR" sz="1000" dirty="0"/>
              <a:t>    --</a:t>
            </a:r>
            <a:r>
              <a:rPr lang="en-US" altLang="ko-KR" sz="1000" dirty="0" err="1"/>
              <a:t>config</a:t>
            </a:r>
            <a:r>
              <a:rPr lang="en-US" altLang="ko-KR" sz="1000" dirty="0"/>
              <a:t> </a:t>
            </a:r>
            <a:r>
              <a:rPr lang="en-US" altLang="ko-KR" sz="1000" dirty="0" err="1"/>
              <a:t>cleanup.policy</a:t>
            </a:r>
            <a:r>
              <a:rPr lang="en-US" altLang="ko-KR" sz="1000" dirty="0"/>
              <a:t>=compact</a:t>
            </a:r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# </a:t>
            </a:r>
            <a:r>
              <a:rPr lang="ko-KR" altLang="en-US" sz="1000" dirty="0"/>
              <a:t>생성된 </a:t>
            </a:r>
            <a:r>
              <a:rPr lang="en-US" altLang="ko-KR" sz="1000" dirty="0"/>
              <a:t>topic 2</a:t>
            </a:r>
            <a:r>
              <a:rPr lang="ko-KR" altLang="en-US" sz="1000" dirty="0"/>
              <a:t>개 확인 </a:t>
            </a:r>
            <a:r>
              <a:rPr lang="en-US" altLang="ko-KR" sz="1000" dirty="0"/>
              <a:t>: bin/</a:t>
            </a:r>
            <a:r>
              <a:rPr lang="en-US" altLang="ko-KR" sz="1000" dirty="0" err="1"/>
              <a:t>kafka-topics.sh</a:t>
            </a:r>
            <a:r>
              <a:rPr lang="en-US" altLang="ko-KR" sz="1000" dirty="0"/>
              <a:t> --bootstrap-server </a:t>
            </a:r>
            <a:r>
              <a:rPr lang="en-US" altLang="ko-KR" sz="1000" dirty="0" err="1"/>
              <a:t>localhost:29092</a:t>
            </a:r>
            <a:r>
              <a:rPr lang="en-US" altLang="ko-KR" sz="1000" dirty="0"/>
              <a:t> --describe --exclude-internal</a:t>
            </a:r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800" dirty="0"/>
          </a:p>
        </p:txBody>
      </p:sp>
      <p:sp>
        <p:nvSpPr>
          <p:cNvPr id="4" name="직사각형 3"/>
          <p:cNvSpPr/>
          <p:nvPr/>
        </p:nvSpPr>
        <p:spPr>
          <a:xfrm>
            <a:off x="488664" y="4267974"/>
            <a:ext cx="9289032" cy="218521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800" dirty="0">
                <a:latin typeface="돋움체" panose="020B0609000101010101" pitchFamily="49" charset="-127"/>
                <a:ea typeface="돋움체" panose="020B0609000101010101" pitchFamily="49" charset="-127"/>
              </a:rPr>
              <a:t>user@kafkaedu:/opt/kafka$ bin/kafka-topics.sh --create \</a:t>
            </a:r>
          </a:p>
          <a:p>
            <a:r>
              <a:rPr lang="ko-KR" altLang="en-US" sz="800" dirty="0">
                <a:latin typeface="돋움체" panose="020B0609000101010101" pitchFamily="49" charset="-127"/>
                <a:ea typeface="돋움체" panose="020B0609000101010101" pitchFamily="49" charset="-127"/>
              </a:rPr>
              <a:t>    --bootstrap-server localhost:29092 \</a:t>
            </a:r>
          </a:p>
          <a:p>
            <a:r>
              <a:rPr lang="ko-KR" altLang="en-US" sz="800" dirty="0">
                <a:latin typeface="돋움체" panose="020B0609000101010101" pitchFamily="49" charset="-127"/>
                <a:ea typeface="돋움체" panose="020B0609000101010101" pitchFamily="49" charset="-127"/>
              </a:rPr>
              <a:t>    --replication-factor 1 --partitions 1 \</a:t>
            </a:r>
          </a:p>
          <a:p>
            <a:r>
              <a:rPr lang="ko-KR" altLang="en-US" sz="800" dirty="0">
                <a:latin typeface="돋움체" panose="020B0609000101010101" pitchFamily="49" charset="-127"/>
                <a:ea typeface="돋움체" panose="020B0609000101010101" pitchFamily="49" charset="-127"/>
              </a:rPr>
              <a:t>    --topic streams-plaintext-input</a:t>
            </a:r>
          </a:p>
          <a:p>
            <a:r>
              <a:rPr lang="ko-KR" altLang="en-US" sz="800" dirty="0">
                <a:latin typeface="돋움체" panose="020B0609000101010101" pitchFamily="49" charset="-127"/>
                <a:ea typeface="돋움체" panose="020B0609000101010101" pitchFamily="49" charset="-127"/>
              </a:rPr>
              <a:t>Created topic streams-plaintext-input.</a:t>
            </a:r>
          </a:p>
          <a:p>
            <a:r>
              <a:rPr lang="ko-KR" altLang="en-US" sz="800" dirty="0">
                <a:latin typeface="돋움체" panose="020B0609000101010101" pitchFamily="49" charset="-127"/>
                <a:ea typeface="돋움체" panose="020B0609000101010101" pitchFamily="49" charset="-127"/>
              </a:rPr>
              <a:t>user@kafkaedu:/opt/kafka$ bin/kafka-topics.sh --create \</a:t>
            </a:r>
          </a:p>
          <a:p>
            <a:r>
              <a:rPr lang="ko-KR" altLang="en-US" sz="800" dirty="0">
                <a:latin typeface="돋움체" panose="020B0609000101010101" pitchFamily="49" charset="-127"/>
                <a:ea typeface="돋움체" panose="020B0609000101010101" pitchFamily="49" charset="-127"/>
              </a:rPr>
              <a:t>    --bootstrap-server localhost:29092 \</a:t>
            </a:r>
          </a:p>
          <a:p>
            <a:r>
              <a:rPr lang="ko-KR" altLang="en-US" sz="800" dirty="0">
                <a:latin typeface="돋움체" panose="020B0609000101010101" pitchFamily="49" charset="-127"/>
                <a:ea typeface="돋움체" panose="020B0609000101010101" pitchFamily="49" charset="-127"/>
              </a:rPr>
              <a:t>    --replication-factor 1 --partitions 1 \</a:t>
            </a:r>
          </a:p>
          <a:p>
            <a:r>
              <a:rPr lang="ko-KR" altLang="en-US" sz="800" dirty="0">
                <a:latin typeface="돋움체" panose="020B0609000101010101" pitchFamily="49" charset="-127"/>
                <a:ea typeface="돋움체" panose="020B0609000101010101" pitchFamily="49" charset="-127"/>
              </a:rPr>
              <a:t>    --topic streams-wordcount-output \</a:t>
            </a:r>
          </a:p>
          <a:p>
            <a:r>
              <a:rPr lang="ko-KR" altLang="en-US" sz="800" dirty="0">
                <a:latin typeface="돋움체" panose="020B0609000101010101" pitchFamily="49" charset="-127"/>
                <a:ea typeface="돋움체" panose="020B0609000101010101" pitchFamily="49" charset="-127"/>
              </a:rPr>
              <a:t>    --config cleanup.policy=compact</a:t>
            </a:r>
          </a:p>
          <a:p>
            <a:r>
              <a:rPr lang="ko-KR" altLang="en-US" sz="800" dirty="0">
                <a:latin typeface="돋움체" panose="020B0609000101010101" pitchFamily="49" charset="-127"/>
                <a:ea typeface="돋움체" panose="020B0609000101010101" pitchFamily="49" charset="-127"/>
              </a:rPr>
              <a:t>Created topic streams-wordcount-output.</a:t>
            </a:r>
          </a:p>
          <a:p>
            <a:r>
              <a:rPr lang="ko-KR" altLang="en-US" sz="800" dirty="0">
                <a:latin typeface="돋움체" panose="020B0609000101010101" pitchFamily="49" charset="-127"/>
                <a:ea typeface="돋움체" panose="020B0609000101010101" pitchFamily="49" charset="-127"/>
              </a:rPr>
              <a:t>user@kafkaedu:/opt/kafka$ bin/kafka-topics.sh --bootstrap-server localhost:29092 --describe --exclude-internal</a:t>
            </a:r>
          </a:p>
          <a:p>
            <a:r>
              <a:rPr lang="ko-KR" altLang="en-US" sz="800" dirty="0">
                <a:latin typeface="돋움체" panose="020B0609000101010101" pitchFamily="49" charset="-127"/>
                <a:ea typeface="돋움체" panose="020B0609000101010101" pitchFamily="49" charset="-127"/>
              </a:rPr>
              <a:t>Topic: streams-plaintext-input	TopicId: _c_j6bRPRP2JyGnoYBhx_w	PartitionCount: 1	ReplicationFactor: 1	Configs: min.insync.replicas=1</a:t>
            </a:r>
          </a:p>
          <a:p>
            <a:r>
              <a:rPr lang="ko-KR" altLang="en-US" sz="800" dirty="0">
                <a:latin typeface="돋움체" panose="020B0609000101010101" pitchFamily="49" charset="-127"/>
                <a:ea typeface="돋움체" panose="020B0609000101010101" pitchFamily="49" charset="-127"/>
              </a:rPr>
              <a:t>	Topic: streams-plaintext-input	Partition: 0	Leader: 4	Replicas: 4	Isr: 4	Elr: 	LastKnownElr: </a:t>
            </a:r>
          </a:p>
          <a:p>
            <a:r>
              <a:rPr lang="ko-KR" altLang="en-US" sz="800" dirty="0">
                <a:latin typeface="돋움체" panose="020B0609000101010101" pitchFamily="49" charset="-127"/>
                <a:ea typeface="돋움체" panose="020B0609000101010101" pitchFamily="49" charset="-127"/>
              </a:rPr>
              <a:t>Topic: streams-wordcount-output	TopicId: WcEITW5QQNqXuUFbHYApog	PartitionCount: 1	ReplicationFactor: 1	Configs: min.insync.replicas=1,cleanup.policy=compact</a:t>
            </a:r>
          </a:p>
          <a:p>
            <a:r>
              <a:rPr lang="ko-KR" altLang="en-US" sz="800" dirty="0">
                <a:latin typeface="돋움체" panose="020B0609000101010101" pitchFamily="49" charset="-127"/>
                <a:ea typeface="돋움체" panose="020B0609000101010101" pitchFamily="49" charset="-127"/>
              </a:rPr>
              <a:t>	Topic: streams-wordcount-output	Partition: 0	Leader: 5	Replicas: 5	Isr: 5	Elr: 	LastKnownElr: </a:t>
            </a:r>
          </a:p>
          <a:p>
            <a:r>
              <a:rPr lang="ko-KR" altLang="en-US" sz="800" dirty="0">
                <a:latin typeface="돋움체" panose="020B0609000101010101" pitchFamily="49" charset="-127"/>
                <a:ea typeface="돋움체" panose="020B0609000101010101" pitchFamily="49" charset="-127"/>
              </a:rPr>
              <a:t>user@kafkaedu:/opt/kafka$ </a:t>
            </a:r>
          </a:p>
        </p:txBody>
      </p:sp>
    </p:spTree>
    <p:extLst>
      <p:ext uri="{BB962C8B-B14F-4D97-AF65-F5344CB8AC3E}">
        <p14:creationId xmlns:p14="http://schemas.microsoft.com/office/powerpoint/2010/main" val="3122919749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제목 1"/>
          <p:cNvSpPr>
            <a:spLocks noGrp="1"/>
          </p:cNvSpPr>
          <p:nvPr>
            <p:ph type="title"/>
          </p:nvPr>
        </p:nvSpPr>
        <p:spPr>
          <a:xfrm>
            <a:off x="344488" y="152400"/>
            <a:ext cx="9307512" cy="360363"/>
          </a:xfrm>
          <a:ln/>
        </p:spPr>
        <p:txBody>
          <a:bodyPr/>
          <a:lstStyle/>
          <a:p>
            <a:r>
              <a:rPr lang="en-US" altLang="ko-KR" dirty="0"/>
              <a:t>4.3 Stream </a:t>
            </a:r>
            <a:r>
              <a:rPr lang="ko-KR" altLang="en-US" dirty="0"/>
              <a:t>이해 및 연동</a:t>
            </a:r>
          </a:p>
        </p:txBody>
      </p:sp>
      <p:sp>
        <p:nvSpPr>
          <p:cNvPr id="6149" name="내용 개체 틀 2"/>
          <p:cNvSpPr>
            <a:spLocks noGrp="1"/>
          </p:cNvSpPr>
          <p:nvPr>
            <p:ph idx="1"/>
          </p:nvPr>
        </p:nvSpPr>
        <p:spPr>
          <a:xfrm>
            <a:off x="458788" y="836613"/>
            <a:ext cx="9193212" cy="576262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ko-KR" sz="1800" dirty="0"/>
              <a:t>Producer</a:t>
            </a:r>
            <a:r>
              <a:rPr lang="ko-KR" altLang="en-US" sz="1800" dirty="0"/>
              <a:t>에서 영어 문장을 입력하면 </a:t>
            </a:r>
            <a:r>
              <a:rPr lang="en-US" altLang="ko-KR" sz="1800" dirty="0"/>
              <a:t>Stream </a:t>
            </a:r>
            <a:r>
              <a:rPr lang="ko-KR" altLang="en-US" sz="1800" dirty="0"/>
              <a:t>에서 </a:t>
            </a:r>
            <a:r>
              <a:rPr lang="en-US" altLang="ko-KR" sz="1800" dirty="0" err="1"/>
              <a:t>KTable</a:t>
            </a:r>
            <a:r>
              <a:rPr lang="ko-KR" altLang="en-US" sz="1800" dirty="0"/>
              <a:t>에 </a:t>
            </a:r>
            <a:r>
              <a:rPr lang="ko-KR" altLang="en-US" sz="1800" dirty="0" err="1"/>
              <a:t>저장후</a:t>
            </a:r>
            <a:r>
              <a:rPr lang="ko-KR" altLang="en-US" sz="1800" dirty="0"/>
              <a:t> 동일한 단어가 </a:t>
            </a:r>
            <a:r>
              <a:rPr lang="ko-KR" altLang="en-US" sz="1800" dirty="0" err="1"/>
              <a:t>몇번</a:t>
            </a:r>
            <a:r>
              <a:rPr lang="ko-KR" altLang="en-US" sz="1800" dirty="0"/>
              <a:t> 반복되어 있는지 </a:t>
            </a:r>
            <a:r>
              <a:rPr lang="en-US" altLang="ko-KR" sz="1800" dirty="0"/>
              <a:t>Consumer</a:t>
            </a:r>
            <a:r>
              <a:rPr lang="ko-KR" altLang="en-US" sz="1800" dirty="0"/>
              <a:t>에서 </a:t>
            </a:r>
            <a:r>
              <a:rPr lang="ko-KR" altLang="en-US" sz="1800" dirty="0" err="1"/>
              <a:t>읽어들이는</a:t>
            </a:r>
            <a:r>
              <a:rPr lang="ko-KR" altLang="en-US" sz="1800" dirty="0"/>
              <a:t> 예제 실습</a:t>
            </a:r>
            <a:endParaRPr lang="en-US" altLang="ko-KR" sz="1800" dirty="0"/>
          </a:p>
          <a:p>
            <a:pPr>
              <a:buFontTx/>
              <a:buChar char="•"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# </a:t>
            </a:r>
            <a:r>
              <a:rPr lang="ko-KR" altLang="en-US" sz="1000" dirty="0"/>
              <a:t>가상 </a:t>
            </a:r>
            <a:r>
              <a:rPr lang="ko-KR" altLang="en-US" sz="1000" dirty="0" err="1"/>
              <a:t>머신에</a:t>
            </a:r>
            <a:r>
              <a:rPr lang="ko-KR" altLang="en-US" sz="1000" dirty="0"/>
              <a:t> 사전에 작성한 </a:t>
            </a:r>
            <a:r>
              <a:rPr lang="en-US" altLang="ko-KR" sz="1000" dirty="0"/>
              <a:t>Streams </a:t>
            </a:r>
            <a:r>
              <a:rPr lang="ko-KR" altLang="en-US" sz="1000" dirty="0"/>
              <a:t>자바 어플리케이션 실행</a:t>
            </a: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 err="1"/>
              <a:t>STS</a:t>
            </a:r>
            <a:r>
              <a:rPr lang="en-US" altLang="ko-KR" sz="1000" dirty="0"/>
              <a:t> (eclipse)</a:t>
            </a:r>
            <a:r>
              <a:rPr lang="ko-KR" altLang="en-US" sz="1000" dirty="0"/>
              <a:t>에서 </a:t>
            </a:r>
            <a:r>
              <a:rPr lang="en-US" altLang="ko-KR" sz="1000" dirty="0" err="1"/>
              <a:t>kafka_streams</a:t>
            </a:r>
            <a:r>
              <a:rPr lang="en-US" altLang="ko-KR" sz="1000" dirty="0"/>
              <a:t> </a:t>
            </a:r>
            <a:r>
              <a:rPr lang="ko-KR" altLang="en-US" sz="1000" dirty="0"/>
              <a:t>선택</a:t>
            </a:r>
            <a:r>
              <a:rPr lang="en-US" altLang="ko-KR" sz="1000" dirty="0"/>
              <a:t>. </a:t>
            </a:r>
            <a:r>
              <a:rPr lang="ko-KR" altLang="en-US" sz="1000" dirty="0"/>
              <a:t>마우스 </a:t>
            </a:r>
            <a:r>
              <a:rPr lang="ko-KR" altLang="en-US" sz="1000" dirty="0" err="1"/>
              <a:t>우클릭</a:t>
            </a:r>
            <a:r>
              <a:rPr lang="ko-KR" altLang="en-US" sz="1000" dirty="0"/>
              <a:t> </a:t>
            </a:r>
            <a:r>
              <a:rPr lang="en-US" altLang="ko-KR" sz="1000" dirty="0"/>
              <a:t>-&gt; Run As -&gt; Spring Boot App </a:t>
            </a:r>
            <a:r>
              <a:rPr lang="ko-KR" altLang="en-US" sz="1000" dirty="0"/>
              <a:t>선택</a:t>
            </a: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800" dirty="0"/>
          </a:p>
        </p:txBody>
      </p:sp>
      <p:grpSp>
        <p:nvGrpSpPr>
          <p:cNvPr id="5" name="그룹 4"/>
          <p:cNvGrpSpPr/>
          <p:nvPr/>
        </p:nvGrpSpPr>
        <p:grpSpPr>
          <a:xfrm>
            <a:off x="86331" y="2204864"/>
            <a:ext cx="4896545" cy="3331256"/>
            <a:chOff x="489269" y="2420888"/>
            <a:chExt cx="4896545" cy="3331256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05" t="5900" r="3905" b="6951"/>
            <a:stretch/>
          </p:blipFill>
          <p:spPr>
            <a:xfrm>
              <a:off x="489269" y="2420888"/>
              <a:ext cx="4896545" cy="3331256"/>
            </a:xfrm>
            <a:prstGeom prst="rect">
              <a:avLst/>
            </a:prstGeom>
          </p:spPr>
        </p:pic>
        <p:sp>
          <p:nvSpPr>
            <p:cNvPr id="7" name="직사각형 6"/>
            <p:cNvSpPr/>
            <p:nvPr/>
          </p:nvSpPr>
          <p:spPr>
            <a:xfrm>
              <a:off x="3080792" y="5341952"/>
              <a:ext cx="1152128" cy="14401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rIns="288000" rtlCol="0" anchor="ctr"/>
            <a:lstStyle/>
            <a:p>
              <a:pPr algn="ctr"/>
              <a:endParaRPr lang="ko-KR" altLang="en-US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4"/>
          <a:srcRect t="15315" r="1866"/>
          <a:stretch/>
        </p:blipFill>
        <p:spPr>
          <a:xfrm>
            <a:off x="5169024" y="2204864"/>
            <a:ext cx="4614716" cy="1512168"/>
          </a:xfrm>
          <a:prstGeom prst="rect">
            <a:avLst/>
          </a:prstGeom>
        </p:spPr>
      </p:pic>
      <p:cxnSp>
        <p:nvCxnSpPr>
          <p:cNvPr id="9" name="직선 화살표 연결선 15"/>
          <p:cNvCxnSpPr>
            <a:stCxn id="6" idx="3"/>
            <a:endCxn id="2" idx="1"/>
          </p:cNvCxnSpPr>
          <p:nvPr/>
        </p:nvCxnSpPr>
        <p:spPr>
          <a:xfrm flipV="1">
            <a:off x="4982876" y="2960948"/>
            <a:ext cx="186148" cy="9095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97017" y="3789040"/>
            <a:ext cx="475252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7800" indent="-177800"/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Spring Boot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어플리케이션 실행하면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개의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TOPIC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이 자동으로 생성됨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  <a:p>
            <a:pPr marL="342900" indent="-342900"/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AKHQ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혹은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CLI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로 확인 가능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  <a:p>
            <a:pPr marL="342900" indent="-342900"/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  <a:p>
            <a:pPr marL="342900" indent="-342900"/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Kafka Streams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를 사용할 경우 자동으로 생성되는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TOPIC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의 용도는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,</a:t>
            </a:r>
          </a:p>
          <a:p>
            <a:pPr lvl="0" eaLnBrk="0" latinLnBrk="0" hangingPunct="0"/>
            <a:endParaRPr lang="ko-KR" altLang="ko-KR" sz="1000" dirty="0">
              <a:latin typeface="맑은 고딕" pitchFamily="50" charset="-127"/>
              <a:ea typeface="맑은 고딕" pitchFamily="50" charset="-127"/>
            </a:endParaRPr>
          </a:p>
          <a:p>
            <a:pPr marL="171450" lvl="0" indent="-171450" eaLnBrk="0" latinLnBrk="0" hangingPunct="0">
              <a:buFont typeface="Arial" panose="020B0604020202020204" pitchFamily="34" charset="0"/>
              <a:buChar char="•"/>
            </a:pPr>
            <a:r>
              <a:rPr lang="ko-KR" altLang="ko-KR" sz="1000" dirty="0">
                <a:latin typeface="맑은 고딕" pitchFamily="50" charset="-127"/>
                <a:ea typeface="맑은 고딕" pitchFamily="50" charset="-127"/>
              </a:rPr>
              <a:t>Changelog Topics: Created for each state store to back up local data for fault tolerance.</a:t>
            </a:r>
          </a:p>
          <a:p>
            <a:pPr marL="171450" lvl="0" indent="-171450" eaLnBrk="0" latinLnBrk="0" hangingPunct="0">
              <a:buFont typeface="Arial" panose="020B0604020202020204" pitchFamily="34" charset="0"/>
              <a:buChar char="•"/>
            </a:pPr>
            <a:r>
              <a:rPr lang="ko-KR" altLang="ko-KR" sz="1000" dirty="0">
                <a:latin typeface="맑은 고딕" pitchFamily="50" charset="-127"/>
                <a:ea typeface="맑은 고딕" pitchFamily="50" charset="-127"/>
              </a:rPr>
              <a:t>Repartition Topics: Created when an operation (like groupBy or selectKey) requires data to be redistributed across partitions.</a:t>
            </a:r>
          </a:p>
          <a:p>
            <a:pPr lvl="0" eaLnBrk="0" latinLnBrk="0" hangingPunct="0"/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  <a:p>
            <a:pPr lvl="0" eaLnBrk="0" latinLnBrk="0" hangingPunct="0"/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내부적으로 관리되는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TOPIC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으로 개발자가 알 필요는 없다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5355172" y="3068960"/>
            <a:ext cx="4494372" cy="288032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Ins="28800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3461188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제목 1"/>
          <p:cNvSpPr>
            <a:spLocks noGrp="1"/>
          </p:cNvSpPr>
          <p:nvPr>
            <p:ph type="title"/>
          </p:nvPr>
        </p:nvSpPr>
        <p:spPr>
          <a:xfrm>
            <a:off x="344488" y="152400"/>
            <a:ext cx="9307512" cy="360363"/>
          </a:xfrm>
          <a:ln/>
        </p:spPr>
        <p:txBody>
          <a:bodyPr/>
          <a:lstStyle/>
          <a:p>
            <a:r>
              <a:rPr lang="en-US" altLang="ko-KR" dirty="0"/>
              <a:t>4.3 Stream </a:t>
            </a:r>
            <a:r>
              <a:rPr lang="ko-KR" altLang="en-US" dirty="0"/>
              <a:t>이해 및 연동</a:t>
            </a:r>
          </a:p>
        </p:txBody>
      </p:sp>
      <p:sp>
        <p:nvSpPr>
          <p:cNvPr id="6149" name="내용 개체 틀 2"/>
          <p:cNvSpPr>
            <a:spLocks noGrp="1"/>
          </p:cNvSpPr>
          <p:nvPr>
            <p:ph idx="1"/>
          </p:nvPr>
        </p:nvSpPr>
        <p:spPr>
          <a:xfrm>
            <a:off x="458788" y="836613"/>
            <a:ext cx="9193212" cy="576262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ko-KR" sz="1800" dirty="0" err="1"/>
              <a:t>KStream</a:t>
            </a:r>
            <a:r>
              <a:rPr lang="ko-KR" altLang="en-US" sz="1800" dirty="0"/>
              <a:t>과 </a:t>
            </a:r>
            <a:r>
              <a:rPr lang="en-US" altLang="ko-KR" sz="1800" dirty="0" err="1"/>
              <a:t>KTable</a:t>
            </a:r>
            <a:r>
              <a:rPr lang="ko-KR" altLang="en-US" sz="1800" dirty="0"/>
              <a:t>을 이용해서 </a:t>
            </a:r>
            <a:r>
              <a:rPr lang="en-US" altLang="ko-KR" sz="1800" dirty="0"/>
              <a:t>INPUT TOPIC </a:t>
            </a:r>
            <a:r>
              <a:rPr lang="ko-KR" altLang="en-US" sz="1800" dirty="0"/>
              <a:t>데이터를 계산하고 그 결과를 </a:t>
            </a:r>
            <a:r>
              <a:rPr lang="en-US" altLang="ko-KR" sz="1800" dirty="0"/>
              <a:t>OUTPUT TOPIC</a:t>
            </a:r>
            <a:r>
              <a:rPr lang="ko-KR" altLang="en-US" sz="1800" dirty="0"/>
              <a:t>으로 전송</a:t>
            </a:r>
            <a:endParaRPr lang="en-US" altLang="ko-KR" sz="18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7" t="5250" r="3972" b="6551"/>
          <a:stretch/>
        </p:blipFill>
        <p:spPr>
          <a:xfrm>
            <a:off x="848544" y="1484784"/>
            <a:ext cx="7056784" cy="4858769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3477668" y="3785783"/>
            <a:ext cx="4392488" cy="811373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Ins="28800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905328" y="3861048"/>
            <a:ext cx="17281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 eaLnBrk="0" latinLnBrk="0" hangingPunct="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INPUT TOPIC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읽음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  <a:p>
            <a:pPr marL="171450" lvl="0" indent="-171450" eaLnBrk="0" latinLnBrk="0" hangingPunct="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값 변환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  <a:p>
            <a:pPr marL="171450" lvl="0" indent="-171450" eaLnBrk="0" latinLnBrk="0" hangingPunct="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OUTPUT TOPIC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전송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0725904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제목 1"/>
          <p:cNvSpPr>
            <a:spLocks noGrp="1"/>
          </p:cNvSpPr>
          <p:nvPr>
            <p:ph type="title"/>
          </p:nvPr>
        </p:nvSpPr>
        <p:spPr>
          <a:xfrm>
            <a:off x="344488" y="152400"/>
            <a:ext cx="9307512" cy="360363"/>
          </a:xfrm>
          <a:ln/>
        </p:spPr>
        <p:txBody>
          <a:bodyPr/>
          <a:lstStyle/>
          <a:p>
            <a:r>
              <a:rPr lang="en-US" altLang="ko-KR" dirty="0"/>
              <a:t>4.3 Stream </a:t>
            </a:r>
            <a:r>
              <a:rPr lang="ko-KR" altLang="en-US" dirty="0"/>
              <a:t>이해 및 연동</a:t>
            </a:r>
          </a:p>
        </p:txBody>
      </p:sp>
      <p:sp>
        <p:nvSpPr>
          <p:cNvPr id="6149" name="내용 개체 틀 2"/>
          <p:cNvSpPr>
            <a:spLocks noGrp="1"/>
          </p:cNvSpPr>
          <p:nvPr>
            <p:ph idx="1"/>
          </p:nvPr>
        </p:nvSpPr>
        <p:spPr>
          <a:xfrm>
            <a:off x="458788" y="836613"/>
            <a:ext cx="9193212" cy="576262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ko-KR" sz="1800" dirty="0" err="1"/>
              <a:t>KStream</a:t>
            </a:r>
            <a:r>
              <a:rPr lang="ko-KR" altLang="en-US" sz="1800" dirty="0"/>
              <a:t>과 </a:t>
            </a:r>
            <a:r>
              <a:rPr lang="en-US" altLang="ko-KR" sz="1800" dirty="0" err="1"/>
              <a:t>KTable</a:t>
            </a:r>
            <a:r>
              <a:rPr lang="ko-KR" altLang="en-US" sz="1800" dirty="0"/>
              <a:t>을 이용해서 </a:t>
            </a:r>
            <a:r>
              <a:rPr lang="en-US" altLang="ko-KR" sz="1800" dirty="0"/>
              <a:t>INPUT TOPIC </a:t>
            </a:r>
            <a:r>
              <a:rPr lang="ko-KR" altLang="en-US" sz="1800" dirty="0"/>
              <a:t>데이터를 계산하고 그 결과를 </a:t>
            </a:r>
            <a:r>
              <a:rPr lang="en-US" altLang="ko-KR" sz="1800" dirty="0"/>
              <a:t>OUTPUT TOPIC</a:t>
            </a:r>
            <a:r>
              <a:rPr lang="ko-KR" altLang="en-US" sz="1800" dirty="0"/>
              <a:t>으로 전송</a:t>
            </a:r>
            <a:endParaRPr lang="en-US" altLang="ko-KR" sz="1800" dirty="0"/>
          </a:p>
          <a:p>
            <a:pPr>
              <a:buFontTx/>
              <a:buChar char="•"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#STREAM </a:t>
            </a:r>
            <a:r>
              <a:rPr lang="ko-KR" altLang="en-US" sz="1000" dirty="0"/>
              <a:t>실행된 상태에서 </a:t>
            </a:r>
            <a:r>
              <a:rPr lang="en-US" altLang="ko-KR" sz="1000" dirty="0"/>
              <a:t>Producer / Consumer </a:t>
            </a:r>
            <a:r>
              <a:rPr lang="ko-KR" altLang="en-US" sz="1000" dirty="0"/>
              <a:t>테스트</a:t>
            </a: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# Producer</a:t>
            </a:r>
            <a:r>
              <a:rPr lang="ko-KR" altLang="en-US" sz="1000" dirty="0"/>
              <a:t>로 값 전송</a:t>
            </a: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bin/</a:t>
            </a:r>
            <a:r>
              <a:rPr lang="en-US" altLang="ko-KR" sz="1000" dirty="0" err="1"/>
              <a:t>kafka</a:t>
            </a:r>
            <a:r>
              <a:rPr lang="en-US" altLang="ko-KR" sz="1000" dirty="0"/>
              <a:t>-console-</a:t>
            </a:r>
            <a:r>
              <a:rPr lang="en-US" altLang="ko-KR" sz="1000" dirty="0" err="1"/>
              <a:t>producer.sh</a:t>
            </a:r>
            <a:r>
              <a:rPr lang="en-US" altLang="ko-KR" sz="1000" dirty="0"/>
              <a:t> --bootstrap-server </a:t>
            </a:r>
            <a:r>
              <a:rPr lang="en-US" altLang="ko-KR" sz="1000" dirty="0" err="1"/>
              <a:t>localhost:29092</a:t>
            </a:r>
            <a:r>
              <a:rPr lang="en-US" altLang="ko-KR" sz="1000" dirty="0"/>
              <a:t> --topic streams-plaintext-input</a:t>
            </a:r>
          </a:p>
          <a:p>
            <a:pPr marL="0" indent="0">
              <a:buNone/>
            </a:pPr>
            <a:r>
              <a:rPr lang="en-US" altLang="ko-KR" sz="1000" dirty="0"/>
              <a:t>&gt;all streams lead to </a:t>
            </a:r>
            <a:r>
              <a:rPr lang="en-US" altLang="ko-KR" sz="1000" dirty="0" err="1"/>
              <a:t>kafka</a:t>
            </a: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bin/</a:t>
            </a:r>
            <a:r>
              <a:rPr lang="en-US" altLang="ko-KR" sz="1000" dirty="0" err="1"/>
              <a:t>kafka</a:t>
            </a:r>
            <a:r>
              <a:rPr lang="en-US" altLang="ko-KR" sz="1000" dirty="0"/>
              <a:t>-console-</a:t>
            </a:r>
            <a:r>
              <a:rPr lang="en-US" altLang="ko-KR" sz="1000" dirty="0" err="1"/>
              <a:t>consumer.sh</a:t>
            </a:r>
            <a:r>
              <a:rPr lang="en-US" altLang="ko-KR" sz="1000" dirty="0"/>
              <a:t> --bootstrap-server </a:t>
            </a:r>
            <a:r>
              <a:rPr lang="en-US" altLang="ko-KR" sz="1000" dirty="0" err="1"/>
              <a:t>localhost:29092</a:t>
            </a:r>
            <a:r>
              <a:rPr lang="en-US" altLang="ko-KR" sz="1000" dirty="0"/>
              <a:t> \</a:t>
            </a:r>
          </a:p>
          <a:p>
            <a:pPr marL="0" indent="0">
              <a:buNone/>
            </a:pPr>
            <a:r>
              <a:rPr lang="en-US" altLang="ko-KR" sz="1000" dirty="0"/>
              <a:t>    --topic streams-</a:t>
            </a:r>
            <a:r>
              <a:rPr lang="en-US" altLang="ko-KR" sz="1000" dirty="0" err="1"/>
              <a:t>wordcount</a:t>
            </a:r>
            <a:r>
              <a:rPr lang="en-US" altLang="ko-KR" sz="1000" dirty="0"/>
              <a:t>-output \</a:t>
            </a:r>
          </a:p>
          <a:p>
            <a:pPr marL="0" indent="0">
              <a:buNone/>
            </a:pPr>
            <a:r>
              <a:rPr lang="en-US" altLang="ko-KR" sz="1000" dirty="0"/>
              <a:t>    --from-beginning \</a:t>
            </a:r>
          </a:p>
          <a:p>
            <a:pPr marL="0" indent="0">
              <a:buNone/>
            </a:pPr>
            <a:r>
              <a:rPr lang="en-US" altLang="ko-KR" sz="1000" dirty="0"/>
              <a:t>    --formatter-property </a:t>
            </a:r>
            <a:r>
              <a:rPr lang="en-US" altLang="ko-KR" sz="1000" dirty="0" err="1"/>
              <a:t>print.key</a:t>
            </a:r>
            <a:r>
              <a:rPr lang="en-US" altLang="ko-KR" sz="1000" dirty="0"/>
              <a:t>=true \</a:t>
            </a:r>
          </a:p>
          <a:p>
            <a:pPr marL="0" indent="0">
              <a:buNone/>
            </a:pPr>
            <a:r>
              <a:rPr lang="en-US" altLang="ko-KR" sz="1000" dirty="0"/>
              <a:t>    --formatter-property </a:t>
            </a:r>
            <a:r>
              <a:rPr lang="en-US" altLang="ko-KR" sz="1000" dirty="0" err="1"/>
              <a:t>print.value</a:t>
            </a:r>
            <a:r>
              <a:rPr lang="en-US" altLang="ko-KR" sz="1000" dirty="0"/>
              <a:t>=true \</a:t>
            </a:r>
          </a:p>
          <a:p>
            <a:pPr marL="0" indent="0">
              <a:buNone/>
            </a:pPr>
            <a:r>
              <a:rPr lang="en-US" altLang="ko-KR" sz="1000" dirty="0"/>
              <a:t>    --formatter-property </a:t>
            </a:r>
            <a:r>
              <a:rPr lang="en-US" altLang="ko-KR" sz="1000" dirty="0" err="1"/>
              <a:t>key.deserializer</a:t>
            </a:r>
            <a:r>
              <a:rPr lang="en-US" altLang="ko-KR" sz="1000" dirty="0"/>
              <a:t>=</a:t>
            </a:r>
            <a:r>
              <a:rPr lang="en-US" altLang="ko-KR" sz="1000" dirty="0" err="1"/>
              <a:t>org.apache.kafka.common.serialization.StringDeserializer</a:t>
            </a:r>
            <a:r>
              <a:rPr lang="en-US" altLang="ko-KR" sz="1000" dirty="0"/>
              <a:t> \</a:t>
            </a:r>
          </a:p>
          <a:p>
            <a:pPr marL="0" indent="0">
              <a:buNone/>
            </a:pPr>
            <a:r>
              <a:rPr lang="en-US" altLang="ko-KR" sz="1000" dirty="0"/>
              <a:t>    --formatter-property </a:t>
            </a:r>
            <a:r>
              <a:rPr lang="en-US" altLang="ko-KR" sz="1000" dirty="0" err="1"/>
              <a:t>value.deserializer</a:t>
            </a:r>
            <a:r>
              <a:rPr lang="en-US" altLang="ko-KR" sz="1000" dirty="0"/>
              <a:t>=</a:t>
            </a:r>
            <a:r>
              <a:rPr lang="en-US" altLang="ko-KR" sz="1000" dirty="0" err="1"/>
              <a:t>org.apache.kafka.common.serialization.LongDeserializer</a:t>
            </a:r>
            <a:r>
              <a:rPr lang="en-US" altLang="ko-KR" sz="1000" dirty="0"/>
              <a:t> </a:t>
            </a:r>
          </a:p>
          <a:p>
            <a:pPr marL="0" indent="0">
              <a:buNone/>
            </a:pPr>
            <a:r>
              <a:rPr lang="en-US" altLang="ko-KR" sz="1000" dirty="0"/>
              <a:t>all	1</a:t>
            </a:r>
          </a:p>
          <a:p>
            <a:pPr marL="0" indent="0">
              <a:buNone/>
            </a:pPr>
            <a:r>
              <a:rPr lang="en-US" altLang="ko-KR" sz="1000" dirty="0"/>
              <a:t>streams	1</a:t>
            </a:r>
          </a:p>
          <a:p>
            <a:pPr marL="0" indent="0">
              <a:buNone/>
            </a:pPr>
            <a:r>
              <a:rPr lang="en-US" altLang="ko-KR" sz="1000" dirty="0"/>
              <a:t>lead	1</a:t>
            </a:r>
          </a:p>
          <a:p>
            <a:pPr marL="0" indent="0">
              <a:buNone/>
            </a:pPr>
            <a:r>
              <a:rPr lang="en-US" altLang="ko-KR" sz="1000" dirty="0"/>
              <a:t>to	1</a:t>
            </a:r>
          </a:p>
          <a:p>
            <a:pPr marL="0" indent="0">
              <a:buNone/>
            </a:pPr>
            <a:r>
              <a:rPr lang="en-US" altLang="ko-KR" sz="1000" dirty="0" err="1"/>
              <a:t>kafka</a:t>
            </a:r>
            <a:r>
              <a:rPr lang="en-US" altLang="ko-KR" sz="1000" dirty="0"/>
              <a:t>	1</a:t>
            </a:r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# </a:t>
            </a:r>
            <a:r>
              <a:rPr lang="ko-KR" altLang="en-US" sz="1000" dirty="0"/>
              <a:t>신규 </a:t>
            </a:r>
            <a:r>
              <a:rPr lang="en-US" altLang="ko-KR" sz="1000" dirty="0"/>
              <a:t>Terminal</a:t>
            </a:r>
            <a:r>
              <a:rPr lang="ko-KR" altLang="en-US" sz="1000" dirty="0"/>
              <a:t>에서 </a:t>
            </a:r>
            <a:r>
              <a:rPr lang="en-US" altLang="ko-KR" sz="1000" dirty="0"/>
              <a:t>Producer CLI</a:t>
            </a:r>
            <a:r>
              <a:rPr lang="ko-KR" altLang="en-US" sz="1000" dirty="0"/>
              <a:t>로 </a:t>
            </a:r>
            <a:r>
              <a:rPr lang="ko-KR" altLang="en-US" sz="1000" dirty="0" err="1"/>
              <a:t>몇가지</a:t>
            </a:r>
            <a:r>
              <a:rPr lang="ko-KR" altLang="en-US" sz="1000" dirty="0"/>
              <a:t> 문장을 더 </a:t>
            </a:r>
            <a:r>
              <a:rPr lang="ko-KR" altLang="en-US" sz="1000" dirty="0" err="1"/>
              <a:t>보내보면</a:t>
            </a:r>
            <a:r>
              <a:rPr lang="ko-KR" altLang="en-US" sz="1000" dirty="0"/>
              <a:t> 영어 단어 </a:t>
            </a:r>
            <a:r>
              <a:rPr lang="ko-KR" altLang="en-US" sz="1000" dirty="0" err="1"/>
              <a:t>갯수가</a:t>
            </a:r>
            <a:r>
              <a:rPr lang="ko-KR" altLang="en-US" sz="1000" dirty="0"/>
              <a:t> 누적해서 출력된다</a:t>
            </a:r>
            <a:r>
              <a:rPr lang="en-US" altLang="ko-KR" sz="1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87863005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4"/>
          <p:cNvGrpSpPr>
            <a:grpSpLocks/>
          </p:cNvGrpSpPr>
          <p:nvPr/>
        </p:nvGrpSpPr>
        <p:grpSpPr bwMode="auto">
          <a:xfrm>
            <a:off x="-15875" y="1905000"/>
            <a:ext cx="9399588" cy="533400"/>
            <a:chOff x="0" y="768"/>
            <a:chExt cx="3870" cy="480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5126" name="Rectangle 5"/>
            <p:cNvSpPr>
              <a:spLocks noChangeArrowheads="1"/>
            </p:cNvSpPr>
            <p:nvPr/>
          </p:nvSpPr>
          <p:spPr bwMode="auto">
            <a:xfrm>
              <a:off x="0" y="768"/>
              <a:ext cx="3630" cy="48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defRPr kumimoji="1" sz="2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ko-KR" altLang="en-US" sz="1600">
                <a:solidFill>
                  <a:schemeClr val="bg1"/>
                </a:solidFill>
                <a:latin typeface="HY울릉도M" pitchFamily="18" charset="-127"/>
                <a:ea typeface="HY울릉도M" pitchFamily="18" charset="-127"/>
              </a:endParaRPr>
            </a:p>
          </p:txBody>
        </p:sp>
        <p:sp>
          <p:nvSpPr>
            <p:cNvPr id="5127" name="AutoShape 6"/>
            <p:cNvSpPr>
              <a:spLocks noChangeArrowheads="1"/>
            </p:cNvSpPr>
            <p:nvPr/>
          </p:nvSpPr>
          <p:spPr bwMode="auto">
            <a:xfrm>
              <a:off x="2640" y="768"/>
              <a:ext cx="1230" cy="48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defRPr kumimoji="1" sz="2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ko-KR" altLang="en-US" sz="1600">
                <a:solidFill>
                  <a:schemeClr val="bg1"/>
                </a:solidFill>
                <a:latin typeface="HY울릉도M" pitchFamily="18" charset="-127"/>
                <a:ea typeface="HY울릉도M" pitchFamily="18" charset="-127"/>
              </a:endParaRPr>
            </a:p>
          </p:txBody>
        </p:sp>
      </p:grpSp>
      <p:sp>
        <p:nvSpPr>
          <p:cNvPr id="5123" name="AutoShape 7"/>
          <p:cNvSpPr>
            <a:spLocks noChangeArrowheads="1"/>
          </p:cNvSpPr>
          <p:nvPr/>
        </p:nvSpPr>
        <p:spPr bwMode="auto">
          <a:xfrm>
            <a:off x="3490913" y="1943100"/>
            <a:ext cx="3749675" cy="457200"/>
          </a:xfrm>
          <a:prstGeom prst="bevel">
            <a:avLst>
              <a:gd name="adj" fmla="val 125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</a:pPr>
            <a:r>
              <a:rPr kumimoji="0" lang="ko-KR" altLang="en-US" sz="3200" b="1">
                <a:solidFill>
                  <a:schemeClr val="bg1"/>
                </a:solidFill>
              </a:rPr>
              <a:t>모니터링</a:t>
            </a:r>
            <a:endParaRPr kumimoji="0" lang="en-US" altLang="ko-KR" sz="3200" b="1">
              <a:solidFill>
                <a:schemeClr val="bg1"/>
              </a:solidFill>
            </a:endParaRPr>
          </a:p>
        </p:txBody>
      </p:sp>
      <p:sp>
        <p:nvSpPr>
          <p:cNvPr id="5124" name="Rectangle 8"/>
          <p:cNvSpPr>
            <a:spLocks noChangeArrowheads="1"/>
          </p:cNvSpPr>
          <p:nvPr/>
        </p:nvSpPr>
        <p:spPr bwMode="auto">
          <a:xfrm>
            <a:off x="1577975" y="1219200"/>
            <a:ext cx="1377950" cy="2057400"/>
          </a:xfrm>
          <a:prstGeom prst="rect">
            <a:avLst/>
          </a:prstGeom>
          <a:noFill/>
          <a:ln>
            <a:noFill/>
          </a:ln>
          <a:effectLst>
            <a:outerShdw dist="71842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en-US" altLang="ko-KR" sz="14000" i="1" dirty="0">
                <a:solidFill>
                  <a:srgbClr val="FF0000"/>
                </a:solidFill>
                <a:latin typeface="Arial Black" pitchFamily="34" charset="0"/>
                <a:ea typeface="HY견고딕" pitchFamily="18" charset="-127"/>
              </a:rPr>
              <a:t>5</a:t>
            </a:r>
          </a:p>
        </p:txBody>
      </p:sp>
      <p:sp>
        <p:nvSpPr>
          <p:cNvPr id="5125" name="Text Box 9"/>
          <p:cNvSpPr txBox="1">
            <a:spLocks noChangeArrowheads="1"/>
          </p:cNvSpPr>
          <p:nvPr/>
        </p:nvSpPr>
        <p:spPr bwMode="auto">
          <a:xfrm>
            <a:off x="3414713" y="2667000"/>
            <a:ext cx="6237287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lvl="1" eaLnBrk="1" latinLnBrk="0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kumimoji="0" lang="en-US" altLang="ko-KR" b="1" dirty="0"/>
              <a:t>5.1 </a:t>
            </a:r>
            <a:r>
              <a:rPr kumimoji="0" lang="en-US" altLang="ko-KR" b="1" dirty="0" err="1"/>
              <a:t>JConsole</a:t>
            </a:r>
            <a:endParaRPr kumimoji="0" lang="en-US" altLang="ko-KR" b="1" dirty="0"/>
          </a:p>
          <a:p>
            <a:pPr lvl="1" eaLnBrk="1" latinLnBrk="0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kumimoji="0" lang="en-US" altLang="ko-KR" b="1" dirty="0"/>
              <a:t>5.2 </a:t>
            </a:r>
            <a:r>
              <a:rPr kumimoji="0" lang="en-US" altLang="ko-KR" b="1" dirty="0" smtClean="0"/>
              <a:t>ELK</a:t>
            </a:r>
            <a:r>
              <a:rPr kumimoji="0" lang="ko-KR" altLang="en-US" b="1" dirty="0" smtClean="0"/>
              <a:t>를 이용한 모니터링</a:t>
            </a:r>
            <a:endParaRPr kumimoji="0"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269786759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제목 1"/>
          <p:cNvSpPr>
            <a:spLocks noGrp="1"/>
          </p:cNvSpPr>
          <p:nvPr>
            <p:ph type="title"/>
          </p:nvPr>
        </p:nvSpPr>
        <p:spPr>
          <a:xfrm>
            <a:off x="344488" y="152400"/>
            <a:ext cx="9307512" cy="360363"/>
          </a:xfrm>
          <a:ln/>
        </p:spPr>
        <p:txBody>
          <a:bodyPr/>
          <a:lstStyle/>
          <a:p>
            <a:r>
              <a:rPr lang="en-US" altLang="ko-KR" dirty="0"/>
              <a:t>5.1 </a:t>
            </a:r>
            <a:r>
              <a:rPr lang="en-US" altLang="ko-KR" dirty="0" err="1"/>
              <a:t>JMX</a:t>
            </a:r>
            <a:r>
              <a:rPr lang="en-US" altLang="ko-KR" dirty="0"/>
              <a:t> with </a:t>
            </a:r>
            <a:r>
              <a:rPr lang="en-US" altLang="ko-KR" dirty="0" err="1"/>
              <a:t>JConsole</a:t>
            </a:r>
            <a:endParaRPr lang="ko-KR" altLang="en-US" dirty="0"/>
          </a:p>
        </p:txBody>
      </p:sp>
      <p:sp>
        <p:nvSpPr>
          <p:cNvPr id="6149" name="내용 개체 틀 2"/>
          <p:cNvSpPr>
            <a:spLocks noGrp="1"/>
          </p:cNvSpPr>
          <p:nvPr>
            <p:ph idx="1"/>
          </p:nvPr>
        </p:nvSpPr>
        <p:spPr>
          <a:xfrm>
            <a:off x="458788" y="836613"/>
            <a:ext cx="9193212" cy="576262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ko-KR" sz="1800" dirty="0" err="1"/>
              <a:t>JConsole</a:t>
            </a:r>
            <a:r>
              <a:rPr lang="en-US" altLang="ko-KR" sz="1800" dirty="0"/>
              <a:t> </a:t>
            </a:r>
            <a:r>
              <a:rPr lang="ko-KR" altLang="en-US" sz="1800" dirty="0"/>
              <a:t>모니터링을 위해 </a:t>
            </a:r>
            <a:r>
              <a:rPr lang="en-US" altLang="ko-KR" sz="1800" dirty="0" err="1"/>
              <a:t>docker</a:t>
            </a:r>
            <a:r>
              <a:rPr lang="en-US" altLang="ko-KR" sz="1800" dirty="0"/>
              <a:t> compose </a:t>
            </a:r>
            <a:r>
              <a:rPr lang="ko-KR" altLang="en-US" sz="1800" dirty="0"/>
              <a:t>파일에 </a:t>
            </a:r>
            <a:r>
              <a:rPr lang="en-US" altLang="ko-KR" sz="1800" dirty="0" err="1"/>
              <a:t>JMX</a:t>
            </a:r>
            <a:r>
              <a:rPr lang="en-US" altLang="ko-KR" sz="1800" dirty="0"/>
              <a:t> </a:t>
            </a:r>
            <a:r>
              <a:rPr lang="ko-KR" altLang="en-US" sz="1800" dirty="0"/>
              <a:t>값을 설정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# </a:t>
            </a:r>
            <a:r>
              <a:rPr lang="en-US" altLang="ko-KR" sz="1000" dirty="0" err="1"/>
              <a:t>JMX</a:t>
            </a:r>
            <a:r>
              <a:rPr lang="en-US" altLang="ko-KR" sz="1000" dirty="0"/>
              <a:t> </a:t>
            </a:r>
            <a:r>
              <a:rPr lang="ko-KR" altLang="en-US" sz="1000" dirty="0"/>
              <a:t>값 </a:t>
            </a:r>
            <a:r>
              <a:rPr lang="ko-KR" altLang="en-US" sz="1000" dirty="0" err="1"/>
              <a:t>셋팅한</a:t>
            </a:r>
            <a:r>
              <a:rPr lang="ko-KR" altLang="en-US" sz="1000" dirty="0"/>
              <a:t> </a:t>
            </a:r>
            <a:r>
              <a:rPr lang="en-US" altLang="ko-KR" sz="1000" dirty="0" err="1"/>
              <a:t>docker</a:t>
            </a:r>
            <a:r>
              <a:rPr lang="en-US" altLang="ko-KR" sz="1000" dirty="0"/>
              <a:t> compose </a:t>
            </a:r>
            <a:r>
              <a:rPr lang="ko-KR" altLang="en-US" sz="1000" dirty="0"/>
              <a:t>실행</a:t>
            </a: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# broker 3</a:t>
            </a:r>
            <a:r>
              <a:rPr lang="ko-KR" altLang="en-US" sz="1000" dirty="0"/>
              <a:t>개의 포트 </a:t>
            </a:r>
            <a:r>
              <a:rPr lang="ko-KR" altLang="en-US" sz="1000" dirty="0" err="1"/>
              <a:t>충돌나지</a:t>
            </a:r>
            <a:r>
              <a:rPr lang="ko-KR" altLang="en-US" sz="1000" dirty="0"/>
              <a:t> 않도록 설정 필요</a:t>
            </a: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cd /home/user/Desktop/materials</a:t>
            </a:r>
          </a:p>
          <a:p>
            <a:pPr marL="0" indent="0">
              <a:buNone/>
            </a:pPr>
            <a:r>
              <a:rPr lang="en-US" altLang="ko-KR" sz="1000" dirty="0" err="1"/>
              <a:t>sudo</a:t>
            </a:r>
            <a:r>
              <a:rPr lang="en-US" altLang="ko-KR" sz="1000" dirty="0"/>
              <a:t> </a:t>
            </a:r>
            <a:r>
              <a:rPr lang="en-US" altLang="ko-KR" sz="1000" dirty="0" err="1"/>
              <a:t>docker</a:t>
            </a:r>
            <a:r>
              <a:rPr lang="en-US" altLang="ko-KR" sz="1000" dirty="0"/>
              <a:t> compose -f </a:t>
            </a:r>
            <a:r>
              <a:rPr lang="en-US" altLang="ko-KR" sz="1000" dirty="0" err="1"/>
              <a:t>docker</a:t>
            </a:r>
            <a:r>
              <a:rPr lang="en-US" altLang="ko-KR" sz="1000" dirty="0"/>
              <a:t>-compose-</a:t>
            </a:r>
            <a:r>
              <a:rPr lang="en-US" altLang="ko-KR" sz="1000" dirty="0" err="1"/>
              <a:t>jmx.yml</a:t>
            </a:r>
            <a:r>
              <a:rPr lang="en-US" altLang="ko-KR" sz="1000" dirty="0"/>
              <a:t> up</a:t>
            </a:r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</p:txBody>
      </p:sp>
      <p:sp>
        <p:nvSpPr>
          <p:cNvPr id="3" name="직사각형 2"/>
          <p:cNvSpPr/>
          <p:nvPr/>
        </p:nvSpPr>
        <p:spPr>
          <a:xfrm>
            <a:off x="560512" y="2204864"/>
            <a:ext cx="9217024" cy="36933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broker-1:</a:t>
            </a:r>
          </a:p>
          <a:p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   image: apache/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kafka:latest</a:t>
            </a:r>
            <a:endParaRPr lang="en-US" altLang="ko-KR" sz="9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container_name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: broker-1</a:t>
            </a:r>
          </a:p>
          <a:p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   ports:</a:t>
            </a:r>
          </a:p>
          <a:p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- 29092:9092</a:t>
            </a:r>
          </a:p>
          <a:p>
            <a:r>
              <a:rPr lang="en-US" altLang="ko-KR" sz="9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- 29999:29999</a:t>
            </a:r>
          </a:p>
          <a:p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   environment:</a:t>
            </a:r>
          </a:p>
          <a:p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KAFKA_NODE_ID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: 4</a:t>
            </a:r>
          </a:p>
          <a:p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KAFKA_PROCESS_ROLES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: broker</a:t>
            </a:r>
          </a:p>
          <a:p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KAFKA_LISTENERS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: 'PLAINTEXT://: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19092,PLAINTEXT_HOST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://:9092'</a:t>
            </a:r>
          </a:p>
          <a:p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KAFKA_ADVERTISED_LISTENERS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: 'PLAINTEXT://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broker-1:19092,PLAINTEXT_HOST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://127.0.0.1:29092'</a:t>
            </a:r>
          </a:p>
          <a:p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KAFKA_INTER_BROKER_LISTENER_NAME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: PLAINTEXT</a:t>
            </a:r>
          </a:p>
          <a:p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KAFKA_CONTROLLER_LISTENER_NAMES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: CONTROLLER</a:t>
            </a:r>
          </a:p>
          <a:p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KAFKA_LISTENER_SECURITY_PROTOCOL_MAP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: CONTROLLER:PLAINTEXT,PLAINTEXT:PLAINTEXT,PLAINTEXT_HOST:PLAINTEXT</a:t>
            </a:r>
          </a:p>
          <a:p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KAFKA_CONTROLLER_QUORUM_VOTERS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: 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1@controller-1:9093,2@controller-2:9093,3@controller-3:9093</a:t>
            </a:r>
            <a:endParaRPr lang="en-US" altLang="ko-KR" sz="9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KAFKA_GROUP_INITIAL_REBALANCE_DELAY_MS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: 0</a:t>
            </a:r>
          </a:p>
          <a:p>
            <a:r>
              <a:rPr lang="en-US" altLang="ko-KR" sz="9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</a:t>
            </a:r>
            <a:r>
              <a:rPr lang="en-US" altLang="ko-KR" sz="900" dirty="0" err="1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JMX_PORT</a:t>
            </a:r>
            <a:r>
              <a:rPr lang="en-US" altLang="ko-KR" sz="9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: 29999</a:t>
            </a:r>
          </a:p>
          <a:p>
            <a:r>
              <a:rPr lang="en-US" altLang="ko-KR" sz="9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</a:t>
            </a:r>
            <a:r>
              <a:rPr lang="en-US" altLang="ko-KR" sz="900" dirty="0" err="1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KAFKA_JMX_OPTS</a:t>
            </a:r>
            <a:r>
              <a:rPr lang="en-US" altLang="ko-KR" sz="9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: -</a:t>
            </a:r>
            <a:r>
              <a:rPr lang="en-US" altLang="ko-KR" sz="900" dirty="0" err="1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Dcom.sun.management.jmxremote</a:t>
            </a:r>
            <a:r>
              <a:rPr lang="en-US" altLang="ko-KR" sz="9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-</a:t>
            </a:r>
            <a:r>
              <a:rPr lang="en-US" altLang="ko-KR" sz="900" dirty="0" err="1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Dcom.sun.management.jmxremote.local.only</a:t>
            </a:r>
            <a:r>
              <a:rPr lang="en-US" altLang="ko-KR" sz="9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=false -</a:t>
            </a:r>
            <a:r>
              <a:rPr lang="en-US" altLang="ko-KR" sz="900" dirty="0" err="1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Dcom.sun.management.jmxremote.authenticate</a:t>
            </a:r>
            <a:r>
              <a:rPr lang="en-US" altLang="ko-KR" sz="9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=false -</a:t>
            </a:r>
            <a:r>
              <a:rPr lang="en-US" altLang="ko-KR" sz="900" dirty="0" err="1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Dcom.sun.management.jmxremote.ssl</a:t>
            </a:r>
            <a:r>
              <a:rPr lang="en-US" altLang="ko-KR" sz="9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=false -</a:t>
            </a:r>
            <a:r>
              <a:rPr lang="en-US" altLang="ko-KR" sz="900" dirty="0" err="1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Djava.rmi.server.hostname</a:t>
            </a:r>
            <a:r>
              <a:rPr lang="en-US" altLang="ko-KR" sz="9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=127.0.0.1 -</a:t>
            </a:r>
            <a:r>
              <a:rPr lang="en-US" altLang="ko-KR" sz="900" dirty="0" err="1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Dcom.sun.management.jmxremote.port</a:t>
            </a:r>
            <a:r>
              <a:rPr lang="en-US" altLang="ko-KR" sz="9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=29999 -</a:t>
            </a:r>
            <a:r>
              <a:rPr lang="en-US" altLang="ko-KR" sz="900" dirty="0" err="1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Dcom.sun.management.jmxremote.rmi.port</a:t>
            </a:r>
            <a:r>
              <a:rPr lang="en-US" altLang="ko-KR" sz="9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=29999</a:t>
            </a:r>
          </a:p>
          <a:p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   networks:</a:t>
            </a:r>
          </a:p>
          <a:p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- 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kafka_handson</a:t>
            </a:r>
            <a:endParaRPr lang="en-US" altLang="ko-KR" sz="9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9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depends_on</a:t>
            </a:r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- controller-1</a:t>
            </a:r>
          </a:p>
          <a:p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- controller-2</a:t>
            </a:r>
          </a:p>
          <a:p>
            <a:r>
              <a:rPr lang="en-US" altLang="ko-KR" sz="9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- controller-3</a:t>
            </a:r>
            <a:endParaRPr lang="ko-KR" altLang="en-US" sz="9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72880" y="6021288"/>
            <a:ext cx="22236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/>
            <a:r>
              <a:rPr lang="en-US" altLang="ko-KR" dirty="0" err="1">
                <a:latin typeface="맑은 고딕" pitchFamily="50" charset="-127"/>
                <a:ea typeface="맑은 고딕" pitchFamily="50" charset="-127"/>
              </a:rPr>
              <a:t>JMX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Enable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정보 추가</a:t>
            </a:r>
          </a:p>
        </p:txBody>
      </p:sp>
    </p:spTree>
    <p:extLst>
      <p:ext uri="{BB962C8B-B14F-4D97-AF65-F5344CB8AC3E}">
        <p14:creationId xmlns:p14="http://schemas.microsoft.com/office/powerpoint/2010/main" val="928302240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제목 1"/>
          <p:cNvSpPr>
            <a:spLocks noGrp="1"/>
          </p:cNvSpPr>
          <p:nvPr>
            <p:ph type="title"/>
          </p:nvPr>
        </p:nvSpPr>
        <p:spPr>
          <a:xfrm>
            <a:off x="344488" y="152400"/>
            <a:ext cx="9307512" cy="360363"/>
          </a:xfrm>
          <a:ln/>
        </p:spPr>
        <p:txBody>
          <a:bodyPr/>
          <a:lstStyle/>
          <a:p>
            <a:r>
              <a:rPr lang="en-US" altLang="ko-KR" dirty="0"/>
              <a:t>5.1 </a:t>
            </a:r>
            <a:r>
              <a:rPr lang="en-US" altLang="ko-KR" dirty="0" err="1"/>
              <a:t>JMX</a:t>
            </a:r>
            <a:r>
              <a:rPr lang="en-US" altLang="ko-KR" dirty="0"/>
              <a:t> with </a:t>
            </a:r>
            <a:r>
              <a:rPr lang="en-US" altLang="ko-KR" dirty="0" err="1"/>
              <a:t>JConsole</a:t>
            </a:r>
            <a:endParaRPr lang="ko-KR" altLang="en-US" dirty="0"/>
          </a:p>
        </p:txBody>
      </p:sp>
      <p:sp>
        <p:nvSpPr>
          <p:cNvPr id="6149" name="내용 개체 틀 2"/>
          <p:cNvSpPr>
            <a:spLocks noGrp="1"/>
          </p:cNvSpPr>
          <p:nvPr>
            <p:ph idx="1"/>
          </p:nvPr>
        </p:nvSpPr>
        <p:spPr>
          <a:xfrm>
            <a:off x="458788" y="836613"/>
            <a:ext cx="9193212" cy="576262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ko-KR" sz="1800" dirty="0" err="1"/>
              <a:t>JConsole</a:t>
            </a:r>
            <a:r>
              <a:rPr lang="en-US" altLang="ko-KR" sz="1800" dirty="0"/>
              <a:t> </a:t>
            </a:r>
            <a:r>
              <a:rPr lang="ko-KR" altLang="en-US" sz="1800" dirty="0"/>
              <a:t>모니터링을 위해 </a:t>
            </a:r>
            <a:r>
              <a:rPr lang="en-US" altLang="ko-KR" sz="1800" dirty="0" err="1"/>
              <a:t>docker</a:t>
            </a:r>
            <a:r>
              <a:rPr lang="en-US" altLang="ko-KR" sz="1800" dirty="0"/>
              <a:t> compose </a:t>
            </a:r>
            <a:r>
              <a:rPr lang="ko-KR" altLang="en-US" sz="1800" dirty="0"/>
              <a:t>파일에 </a:t>
            </a:r>
            <a:r>
              <a:rPr lang="en-US" altLang="ko-KR" sz="1800" dirty="0" err="1"/>
              <a:t>JMX</a:t>
            </a:r>
            <a:r>
              <a:rPr lang="en-US" altLang="ko-KR" sz="1800" dirty="0"/>
              <a:t> </a:t>
            </a:r>
            <a:r>
              <a:rPr lang="ko-KR" altLang="en-US" sz="1800" dirty="0"/>
              <a:t>값을 설정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# </a:t>
            </a:r>
            <a:r>
              <a:rPr lang="ko-KR" altLang="en-US" sz="1000" dirty="0"/>
              <a:t>가상 </a:t>
            </a:r>
            <a:r>
              <a:rPr lang="ko-KR" altLang="en-US" sz="1000" dirty="0" err="1"/>
              <a:t>머신에서</a:t>
            </a:r>
            <a:r>
              <a:rPr lang="ko-KR" altLang="en-US" sz="1000" dirty="0"/>
              <a:t> </a:t>
            </a:r>
            <a:r>
              <a:rPr lang="en-US" altLang="ko-KR" sz="1000" dirty="0" err="1"/>
              <a:t>JConsole</a:t>
            </a:r>
            <a:r>
              <a:rPr lang="ko-KR" altLang="en-US" sz="1000" dirty="0"/>
              <a:t>을 실행한다</a:t>
            </a:r>
            <a:r>
              <a:rPr lang="en-US" altLang="ko-KR" sz="1000" dirty="0"/>
              <a:t>.</a:t>
            </a:r>
          </a:p>
          <a:p>
            <a:pPr marL="0" indent="0">
              <a:buNone/>
            </a:pPr>
            <a:r>
              <a:rPr lang="en-US" altLang="ko-KR" sz="1000" dirty="0"/>
              <a:t># Connection</a:t>
            </a:r>
            <a:r>
              <a:rPr lang="ko-KR" altLang="en-US" sz="1000" dirty="0"/>
              <a:t>에서 </a:t>
            </a:r>
            <a:r>
              <a:rPr lang="en-US" altLang="ko-KR" sz="1000" dirty="0"/>
              <a:t>Remote</a:t>
            </a:r>
            <a:r>
              <a:rPr lang="ko-KR" altLang="en-US" sz="1000" dirty="0"/>
              <a:t>로 </a:t>
            </a:r>
            <a:r>
              <a:rPr lang="en-US" altLang="ko-KR" sz="1000" dirty="0"/>
              <a:t>127.0.0.1:29999, 127.0.0.1:39999, 127.0.0.1:49999 </a:t>
            </a:r>
            <a:r>
              <a:rPr lang="ko-KR" altLang="en-US" sz="1000" dirty="0"/>
              <a:t>중 </a:t>
            </a:r>
            <a:r>
              <a:rPr lang="en-US" altLang="ko-KR" sz="1000" dirty="0"/>
              <a:t>1</a:t>
            </a:r>
            <a:r>
              <a:rPr lang="ko-KR" altLang="en-US" sz="1000" dirty="0"/>
              <a:t>개를 선택해서 접속을 하면 </a:t>
            </a:r>
            <a:r>
              <a:rPr lang="en-US" altLang="ko-KR" sz="1000" dirty="0" err="1"/>
              <a:t>JMX</a:t>
            </a:r>
            <a:r>
              <a:rPr lang="en-US" altLang="ko-KR" sz="1000" dirty="0"/>
              <a:t> </a:t>
            </a:r>
            <a:r>
              <a:rPr lang="ko-KR" altLang="en-US" sz="1000" dirty="0"/>
              <a:t>값을 볼 수 있다</a:t>
            </a:r>
            <a:r>
              <a:rPr lang="en-US" altLang="ko-KR" sz="1000" dirty="0"/>
              <a:t>.</a:t>
            </a:r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504" y="1916832"/>
            <a:ext cx="4362701" cy="35456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52600" y="5469392"/>
            <a:ext cx="22249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/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&lt;</a:t>
            </a:r>
            <a:r>
              <a:rPr lang="en-US" altLang="ko-KR" dirty="0" err="1">
                <a:latin typeface="맑은 고딕" pitchFamily="50" charset="-127"/>
                <a:ea typeface="맑은 고딕" pitchFamily="50" charset="-127"/>
              </a:rPr>
              <a:t>JConsole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Overview&gt;</a:t>
            </a:r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56965" y="5460951"/>
            <a:ext cx="21964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/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&lt;Kafka </a:t>
            </a:r>
            <a:r>
              <a:rPr lang="en-US" altLang="ko-KR" dirty="0" err="1">
                <a:latin typeface="맑은 고딕" pitchFamily="50" charset="-127"/>
                <a:ea typeface="맑은 고딕" pitchFamily="50" charset="-127"/>
              </a:rPr>
              <a:t>JMX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값 확인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&gt;</a:t>
            </a:r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3040" y="1916832"/>
            <a:ext cx="4338960" cy="355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006711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제목 1"/>
          <p:cNvSpPr>
            <a:spLocks noGrp="1"/>
          </p:cNvSpPr>
          <p:nvPr>
            <p:ph type="title"/>
          </p:nvPr>
        </p:nvSpPr>
        <p:spPr>
          <a:xfrm>
            <a:off x="344488" y="152400"/>
            <a:ext cx="9307512" cy="360363"/>
          </a:xfrm>
          <a:ln/>
        </p:spPr>
        <p:txBody>
          <a:bodyPr/>
          <a:lstStyle/>
          <a:p>
            <a:r>
              <a:rPr lang="en-US" altLang="ko-KR" dirty="0" smtClean="0"/>
              <a:t>5.2 </a:t>
            </a:r>
            <a:r>
              <a:rPr lang="en-US" altLang="ko-KR" dirty="0"/>
              <a:t>ELK</a:t>
            </a:r>
            <a:r>
              <a:rPr lang="ko-KR" altLang="en-US" dirty="0"/>
              <a:t>를 이용한 모니터링</a:t>
            </a:r>
          </a:p>
        </p:txBody>
      </p:sp>
      <p:sp>
        <p:nvSpPr>
          <p:cNvPr id="6149" name="내용 개체 틀 2"/>
          <p:cNvSpPr>
            <a:spLocks noGrp="1"/>
          </p:cNvSpPr>
          <p:nvPr>
            <p:ph idx="1"/>
          </p:nvPr>
        </p:nvSpPr>
        <p:spPr>
          <a:xfrm>
            <a:off x="458788" y="836613"/>
            <a:ext cx="9193212" cy="576262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ko-KR" sz="1800" dirty="0"/>
              <a:t>Kafka</a:t>
            </a:r>
            <a:r>
              <a:rPr lang="ko-KR" altLang="en-US" sz="1800" dirty="0"/>
              <a:t>의 </a:t>
            </a:r>
            <a:r>
              <a:rPr lang="en-US" altLang="ko-KR" sz="1800" dirty="0" err="1"/>
              <a:t>JMX</a:t>
            </a:r>
            <a:r>
              <a:rPr lang="en-US" altLang="ko-KR" sz="1800" dirty="0"/>
              <a:t> </a:t>
            </a:r>
            <a:r>
              <a:rPr lang="ko-KR" altLang="en-US" sz="1800" dirty="0"/>
              <a:t>정보를 </a:t>
            </a:r>
            <a:r>
              <a:rPr lang="en-US" altLang="ko-KR" sz="1800" dirty="0" err="1"/>
              <a:t>Logstash</a:t>
            </a:r>
            <a:r>
              <a:rPr lang="ko-KR" altLang="en-US" sz="1800" dirty="0"/>
              <a:t>로 수집해서 </a:t>
            </a:r>
            <a:r>
              <a:rPr lang="en-US" altLang="ko-KR" sz="1800" dirty="0"/>
              <a:t>Elastic Search</a:t>
            </a:r>
            <a:r>
              <a:rPr lang="ko-KR" altLang="en-US" sz="1800" dirty="0"/>
              <a:t>에 데이터를 적재</a:t>
            </a:r>
            <a:endParaRPr lang="en-US" altLang="ko-KR" sz="1800" dirty="0"/>
          </a:p>
          <a:p>
            <a:pPr>
              <a:buFontTx/>
              <a:buChar char="•"/>
            </a:pPr>
            <a:r>
              <a:rPr lang="en-US" altLang="ko-KR" sz="1800" dirty="0" err="1"/>
              <a:t>KIBANA</a:t>
            </a:r>
            <a:r>
              <a:rPr lang="en-US" altLang="ko-KR" sz="1800" dirty="0"/>
              <a:t> Dashboard</a:t>
            </a:r>
            <a:r>
              <a:rPr lang="ko-KR" altLang="en-US" sz="1800" dirty="0"/>
              <a:t>를 이용해서 모니터링 수행</a:t>
            </a: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</p:txBody>
      </p:sp>
      <p:pic>
        <p:nvPicPr>
          <p:cNvPr id="1026" name="Picture 2" descr="https://daniel-hebn.github.io/2019/10/20/2019-10-20-elk-&amp;-kafka-%EA%B8%B0%EB%B0%98%EC%9D%98-%EB%A1%9C%EA%B7%B8-%EC%88%98%EC%A7%91-%EB%B0%8F-%EB%AA%A8%EB%8B%88%ED%84%B0%EB%A7%81-%EA%B5%AC%EC%B6%95-(2)/elastic_kafka_architecture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496" y="1736725"/>
            <a:ext cx="9322446" cy="396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947097" y="5805264"/>
            <a:ext cx="40221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/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아키텍처 예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Kafka Monitoring with ELK </a:t>
            </a:r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8702893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제목 1"/>
          <p:cNvSpPr>
            <a:spLocks noGrp="1"/>
          </p:cNvSpPr>
          <p:nvPr>
            <p:ph type="title"/>
          </p:nvPr>
        </p:nvSpPr>
        <p:spPr>
          <a:xfrm>
            <a:off x="344488" y="152400"/>
            <a:ext cx="9307512" cy="360363"/>
          </a:xfrm>
          <a:ln/>
        </p:spPr>
        <p:txBody>
          <a:bodyPr/>
          <a:lstStyle/>
          <a:p>
            <a:r>
              <a:rPr lang="en-US" altLang="ko-KR" dirty="0" smtClean="0"/>
              <a:t>5.2 </a:t>
            </a:r>
            <a:r>
              <a:rPr lang="en-US" altLang="ko-KR" dirty="0"/>
              <a:t>ELK</a:t>
            </a:r>
            <a:r>
              <a:rPr lang="ko-KR" altLang="en-US" dirty="0"/>
              <a:t>를 이용한 모니터링</a:t>
            </a:r>
          </a:p>
        </p:txBody>
      </p:sp>
      <p:sp>
        <p:nvSpPr>
          <p:cNvPr id="6149" name="내용 개체 틀 2"/>
          <p:cNvSpPr>
            <a:spLocks noGrp="1"/>
          </p:cNvSpPr>
          <p:nvPr>
            <p:ph idx="1"/>
          </p:nvPr>
        </p:nvSpPr>
        <p:spPr>
          <a:xfrm>
            <a:off x="458788" y="836613"/>
            <a:ext cx="9193212" cy="576262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ko-KR" sz="1800" dirty="0" err="1"/>
              <a:t>KIBANA</a:t>
            </a:r>
            <a:r>
              <a:rPr lang="en-US" altLang="ko-KR" sz="1800" dirty="0"/>
              <a:t> </a:t>
            </a:r>
            <a:r>
              <a:rPr lang="ko-KR" altLang="en-US" sz="1800" dirty="0"/>
              <a:t>접속 </a:t>
            </a:r>
            <a:r>
              <a:rPr lang="en-US" altLang="ko-KR" sz="1800" dirty="0"/>
              <a:t>Analytics -&gt; Dashboard -&gt; </a:t>
            </a:r>
            <a:r>
              <a:rPr lang="en-US" altLang="ko-KR" sz="1800" dirty="0" err="1"/>
              <a:t>Dashboard_Kafka_Broker</a:t>
            </a:r>
            <a:r>
              <a:rPr lang="en-US" altLang="ko-KR" sz="1800" dirty="0"/>
              <a:t> </a:t>
            </a:r>
            <a:r>
              <a:rPr lang="ko-KR" altLang="en-US" sz="1800" dirty="0"/>
              <a:t>선택</a:t>
            </a:r>
            <a:endParaRPr lang="en-US" altLang="ko-KR" sz="1800" dirty="0"/>
          </a:p>
          <a:p>
            <a:pPr>
              <a:buFontTx/>
              <a:buChar char="•"/>
            </a:pPr>
            <a:r>
              <a:rPr lang="en-US" altLang="ko-KR" sz="1800" dirty="0"/>
              <a:t>Dashboard</a:t>
            </a:r>
            <a:r>
              <a:rPr lang="ko-KR" altLang="en-US" sz="1800" dirty="0"/>
              <a:t>를 통해 </a:t>
            </a:r>
            <a:r>
              <a:rPr lang="en-US" altLang="ko-KR" sz="1800" dirty="0"/>
              <a:t>KAFKA </a:t>
            </a:r>
            <a:r>
              <a:rPr lang="ko-KR" altLang="en-US" sz="1800" dirty="0"/>
              <a:t>상태를 모니터링</a:t>
            </a: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0752" y="4013300"/>
            <a:ext cx="5256584" cy="285826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665" y="1722570"/>
            <a:ext cx="1328983" cy="259348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4727" y="1722570"/>
            <a:ext cx="7322941" cy="2255846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430374" y="3402953"/>
            <a:ext cx="1321435" cy="333619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Ins="28800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720752" y="3402953"/>
            <a:ext cx="6984776" cy="31408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Ins="28800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2" name="직선 화살표 연결선 15"/>
          <p:cNvCxnSpPr>
            <a:endCxn id="11" idx="1"/>
          </p:cNvCxnSpPr>
          <p:nvPr/>
        </p:nvCxnSpPr>
        <p:spPr>
          <a:xfrm flipV="1">
            <a:off x="1496616" y="3559993"/>
            <a:ext cx="1224136" cy="130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5"/>
          <p:cNvCxnSpPr>
            <a:endCxn id="3" idx="0"/>
          </p:cNvCxnSpPr>
          <p:nvPr/>
        </p:nvCxnSpPr>
        <p:spPr>
          <a:xfrm flipH="1">
            <a:off x="5349044" y="3717033"/>
            <a:ext cx="900100" cy="2962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7487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d2r_3">
  <a:themeElements>
    <a:clrScheme name="d2r_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2r_3">
      <a:majorFont>
        <a:latin typeface="HY헤드라인M"/>
        <a:ea typeface="HY헤드라인M"/>
        <a:cs typeface=""/>
      </a:majorFont>
      <a:minorFont>
        <a:latin typeface="HY견명조"/>
        <a:ea typeface="HY견명조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lIns="288000" rIns="288000" rtlCol="0" anchor="ctr"/>
      <a:lstStyle>
        <a:defPPr algn="ctr">
          <a:defRPr dirty="0" err="1" smtClean="0">
            <a:solidFill>
              <a:schemeClr val="tx1"/>
            </a:solidFill>
            <a:latin typeface="맑은 고딕" pitchFamily="50" charset="-127"/>
            <a:ea typeface="맑은 고딕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marL="342900" indent="-342900">
          <a:defRPr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d2r_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2r_3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2r_3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2r_3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2r_3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2r_3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2r_3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2r_3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2r_3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2r_3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2r_3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2r_3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d2r_3</Template>
  <TotalTime>45091</TotalTime>
  <Words>3973</Words>
  <Application>Microsoft Office PowerPoint</Application>
  <PresentationFormat>A4 용지(210x297mm)</PresentationFormat>
  <Paragraphs>762</Paragraphs>
  <Slides>49</Slides>
  <Notes>43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49</vt:i4>
      </vt:variant>
    </vt:vector>
  </HeadingPairs>
  <TitlesOfParts>
    <vt:vector size="59" baseType="lpstr">
      <vt:lpstr>HY견고딕</vt:lpstr>
      <vt:lpstr>HY울릉도M</vt:lpstr>
      <vt:lpstr>HY헤드라인M</vt:lpstr>
      <vt:lpstr>굴림</vt:lpstr>
      <vt:lpstr>돋움체</vt:lpstr>
      <vt:lpstr>맑은 고딕</vt:lpstr>
      <vt:lpstr>바탕</vt:lpstr>
      <vt:lpstr>Arial</vt:lpstr>
      <vt:lpstr>Arial Black</vt:lpstr>
      <vt:lpstr>d2r_3</vt:lpstr>
      <vt:lpstr>PowerPoint 프레젠테이션</vt:lpstr>
      <vt:lpstr>목차</vt:lpstr>
      <vt:lpstr>PowerPoint 프레젠테이션</vt:lpstr>
      <vt:lpstr>1.1 Hands On Lab 목적</vt:lpstr>
      <vt:lpstr>1.2 Hands On Lab 환경</vt:lpstr>
      <vt:lpstr>1.3 Oracle Virtual Box 설치 및 준비</vt:lpstr>
      <vt:lpstr>1.3 Oracle Virtual Box 설치 및 준비</vt:lpstr>
      <vt:lpstr>1.3 Oracle Virtual Box 설치 및 준비</vt:lpstr>
      <vt:lpstr>1.3 Oracle Virtual Box 설치 및 준비</vt:lpstr>
      <vt:lpstr>1.3 Oracle Virtual Box 설치 및 준비</vt:lpstr>
      <vt:lpstr>PowerPoint 프레젠테이션</vt:lpstr>
      <vt:lpstr>2.1 서울시 실시간 도시 데이터 사용</vt:lpstr>
      <vt:lpstr>2.1 ollama 설치 및 간단한 사용</vt:lpstr>
      <vt:lpstr>2.1 Open WEB UI 설치 및 테스트</vt:lpstr>
      <vt:lpstr>2.4 Apache Fuseki 사용</vt:lpstr>
      <vt:lpstr>2.1 Apache Kafka Quick Start</vt:lpstr>
      <vt:lpstr>2.2 Apache Kafka Cluster 구성</vt:lpstr>
      <vt:lpstr>2.2 Apache Kafka Cluster 구성</vt:lpstr>
      <vt:lpstr>2.2 Apache Kafka Cluster 구성</vt:lpstr>
      <vt:lpstr>PowerPoint 프레젠테이션</vt:lpstr>
      <vt:lpstr>3.1 AKHQ 설치 및 연동</vt:lpstr>
      <vt:lpstr>3.1 AKHQ 설치 및 연동</vt:lpstr>
      <vt:lpstr>3.2 ELK를 이용한 로그 수집</vt:lpstr>
      <vt:lpstr>3.2 ELK를 이용한 로그 수집</vt:lpstr>
      <vt:lpstr>3.2 ELK를 이용한 로그 수집</vt:lpstr>
      <vt:lpstr>3.2 ELK를 이용한 로그 수집</vt:lpstr>
      <vt:lpstr>3.3 FileBeats를 이용한 로그 생성</vt:lpstr>
      <vt:lpstr>3.3 FileBeats를 이용한 로그 생성</vt:lpstr>
      <vt:lpstr>3.3 FileBeats를 이용한 로그 생성</vt:lpstr>
      <vt:lpstr>3.3 FileBeats를 이용한 로그 생성</vt:lpstr>
      <vt:lpstr>3.3 FileBeats를 이용한 로그 생성</vt:lpstr>
      <vt:lpstr>3.3 FileBeats를 이용한 로그 생성</vt:lpstr>
      <vt:lpstr>PowerPoint 프레젠테이션</vt:lpstr>
      <vt:lpstr>4.1 사전 준비</vt:lpstr>
      <vt:lpstr>4.2 STS에 소스 코드 열기</vt:lpstr>
      <vt:lpstr>4.2 STS에 소스 코드 열기</vt:lpstr>
      <vt:lpstr>4.2 STS에 소스 코드 열기</vt:lpstr>
      <vt:lpstr>4.2 STS에 소스 코드 열기</vt:lpstr>
      <vt:lpstr>4.2 STS에 소스 코드 열기</vt:lpstr>
      <vt:lpstr>4.3 Stream 이해 및 연동</vt:lpstr>
      <vt:lpstr>4.3 Stream 이해 및 연동</vt:lpstr>
      <vt:lpstr>4.3 Stream 이해 및 연동</vt:lpstr>
      <vt:lpstr>4.3 Stream 이해 및 연동</vt:lpstr>
      <vt:lpstr>4.3 Stream 이해 및 연동</vt:lpstr>
      <vt:lpstr>PowerPoint 프레젠테이션</vt:lpstr>
      <vt:lpstr>5.1 JMX with JConsole</vt:lpstr>
      <vt:lpstr>5.1 JMX with JConsole</vt:lpstr>
      <vt:lpstr>5.2 ELK를 이용한 모니터링</vt:lpstr>
      <vt:lpstr>5.2 ELK를 이용한 모니터링</vt:lpstr>
    </vt:vector>
  </TitlesOfParts>
  <Company>(주)한글과컴퓨터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표준 소개 자료</dc:title>
  <dc:creator>장윤기</dc:creator>
  <dc:description>표준 제품 소개 자료 (2005.01.24일 버젼)</dc:description>
  <cp:lastModifiedBy>Microsoft 계정</cp:lastModifiedBy>
  <cp:revision>2620</cp:revision>
  <dcterms:created xsi:type="dcterms:W3CDTF">2004-03-31T04:49:24Z</dcterms:created>
  <dcterms:modified xsi:type="dcterms:W3CDTF">2026-04-28T02:44:39Z</dcterms:modified>
</cp:coreProperties>
</file>